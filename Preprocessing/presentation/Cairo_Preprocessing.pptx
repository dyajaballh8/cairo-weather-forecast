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9ae33fa-2a7b-8b36-2d77-23c8a9a13ba6}">
          <p14:sldIdLst>
            <p14:sldId id="256"/>
            <p14:sldId id="257"/>
          </p14:sldIdLst>
        </p14:section>
        <p14:section name="Steps 1-3 - Cleaning" id="{b1e0aff8-4479-07bc-025a-ab3f9aea6f3e}">
          <p14:sldIdLst>
            <p14:sldId id="258"/>
            <p14:sldId id="259"/>
            <p14:sldId id="260"/>
            <p14:sldId id="261"/>
          </p14:sldIdLst>
        </p14:section>
        <p14:section name="Steps 4-5 - Features and split" id="{ea3e4f0a-8f56-3cb0-6f3a-ce0eda637829}">
          <p14:sldIdLst>
            <p14:sldId id="262"/>
            <p14:sldId id="263"/>
            <p14:sldId id="264"/>
          </p14:sldIdLst>
        </p14:section>
        <p14:section name="Wrap-up" id="{e0533856-d423-e1b1-eb47-f2e881c910c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+mn-lt"/>
              </a:rPr>
              <a:t>Pearson r with target_temperature_c (872 model-ready rows)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target</c:v>
                </c:pt>
              </c:strCache>
            </c:strRef>
          </c:tx>
          <c:spPr>
            <a:solidFill>
              <a:srgbClr val="B0B4C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4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4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4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4C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B4C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4172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Is weekend</c:v>
                  </c:pt>
                  <c:pt idx="1">
                    <c:v>Day of week</c:v>
                  </c:pt>
                  <c:pt idx="2">
                    <c:v>Rolling std 4</c:v>
                  </c:pt>
                  <c:pt idx="3">
                    <c:v>Rolling std 15</c:v>
                  </c:pt>
                  <c:pt idx="4">
                    <c:v>Rolling std 31</c:v>
                  </c:pt>
                  <c:pt idx="5">
                    <c:v>Day-of-year sin</c:v>
                  </c:pt>
                  <c:pt idx="6">
                    <c:v>Rolling mean 31</c:v>
                  </c:pt>
                  <c:pt idx="7">
                    <c:v>Lag 12 (24 days)</c:v>
                  </c:pt>
                  <c:pt idx="8">
                    <c:v>Day-of-year cos</c:v>
                  </c:pt>
                  <c:pt idx="9">
                    <c:v>Lag 183 (1 year)</c:v>
                  </c:pt>
                  <c:pt idx="10">
                    <c:v>Rolling mean 15</c:v>
                  </c:pt>
                  <c:pt idx="11">
                    <c:v>Rolling mean 4</c:v>
                  </c:pt>
                  <c:pt idx="12">
                    <c:v>Lag 1 (2 days)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0.003</c:v>
                </c:pt>
                <c:pt idx="2">
                  <c:v>-0.067</c:v>
                </c:pt>
                <c:pt idx="3">
                  <c:v>-0.109</c:v>
                </c:pt>
                <c:pt idx="4">
                  <c:v>-0.118</c:v>
                </c:pt>
                <c:pt idx="5">
                  <c:v>-0.434</c:v>
                </c:pt>
                <c:pt idx="6">
                  <c:v>0.823</c:v>
                </c:pt>
                <c:pt idx="7">
                  <c:v>0.842</c:v>
                </c:pt>
                <c:pt idx="8">
                  <c:v>-0.861</c:v>
                </c:pt>
                <c:pt idx="9">
                  <c:v>0.904</c:v>
                </c:pt>
                <c:pt idx="10">
                  <c:v>0.918</c:v>
                </c:pt>
                <c:pt idx="11">
                  <c:v>0.949</c:v>
                </c:pt>
                <c:pt idx="12">
                  <c:v>0.95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-1.5"/>
        </c:scaling>
        <c:delete val="0"/>
        <c:axPos val="b"/>
        <c:majorGridlines>
          <c:spPr>
            <a:ln w="9525" cap="flat">
              <a:solidFill>
                <a:srgbClr val="E4E6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40280"/>
            <a:ext cx="1042416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Title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4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28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_CHART_LE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04888" y="457200"/>
            <a:ext cx="4626864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Question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_CHART_R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47548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Question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_W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10515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Question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28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ecor circl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ML INTERNSHIP PROGRAM  ·  TASK 5  ·  TIME-SERIES PREPROCESSING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2402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Cairo Weather: Preprocessing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7CBE0"/>
                </a:solidFill>
              </a:rPr>
              <a:t>Turning the EDA table into a clean, leakage-safe, model-ready 2-day time series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88A6"/>
                </a:solidFill>
              </a:rPr>
              <a:t>Index alignment  •  Missing values  •  Validation &amp; outliers  •  Features  •  Chronological split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THE PIPELINE AT A GLANCE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1,055 raw rows to 872 model-ready rows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Target: daily mean 2 m air temperature (target_temperature_c). The source is sampled every 2 days, so the native modeling frequency is 2D, not hourly.</a:t>
            </a:r>
            <a:endParaRPr lang="en-US" sz="1400" dirty="0"/>
          </a:p>
        </p:txBody>
      </p:sp>
      <p:sp>
        <p:nvSpPr>
          <p:cNvPr id="5" name="Stat card"/>
          <p:cNvSpPr/>
          <p:nvPr/>
        </p:nvSpPr>
        <p:spPr>
          <a:xfrm>
            <a:off x="457200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1,055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raw rows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272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2021-01-01 to 2026-10-10</a:t>
            </a:r>
            <a:endParaRPr lang="en-US" sz="1200" dirty="0"/>
          </a:p>
        </p:txBody>
      </p:sp>
      <p:sp>
        <p:nvSpPr>
          <p:cNvPr id="9" name="Stat card"/>
          <p:cNvSpPr/>
          <p:nvPr/>
        </p:nvSpPr>
        <p:spPr>
          <a:xfrm>
            <a:off x="3346704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5304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2D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native frequency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31272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seasonal period = 183 steps (≈ 1 year)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6236208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872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model-ready rows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31272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after the 183-step feature warm-up</a:t>
            </a:r>
            <a:endParaRPr lang="en-US" sz="1200" dirty="0"/>
          </a:p>
        </p:txBody>
      </p:sp>
      <p:sp>
        <p:nvSpPr>
          <p:cNvPr id="17" name="Stat card"/>
          <p:cNvSpPr/>
          <p:nvPr/>
        </p:nvSpPr>
        <p:spPr>
          <a:xfrm>
            <a:off x="9125712" y="210312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54312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 days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354312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hold-out set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54312" y="31272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last 11 observations, never shuffled</a:t>
            </a:r>
            <a:endParaRPr lang="en-US" sz="1200" dirty="0"/>
          </a:p>
        </p:txBody>
      </p:sp>
      <p:sp>
        <p:nvSpPr>
          <p:cNvPr id="21" name="Step card"/>
          <p:cNvSpPr/>
          <p:nvPr/>
        </p:nvSpPr>
        <p:spPr>
          <a:xfrm>
            <a:off x="457200" y="4069080"/>
            <a:ext cx="1673352" cy="2286000"/>
          </a:xfrm>
          <a:prstGeom prst="roundRect">
            <a:avLst>
              <a:gd name="adj" fmla="val 4372"/>
            </a:avLst>
          </a:prstGeom>
          <a:solidFill>
            <a:schemeClr val="tx2"/>
          </a:solidFill>
          <a:ln/>
        </p:spPr>
      </p:sp>
      <p:sp>
        <p:nvSpPr>
          <p:cNvPr id="22" name="Badge 1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89204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Align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25780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E0"/>
                </a:solidFill>
              </a:rPr>
              <a:t>regular 2D index, duplicates removed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>
            <a:off x="2148840" y="50749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7" name="Step card"/>
          <p:cNvSpPr/>
          <p:nvPr/>
        </p:nvSpPr>
        <p:spPr>
          <a:xfrm>
            <a:off x="2377440" y="4069080"/>
            <a:ext cx="1673352" cy="2286000"/>
          </a:xfrm>
          <a:prstGeom prst="roundRect">
            <a:avLst>
              <a:gd name="adj" fmla="val 4372"/>
            </a:avLst>
          </a:prstGeom>
          <a:solidFill>
            <a:schemeClr val="tx2"/>
          </a:solidFill>
          <a:ln/>
        </p:spPr>
      </p:sp>
      <p:sp>
        <p:nvSpPr>
          <p:cNvPr id="28" name="Badge 2"/>
          <p:cNvSpPr/>
          <p:nvPr/>
        </p:nvSpPr>
        <p:spPr>
          <a:xfrm>
            <a:off x="260604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6060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489204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Missing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606040" y="525780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E0"/>
                </a:solidFill>
              </a:rPr>
              <a:t>time interpolation, short gaps only</a:t>
            </a:r>
            <a:endParaRPr lang="en-US" sz="1300" dirty="0"/>
          </a:p>
        </p:txBody>
      </p:sp>
      <p:sp>
        <p:nvSpPr>
          <p:cNvPr id="32" name="Arrow"/>
          <p:cNvSpPr/>
          <p:nvPr/>
        </p:nvSpPr>
        <p:spPr>
          <a:xfrm>
            <a:off x="4069080" y="50749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33" name="Step card"/>
          <p:cNvSpPr/>
          <p:nvPr/>
        </p:nvSpPr>
        <p:spPr>
          <a:xfrm>
            <a:off x="4297680" y="4069080"/>
            <a:ext cx="1673352" cy="2286000"/>
          </a:xfrm>
          <a:prstGeom prst="roundRect">
            <a:avLst>
              <a:gd name="adj" fmla="val 4372"/>
            </a:avLst>
          </a:prstGeom>
          <a:solidFill>
            <a:schemeClr val="tx2"/>
          </a:solidFill>
          <a:ln/>
        </p:spPr>
      </p:sp>
      <p:sp>
        <p:nvSpPr>
          <p:cNvPr id="34" name="Badge 3"/>
          <p:cNvSpPr/>
          <p:nvPr/>
        </p:nvSpPr>
        <p:spPr>
          <a:xfrm>
            <a:off x="452628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262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526280" y="489204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Validate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26280" y="525780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E0"/>
                </a:solidFill>
              </a:rPr>
              <a:t>physical limits and rolling outlier caps</a:t>
            </a:r>
            <a:endParaRPr lang="en-US" sz="1300" dirty="0"/>
          </a:p>
        </p:txBody>
      </p:sp>
      <p:sp>
        <p:nvSpPr>
          <p:cNvPr id="38" name="Arrow"/>
          <p:cNvSpPr/>
          <p:nvPr/>
        </p:nvSpPr>
        <p:spPr>
          <a:xfrm>
            <a:off x="5989320" y="50749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39" name="Step card"/>
          <p:cNvSpPr/>
          <p:nvPr/>
        </p:nvSpPr>
        <p:spPr>
          <a:xfrm>
            <a:off x="6217920" y="4069080"/>
            <a:ext cx="1673352" cy="2286000"/>
          </a:xfrm>
          <a:prstGeom prst="roundRect">
            <a:avLst>
              <a:gd name="adj" fmla="val 4372"/>
            </a:avLst>
          </a:prstGeom>
          <a:solidFill>
            <a:schemeClr val="tx2"/>
          </a:solidFill>
          <a:ln/>
        </p:spPr>
      </p:sp>
      <p:sp>
        <p:nvSpPr>
          <p:cNvPr id="40" name="Badge 4"/>
          <p:cNvSpPr/>
          <p:nvPr/>
        </p:nvSpPr>
        <p:spPr>
          <a:xfrm>
            <a:off x="644652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6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489204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Features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525780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E0"/>
                </a:solidFill>
              </a:rPr>
              <a:t>calendar, lags and shifted rolling stats</a:t>
            </a:r>
            <a:endParaRPr lang="en-US" sz="1300" dirty="0"/>
          </a:p>
        </p:txBody>
      </p:sp>
      <p:sp>
        <p:nvSpPr>
          <p:cNvPr id="44" name="Arrow"/>
          <p:cNvSpPr/>
          <p:nvPr/>
        </p:nvSpPr>
        <p:spPr>
          <a:xfrm>
            <a:off x="7909560" y="50749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45" name="Step card"/>
          <p:cNvSpPr/>
          <p:nvPr/>
        </p:nvSpPr>
        <p:spPr>
          <a:xfrm>
            <a:off x="8138160" y="4069080"/>
            <a:ext cx="1673352" cy="2286000"/>
          </a:xfrm>
          <a:prstGeom prst="roundRect">
            <a:avLst>
              <a:gd name="adj" fmla="val 4372"/>
            </a:avLst>
          </a:prstGeom>
          <a:solidFill>
            <a:schemeClr val="tx2"/>
          </a:solidFill>
          <a:ln/>
        </p:spPr>
      </p:sp>
      <p:sp>
        <p:nvSpPr>
          <p:cNvPr id="46" name="Badge 5"/>
          <p:cNvSpPr/>
          <p:nvPr/>
        </p:nvSpPr>
        <p:spPr>
          <a:xfrm>
            <a:off x="836676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667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8366760" y="489204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Split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366760" y="525780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E0"/>
                </a:solidFill>
              </a:rPr>
              <a:t>last 21 days held out, scaler on train</a:t>
            </a:r>
            <a:endParaRPr lang="en-US" sz="1300" dirty="0"/>
          </a:p>
        </p:txBody>
      </p:sp>
      <p:sp>
        <p:nvSpPr>
          <p:cNvPr id="50" name="Arrow"/>
          <p:cNvSpPr/>
          <p:nvPr/>
        </p:nvSpPr>
        <p:spPr>
          <a:xfrm>
            <a:off x="9829800" y="50749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51" name="Step card"/>
          <p:cNvSpPr/>
          <p:nvPr/>
        </p:nvSpPr>
        <p:spPr>
          <a:xfrm>
            <a:off x="10058400" y="4069080"/>
            <a:ext cx="1673352" cy="2286000"/>
          </a:xfrm>
          <a:prstGeom prst="roundRect">
            <a:avLst>
              <a:gd name="adj" fmla="val 4372"/>
            </a:avLst>
          </a:prstGeom>
          <a:solidFill>
            <a:schemeClr val="tx2"/>
          </a:solidFill>
          <a:ln/>
        </p:spPr>
      </p:sp>
      <p:sp>
        <p:nvSpPr>
          <p:cNvPr id="52" name="Badge 6"/>
          <p:cNvSpPr/>
          <p:nvPr/>
        </p:nvSpPr>
        <p:spPr>
          <a:xfrm>
            <a:off x="1028700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2870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10287000" y="489204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Export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10287000" y="525780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E0"/>
                </a:solidFill>
              </a:rPr>
              <a:t>2 CSVs and a JSON audit trail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04888" y="457200"/>
            <a:ext cx="4626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Is the time index regular and complete?</a:t>
            </a:r>
            <a:endParaRPr lang="en-US" sz="2000" dirty="0"/>
          </a:p>
        </p:txBody>
      </p:sp>
      <p:sp>
        <p:nvSpPr>
          <p:cNvPr id="3" name="Badge 1"/>
          <p:cNvSpPr/>
          <p:nvPr/>
        </p:nvSpPr>
        <p:spPr>
          <a:xfrm>
            <a:off x="635508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55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45720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INDEX AUDIT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48006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before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time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timestamps exposed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(1,055 unique dates)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2D, set explicitly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51206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REGULAR 2D GRID</a:t>
            </a:r>
            <a:endParaRPr lang="en-US" sz="1100" dirty="0"/>
          </a:p>
        </p:txBody>
      </p:sp>
      <p:sp>
        <p:nvSpPr>
          <p:cNvPr id="9" name="Ruler line"/>
          <p:cNvSpPr/>
          <p:nvPr/>
        </p:nvSpPr>
        <p:spPr>
          <a:xfrm>
            <a:off x="960120" y="5715000"/>
            <a:ext cx="4343400" cy="0"/>
          </a:xfrm>
          <a:prstGeom prst="line">
            <a:avLst/>
          </a:prstGeom>
          <a:noFill/>
          <a:ln w="19050">
            <a:solidFill>
              <a:srgbClr val="6B7086"/>
            </a:solidFill>
            <a:prstDash val="solid"/>
          </a:ln>
        </p:spPr>
      </p:sp>
      <p:sp>
        <p:nvSpPr>
          <p:cNvPr id="10" name="Ruler dot"/>
          <p:cNvSpPr/>
          <p:nvPr/>
        </p:nvSpPr>
        <p:spPr>
          <a:xfrm>
            <a:off x="877824" y="5632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Ruler dot"/>
          <p:cNvSpPr/>
          <p:nvPr/>
        </p:nvSpPr>
        <p:spPr>
          <a:xfrm>
            <a:off x="1360424" y="5632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Ruler dot"/>
          <p:cNvSpPr/>
          <p:nvPr/>
        </p:nvSpPr>
        <p:spPr>
          <a:xfrm>
            <a:off x="18430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Ruler dot"/>
          <p:cNvSpPr/>
          <p:nvPr/>
        </p:nvSpPr>
        <p:spPr>
          <a:xfrm>
            <a:off x="23256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Ruler dot"/>
          <p:cNvSpPr/>
          <p:nvPr/>
        </p:nvSpPr>
        <p:spPr>
          <a:xfrm>
            <a:off x="28082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Ruler dot"/>
          <p:cNvSpPr/>
          <p:nvPr/>
        </p:nvSpPr>
        <p:spPr>
          <a:xfrm>
            <a:off x="32908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Ruler dot"/>
          <p:cNvSpPr/>
          <p:nvPr/>
        </p:nvSpPr>
        <p:spPr>
          <a:xfrm>
            <a:off x="37734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Ruler dot"/>
          <p:cNvSpPr/>
          <p:nvPr/>
        </p:nvSpPr>
        <p:spPr>
          <a:xfrm>
            <a:off x="42560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Ruler dot"/>
          <p:cNvSpPr/>
          <p:nvPr/>
        </p:nvSpPr>
        <p:spPr>
          <a:xfrm>
            <a:off x="47386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Ruler dot"/>
          <p:cNvSpPr/>
          <p:nvPr/>
        </p:nvSpPr>
        <p:spPr>
          <a:xfrm>
            <a:off x="5221224" y="5632704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60120" y="5879592"/>
            <a:ext cx="48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 days</a:t>
            </a:r>
            <a:endParaRPr lang="en-US" sz="1000" dirty="0"/>
          </a:p>
        </p:txBody>
      </p:sp>
      <p:sp>
        <p:nvSpPr>
          <p:cNvPr id="21" name="Stat callout"/>
          <p:cNvSpPr/>
          <p:nvPr/>
        </p:nvSpPr>
        <p:spPr>
          <a:xfrm>
            <a:off x="635508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0" y="1508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missing timestamps on the 2D grid across all 1,055 observations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2697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355080" y="294436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summary table suits a structural check, and the ruler shows what a perfectly regular grid looks like.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37947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WHAT THE DATA SAYS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406908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source was sampled every 2 days on purpose, so 2D is the native frequency: nothing is fabricated into daily rows. Duplicates are dropped, the index is sorted, then re-indexed onto the full 2D grid to expose any missing date. There are none, so the seasonal period is simply 183 steps (≈ 366 days ÷ 2) and every window and lag below counts steps, not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are missing values handled?</a:t>
            </a:r>
            <a:endParaRPr lang="en-US" sz="2000" dirty="0"/>
          </a:p>
        </p:txBody>
      </p:sp>
      <p:sp>
        <p:nvSpPr>
          <p:cNvPr id="3" name="Badge 2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457200" y="1371600"/>
            <a:ext cx="11274552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pic>
        <p:nvPicPr>
          <p:cNvPr id="6" name="Chart image" descr="Missingness strip: target complete, three radiation columns missing at the end of the se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536192"/>
            <a:ext cx="10753344" cy="2688336"/>
          </a:xfrm>
          <a:prstGeom prst="rect">
            <a:avLst/>
          </a:prstGeom>
        </p:spPr>
      </p:pic>
      <p:sp>
        <p:nvSpPr>
          <p:cNvPr id="7" name="Stat callout"/>
          <p:cNvSpPr/>
          <p:nvPr/>
        </p:nvSpPr>
        <p:spPr>
          <a:xfrm>
            <a:off x="457200" y="4617720"/>
            <a:ext cx="338328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8188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86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missing values in each of 3 radiation columns, all at the very end; the target has none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4617720"/>
            <a:ext cx="757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4864608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missingness strip shows where gaps sit in time: one block at the end is a very different problem from holes scattered through the series.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5349240"/>
            <a:ext cx="7571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Policy: gaps of up to 2 steps (4 days) inside the series are interpolated by time; a longer target gap would take the value from the same date last year (183 steps), never a forward-fill. The target needed neither. The 36 radiation gaps (2026-08-01 to 2026-10-10) sit at the edge, so limit_area='inside' refuses to extrapolate them; radiation is not a predictor here, so they stay visible.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Are there physically impossible values?</a:t>
            </a:r>
            <a:endParaRPr lang="en-US" sz="2000" dirty="0"/>
          </a:p>
        </p:txBody>
      </p:sp>
      <p:sp>
        <p:nvSpPr>
          <p:cNvPr id="3" name="Badge 3a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3a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635508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29400" y="16459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PHYSICAL RULES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011680"/>
          <a:ext cx="4800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55448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 mm/day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speed, 10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speed, 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ule box"/>
          <p:cNvSpPr/>
          <p:nvPr/>
        </p:nvSpPr>
        <p:spPr>
          <a:xfrm>
            <a:off x="6629400" y="5029200"/>
            <a:ext cx="480060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2280" y="51206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If a rule were broken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54223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→ NaN → time interpolation for gaps of up to 2 steps. No row is ever dropped.</a:t>
            </a:r>
            <a:endParaRPr lang="en-US" sz="1200" dirty="0"/>
          </a:p>
        </p:txBody>
      </p:sp>
      <p:sp>
        <p:nvSpPr>
          <p:cNvPr id="11" name="Stat callout"/>
          <p:cNvSpPr/>
          <p:nvPr/>
        </p:nvSpPr>
        <p:spPr>
          <a:xfrm>
            <a:off x="45720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1508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impossible values found across the 4 variables that have a hard physical limit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697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94436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rule table fits a pass/fail check: each variable has a hard limit, and the count of violations should be zero.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7947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WHAT THE DATA SAYS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06908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Humidity must stay within 0–100%, and rain and wind speed cannot be negative. Any violation would be set to missing and repaired only by the same short-gap interpolation, never by a flat fill. All four checks returned 0, which agrees with the EDA finding that this NASA POWER extract has no sensor-style errors.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Which target values are outliers, and how are they treated?</a:t>
            </a:r>
            <a:endParaRPr lang="en-US" sz="2000" dirty="0"/>
          </a:p>
        </p:txBody>
      </p:sp>
      <p:sp>
        <p:nvSpPr>
          <p:cNvPr id="3" name="Badge 3b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3b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457200" y="1371600"/>
            <a:ext cx="11274552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pic>
        <p:nvPicPr>
          <p:cNvPr id="6" name="Chart image" descr="Target temperature with a rolling median band and six capped val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536192"/>
            <a:ext cx="10753344" cy="2688336"/>
          </a:xfrm>
          <a:prstGeom prst="rect">
            <a:avLst/>
          </a:prstGeom>
        </p:spPr>
      </p:pic>
      <p:sp>
        <p:nvSpPr>
          <p:cNvPr id="7" name="Stat callout"/>
          <p:cNvSpPr/>
          <p:nvPr/>
        </p:nvSpPr>
        <p:spPr>
          <a:xfrm>
            <a:off x="457200" y="4617720"/>
            <a:ext cx="338328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8188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86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 1,055 target values capped; the largest change is 0.93 °C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4617720"/>
            <a:ext cx="757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4864608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rolling median/MAD band follows the season (a fixed threshold would flag normal summer heat). Capping instead of deleting keeps the series continuous for ARIMA.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5349240"/>
            <a:ext cx="7571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Each value is compared with a centred 31-step window (≈ 62 days): outside median ± 4 robust σ (1.4826 × MAD) it is capped at the band edge. Five are upper-tail trims of summer peaks (≤ 0.53 °C); one is a cold dip in March 2024 (12.50 → 13.43 °C). None lies within 15 steps of the split, and the original series is kept in its own column for audit.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04888" y="457200"/>
            <a:ext cx="4626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Which features are safe to use at forecast time?</a:t>
            </a:r>
            <a:endParaRPr lang="en-US" sz="2000" dirty="0"/>
          </a:p>
        </p:txBody>
      </p:sp>
      <p:sp>
        <p:nvSpPr>
          <p:cNvPr id="3" name="Badge 4"/>
          <p:cNvSpPr/>
          <p:nvPr/>
        </p:nvSpPr>
        <p:spPr>
          <a:xfrm>
            <a:off x="635508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55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45720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FEATURE FAMILIES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4800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5740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2D 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day-of-year sin / cos, day of week, is weekend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in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1 · lag 12 · lag 183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 · ~24 d · ~1 year 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4 · 15 · 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 · 30 · 62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4 · 15 · 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shift(1) before every rolling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never leaks into its own 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5623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The sin / cos pair keeps Dec 31 next to Jan 1, which a raw day number would put 364 days apart.</a:t>
            </a:r>
            <a:endParaRPr lang="en-US" sz="1200" dirty="0"/>
          </a:p>
        </p:txBody>
      </p:sp>
      <p:sp>
        <p:nvSpPr>
          <p:cNvPr id="9" name="Stat callout"/>
          <p:cNvSpPr/>
          <p:nvPr/>
        </p:nvSpPr>
        <p:spPr>
          <a:xfrm>
            <a:off x="635508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1508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forecast-safe features: 4 calendar, 3 lags and 6 rolling statistics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697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94436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table maps each feature family to what it means on a 2-day grid. The key is that every feature uses only information available before the forecast time.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7947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WHAT THE DATA SAYS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06908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Calendar encodings are known in advance. Lags and rolling statistics use only past values: shift(1) is applied before every rolling window, so the value being predicted never enters its own features. On this grid lag 1 is two days ago, lag 12 about 24 days ago and lag 183 about one year ago.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 the engineered features carry signal?</a:t>
            </a:r>
            <a:endParaRPr lang="en-US" sz="2000" dirty="0"/>
          </a:p>
        </p:txBody>
      </p:sp>
      <p:sp>
        <p:nvSpPr>
          <p:cNvPr id="3" name="Badge 4b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4b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635508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92240" y="1554480"/>
          <a:ext cx="50749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tat callout"/>
          <p:cNvSpPr/>
          <p:nvPr/>
        </p:nvSpPr>
        <p:spPr>
          <a:xfrm>
            <a:off x="45720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08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correlation of lag 1 (and the 4-step rolling mean) with the target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97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4436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sorted bar chart of each feature's correlation with the target ranks them at a glance. Train-only correlations are almost identical, so the test set is not influencing this view.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947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WHAT THE DATA SAYS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Persistence dominates: lag 1 and the 4-step mean (0.95), then the 15-step mean (0.92) and the one-year lag (0.90). Day-of-year cos (−0.86) and sin (−0.43) carry the season. Rolling std is weakly negative (≈ −0.1), and day of week and is-weekend are essentially zero: weather has no weekly cycle, so they are candidates to drop.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07008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is the series split and scaled without leakage?</a:t>
            </a:r>
            <a:endParaRPr lang="en-US" sz="2000" dirty="0"/>
          </a:p>
        </p:txBody>
      </p:sp>
      <p:sp>
        <p:nvSpPr>
          <p:cNvPr id="3" name="Badge 5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900" dirty="0"/>
          </a:p>
        </p:txBody>
      </p:sp>
      <p:sp>
        <p:nvSpPr>
          <p:cNvPr id="5" name="Visual card"/>
          <p:cNvSpPr/>
          <p:nvPr/>
        </p:nvSpPr>
        <p:spPr>
          <a:xfrm>
            <a:off x="457200" y="1371600"/>
            <a:ext cx="11274552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DE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WHERE EVERY ROW GOES  (1,055 rows on the 2D grid)</a:t>
            </a:r>
            <a:endParaRPr lang="en-US" sz="1100" dirty="0"/>
          </a:p>
        </p:txBody>
      </p:sp>
      <p:sp>
        <p:nvSpPr>
          <p:cNvPr id="7" name="Warm-up block"/>
          <p:cNvSpPr/>
          <p:nvPr/>
        </p:nvSpPr>
        <p:spPr>
          <a:xfrm>
            <a:off x="868680" y="2514600"/>
            <a:ext cx="1812930" cy="8686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rain block"/>
          <p:cNvSpPr/>
          <p:nvPr/>
        </p:nvSpPr>
        <p:spPr>
          <a:xfrm>
            <a:off x="2681610" y="2514600"/>
            <a:ext cx="8529688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st block"/>
          <p:cNvSpPr/>
          <p:nvPr/>
        </p:nvSpPr>
        <p:spPr>
          <a:xfrm>
            <a:off x="11192256" y="2514600"/>
            <a:ext cx="128016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514600"/>
            <a:ext cx="16300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Warm-up · 183 rows (17%)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64490" y="2514600"/>
            <a:ext cx="807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Train · 861 rows (82%)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74720"/>
            <a:ext cx="199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2021-01-01 → 2021-12-31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49040"/>
            <a:ext cx="199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lost to the 183-step lag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6449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2022-01-02 → 2026-09-18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6449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scaler fitted here only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2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 · 11 rows (1%)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28432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2026-09-20 → 2026-10-10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9601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time  →</a:t>
            </a:r>
            <a:endParaRPr lang="en-US" sz="1100" dirty="0"/>
          </a:p>
        </p:txBody>
      </p:sp>
      <p:sp>
        <p:nvSpPr>
          <p:cNvPr id="19" name="Stat callout"/>
          <p:cNvSpPr/>
          <p:nvPr/>
        </p:nvSpPr>
        <p:spPr>
          <a:xfrm>
            <a:off x="457200" y="4617720"/>
            <a:ext cx="338328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8188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 rows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486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 the hold-out: the last 21 calendar days, about 1% of the series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617720"/>
            <a:ext cx="757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WHY THIS VISUAL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4864608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 proportional timeline shows exactly where every row goes: lost to warm-up, used for training, or held out for testing.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5349240"/>
            <a:ext cx="7571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Nothing is shuffled: train 2022-01-02 → 2026-09-18 (861 rows), test 2026-09-20 → 2026-10-10 (11 rows). The MinMax scaler sees only the training target (6.57–34.92 °C); SARIMA keeps original °C and only neural-network inputs are scaled. The 11 test points span just 24.2–28.0 °C, one autumn stretch, so expect noisy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0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6 · WHAT THE PREPROCESSING DELIVERS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Model-ready data, and what to keep in mind</a:t>
            </a:r>
            <a:endParaRPr lang="en-US" sz="3000" dirty="0"/>
          </a:p>
        </p:txBody>
      </p:sp>
      <p:sp>
        <p:nvSpPr>
          <p:cNvPr id="5" name="Takeaway card"/>
          <p:cNvSpPr/>
          <p:nvPr/>
        </p:nvSpPr>
        <p:spPr>
          <a:xfrm>
            <a:off x="640080" y="178308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</p:sp>
      <p:sp>
        <p:nvSpPr>
          <p:cNvPr id="6" name="Badge 1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clean, regular series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87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</a:rPr>
              <a:t>1,055 rows on an exact 2-day grid, a complete target, 0 impossible values and 6 mild caps (largest change 0.93 °C).</a:t>
            </a:r>
            <a:endParaRPr lang="en-US" sz="1400" dirty="0"/>
          </a:p>
        </p:txBody>
      </p:sp>
      <p:sp>
        <p:nvSpPr>
          <p:cNvPr id="10" name="Takeaway card"/>
          <p:cNvSpPr/>
          <p:nvPr/>
        </p:nvSpPr>
        <p:spPr>
          <a:xfrm>
            <a:off x="6473952" y="178308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</p:sp>
      <p:sp>
        <p:nvSpPr>
          <p:cNvPr id="11" name="Badge 2"/>
          <p:cNvSpPr/>
          <p:nvPr/>
        </p:nvSpPr>
        <p:spPr>
          <a:xfrm>
            <a:off x="6748272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482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88352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Forecast-safe features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2587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</a:rPr>
              <a:t>Calendar encodings, lags 1 / 12 / 183 and shifted rolling statistics. Strongest signals: lag 1 and the 4-step mean (r = 0.95).</a:t>
            </a:r>
            <a:endParaRPr lang="en-US" sz="1400" dirty="0"/>
          </a:p>
        </p:txBody>
      </p:sp>
      <p:sp>
        <p:nvSpPr>
          <p:cNvPr id="15" name="Takeaway card"/>
          <p:cNvSpPr/>
          <p:nvPr/>
        </p:nvSpPr>
        <p:spPr>
          <a:xfrm>
            <a:off x="640080" y="3794760"/>
            <a:ext cx="5440680" cy="18288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</p:sp>
      <p:sp>
        <p:nvSpPr>
          <p:cNvPr id="16" name="Badge 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leakage-safe split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59943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</a:rPr>
              <a:t>Last 21 days held out, nothing shuffled, scaler fitted on train only. SARIMA uses original °C; neural networks use scaled input.</a:t>
            </a:r>
            <a:endParaRPr lang="en-US" sz="1400" dirty="0"/>
          </a:p>
        </p:txBody>
      </p:sp>
      <p:sp>
        <p:nvSpPr>
          <p:cNvPr id="20" name="Takeaway card"/>
          <p:cNvSpPr/>
          <p:nvPr/>
        </p:nvSpPr>
        <p:spPr>
          <a:xfrm>
            <a:off x="6473952" y="37947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2A2F55"/>
          </a:solidFill>
          <a:ln/>
        </p:spPr>
      </p:sp>
      <p:sp>
        <p:nvSpPr>
          <p:cNvPr id="21" name="Badge 4"/>
          <p:cNvSpPr/>
          <p:nvPr/>
        </p:nvSpPr>
        <p:spPr>
          <a:xfrm>
            <a:off x="6748272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4827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88352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Keep in mind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459943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</a:rPr>
              <a:t>The test set is only 11 rows from one season (24.2–28.0 °C), so scores will be noisy. The annual lag costs 183 rows (17%). Day of week and is-weekend carry no signal.</a:t>
            </a:r>
            <a:endParaRPr lang="en-US" sz="1400" dirty="0"/>
          </a:p>
        </p:txBody>
      </p:sp>
      <p:sp>
        <p:nvSpPr>
          <p:cNvPr id="25" name="Files bar"/>
          <p:cNvSpPr/>
          <p:nvPr/>
        </p:nvSpPr>
        <p:spPr>
          <a:xfrm>
            <a:off x="640080" y="5760720"/>
            <a:ext cx="11137392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760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Exported: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57607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</a:rPr>
              <a:t>cairo_weather_preprocessed_2day.csv (all columns)  ·  cairo_weather_model_ready_2day.csv (872 × 14)  ·  preprocessing_audit.json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28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iro Preprocessing">
  <a:themeElements>
    <a:clrScheme name="Cairo Preprocessing">
      <a:dk1>
        <a:srgbClr val="1B1F2A"/>
      </a:dk1>
      <a:lt1>
        <a:srgbClr val="FFFFFF"/>
      </a:lt1>
      <a:dk2>
        <a:srgbClr val="14172B"/>
      </a:dk2>
      <a:lt2>
        <a:srgbClr val="F5F6FA"/>
      </a:lt2>
      <a:accent1>
        <a:srgbClr val="FFC300"/>
      </a:accent1>
      <a:accent2>
        <a:srgbClr val="1E2340"/>
      </a:accent2>
      <a:accent3>
        <a:srgbClr val="6B7086"/>
      </a:accent3>
      <a:accent4>
        <a:srgbClr val="2B6CB0"/>
      </a:accent4>
      <a:accent5>
        <a:srgbClr val="C0392B"/>
      </a:accent5>
      <a:accent6>
        <a:srgbClr val="1F9D55"/>
      </a:accent6>
      <a:hlink>
        <a:srgbClr val="2B6CB0"/>
      </a:hlink>
      <a:folHlink>
        <a:srgbClr val="6B7086"/>
      </a:folHlink>
    </a:clrScheme>
    <a:fontScheme name="Cairo Preprocess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Cairo Weather - Time-Series Preprocessing</dc:title>
  <dc:subject>PptxGenJS Presentation</dc:subject>
  <dc:creator>ML Internship Program</dc:creator>
  <cp:lastModifiedBy>ML Internship Program</cp:lastModifiedBy>
  <cp:revision>1</cp:revision>
  <dcterms:created xsi:type="dcterms:W3CDTF">2026-10-23T07:31:43Z</dcterms:created>
  <dcterms:modified xsi:type="dcterms:W3CDTF">2026-10-23T07:31:43Z</dcterms:modified>
</cp:coreProperties>
</file>