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charts/chart1.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notesMasterIdLst>
    <p:notesMasterId r:id="rId2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verview" id="{ed98a30d-4288-8b7d-0d4a-bf99e78a4f9d}">
          <p14:sldIdLst>
            <p14:sldId id="256"/>
            <p14:sldId id="257"/>
          </p14:sldIdLst>
        </p14:section>
        <p14:section name="Part 1 - Data collection" id="{c9285ad7-abd3-403c-87a3-a26470cb3671}">
          <p14:sldIdLst>
            <p14:sldId id="258"/>
            <p14:sldId id="259"/>
            <p14:sldId id="260"/>
          </p14:sldIdLst>
        </p14:section>
        <p14:section name="Part 2 - Preparation" id="{66b835b6-089a-dece-e88e-76d5d009a0e0}">
          <p14:sldIdLst>
            <p14:sldId id="261"/>
            <p14:sldId id="262"/>
          </p14:sldIdLst>
        </p14:section>
        <p14:section name="Part 3 - EDA" id="{ff508000-6de0-374c-1d73-7070374ccccc}">
          <p14:sldIdLst>
            <p14:sldId id="263"/>
            <p14:sldId id="264"/>
            <p14:sldId id="265"/>
            <p14:sldId id="266"/>
            <p14:sldId id="267"/>
            <p14:sldId id="268"/>
            <p14:sldId id="269"/>
            <p14:sldId id="270"/>
            <p14:sldId id="271"/>
            <p14:sldId id="272"/>
          </p14:sldIdLst>
        </p14:section>
        <p14:section name="Wrap-up" id="{51987526-ba7e-631d-c366-8eeee0c6f51a}">
          <p14:sldIdLst>
            <p14:sldId id="273"/>
            <p14:sldId id="27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B1F2A"/>
                </a:solidFill>
                <a:latin typeface="+mn-lt"/>
              </a:defRPr>
            </a:pPr>
            <a:r>
              <a:rPr sz="1300" b="0" i="0" u="none" strike="noStrike">
                <a:solidFill>
                  <a:srgbClr val="1B1F2A"/>
                </a:solidFill>
                <a:latin typeface="+mn-lt"/>
              </a:rPr>
              <a:t>Missing values per column (before interpolation)</a:t>
            </a:r>
          </a:p>
        </c:rich>
      </c:tx>
      <c:layout/>
      <c:overlay val="0"/>
    </c:title>
    <c:autoTitleDeleted val="0"/>
    <c:plotArea>
      <c:layout/>
      <c:barChart>
        <c:barDir val="col"/>
        <c:grouping val="clustered"/>
        <c:varyColors val="0"/>
        <c:ser>
          <c:idx val="0"/>
          <c:order val="0"/>
          <c:tx>
            <c:strRef>
              <c:f>Sheet1!$B$1</c:f>
              <c:strCache>
                <c:ptCount val="1"/>
                <c:pt idx="0">
                  <c:v>Missing values</c:v>
                </c:pt>
              </c:strCache>
            </c:strRef>
          </c:tx>
          <c:spPr>
            <a:solidFill>
              <a:srgbClr val="14172B"/>
            </a:solidFill>
            <a:effectLst/>
          </c:spPr>
          <c:invertIfNegative val="0"/>
          <c:dLbls>
            <c:numFmt formatCode="#,##0" sourceLinked="0"/>
            <c:txPr>
              <a:bodyPr/>
              <a:lstStyle/>
              <a:p>
                <a:pPr>
                  <a:defRPr b="1" i="0" strike="noStrike" sz="1300" u="none">
                    <a:solidFill>
                      <a:srgbClr val="1B1F2A"/>
                    </a:solidFill>
                    <a:latin typeface="+mn-lt"/>
                  </a:defRPr>
                </a:pPr>
              </a:p>
            </c:txPr>
            <c:showLegendKey val="0"/>
            <c:showVal val="1"/>
            <c:showCatName val="0"/>
            <c:showSerName val="0"/>
            <c:showPercent val="0"/>
            <c:showBubbleSize val="0"/>
            <c:showLeaderLines val="0"/>
          </c:dLbls>
          <c:cat>
            <c:multiLvlStrRef>
              <c:f>Sheet1!$A$2:$A$4</c:f>
              <c:multiLvlStrCache>
                <c:ptCount val="3"/>
                <c:lvl>
                  <c:pt idx="0">
                    <c:v>All-sky longwave</c:v>
                  </c:pt>
                  <c:pt idx="1">
                    <c:v>Clear-sky shortwave</c:v>
                  </c:pt>
                  <c:pt idx="2">
                    <c:v>All-sky shortwave</c:v>
                  </c:pt>
                </c:lvl>
              </c:multiLvlStrCache>
            </c:multiLvlStrRef>
          </c:cat>
          <c:val>
            <c:numRef>
              <c:f>Sheet1!$B$2:$B$4</c:f>
              <c:numCache>
                <c:formatCode>General</c:formatCode>
                <c:ptCount val="3"/>
                <c:pt idx="0">
                  <c:v>36</c:v>
                </c:pt>
                <c:pt idx="1">
                  <c:v>36</c:v>
                </c:pt>
                <c:pt idx="2">
                  <c:v>36</c:v>
                </c:pt>
              </c:numCache>
            </c:numRef>
          </c:val>
        </c:ser>
        <c:dLbls>
          <c:numFmt formatCode="#,##0" sourceLinked="0"/>
          <c:txPr>
            <a:bodyPr/>
            <a:lstStyle/>
            <a:p>
              <a:pPr>
                <a:defRPr b="1" i="0" strike="noStrike" sz="1300" u="none">
                  <a:solidFill>
                    <a:srgbClr val="1B1F2A"/>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1B1F2A"/>
                </a:solidFill>
                <a:latin typeface="+mn-lt"/>
              </a:defRPr>
            </a:pPr>
            <a:endParaRPr lang="en-US"/>
          </a:p>
        </c:txPr>
        <c:crossAx val="2094734552"/>
        <c:crosses val="autoZero"/>
        <c:auto val="1"/>
        <c:lblAlgn val="ctr"/>
        <c:noMultiLvlLbl val="1"/>
      </c:catAx>
      <c:valAx>
        <c:axId val="2094734552"/>
        <c:scaling>
          <c:orientation val="minMax"/>
          <c:max val="45"/>
          <c:min val="0"/>
        </c:scaling>
        <c:delete val="0"/>
        <c:axPos val="l"/>
        <c:majorGridlines>
          <c:spPr>
            <a:ln w="9525" cap="flat">
              <a:solidFill>
                <a:srgbClr val="E4E6F0"/>
              </a:solidFill>
              <a:prstDash val="solid"/>
              <a:round/>
            </a:ln>
          </c:spPr>
        </c:majorGridlines>
        <c:title>
          <c:tx>
            <c:rich>
              <a:bodyPr/>
              <a:lstStyle/>
              <a:p>
                <a:pPr>
                  <a:defRPr sz="1100" b="0" i="0" u="none" strike="noStrike">
                    <a:solidFill>
                      <a:srgbClr val="6B7086"/>
                    </a:solidFill>
                    <a:latin typeface="+mn-lt"/>
                  </a:defRPr>
                </a:pPr>
                <a:r>
                  <a:rPr sz="1100" b="0" i="0" u="none" strike="noStrike">
                    <a:solidFill>
                      <a:srgbClr val="6B7086"/>
                    </a:solidFill>
                    <a:latin typeface="+mn-lt"/>
                  </a:rPr>
                  <a:t>missing values</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6B7086"/>
                </a:solidFill>
                <a:latin typeface="+mn-lt"/>
              </a:defRPr>
            </a:pPr>
            <a:endParaRPr lang="en-US"/>
          </a:p>
        </c:txPr>
        <c:crossAx val="2094734554"/>
        <c:crosses val="autoZero"/>
        <c:crossBetween val="between"/>
        <c:majorUnit val="10"/>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rgbClr val="14172B"/>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822960" y="2240280"/>
            <a:ext cx="10424160" cy="1325880"/>
          </a:xfrm>
          <a:prstGeom prst="rect">
            <a:avLst/>
          </a:prstGeom>
          <a:noFill/>
          <a:ln/>
        </p:spPr>
        <p:txBody>
          <a:bodyPr wrap="square" rtlCol="0"/>
          <a:lstStyle>
            <a:lvl1pPr algn="l" indent="0" marL="0">
              <a:buNone/>
              <a:defRPr lang="en-US" sz="4400" b="1" dirty="0">
                <a:solidFill>
                  <a:schemeClr val="bg1"/>
                </a:solidFill>
              </a:defRPr>
            </a:lvl1pPr>
          </a:lstStyle>
          <a:p>
            <a:pPr algn="l" indent="0" marL="0">
              <a:buNone/>
            </a:pPr>
            <a:r>
              <a:rPr lang="en-US" sz="4400" b="1" dirty="0">
                <a:solidFill>
                  <a:schemeClr val="bg1"/>
                </a:solidFill>
              </a:rPr>
              <a:t>Title</a:t>
            </a:r>
            <a:endParaRPr lang="en-US" sz="44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LOSE_DARK">
    <p:bg>
      <p:bgPr>
        <a:solidFill>
          <a:srgbClr val="14172B"/>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640080" y="822960"/>
            <a:ext cx="10881360" cy="685800"/>
          </a:xfrm>
          <a:prstGeom prst="rect">
            <a:avLst/>
          </a:prstGeom>
          <a:noFill/>
          <a:ln/>
        </p:spPr>
        <p:txBody>
          <a:bodyPr wrap="square" rtlCol="0"/>
          <a:lstStyle>
            <a:lvl1pPr algn="l" indent="0" marL="0">
              <a:buNone/>
              <a:defRPr lang="en-US" sz="3000" b="1" dirty="0">
                <a:solidFill>
                  <a:schemeClr val="bg1"/>
                </a:solidFill>
              </a:defRPr>
            </a:lvl1pPr>
          </a:lstStyle>
          <a:p>
            <a:pPr algn="l" indent="0" marL="0">
              <a:buNone/>
            </a:pPr>
            <a:r>
              <a:rPr lang="en-US" sz="3000" b="1" dirty="0">
                <a:solidFill>
                  <a:schemeClr val="bg1"/>
                </a:solidFill>
              </a:rPr>
              <a:t>Title</a:t>
            </a:r>
            <a:endParaRPr lang="en-US" sz="3000" dirty="0"/>
          </a:p>
        </p:txBody>
      </p:sp>
      <p:sp>
        <p:nvSpPr>
          <p:cNvPr id="25" name="Slide Number Placeholder 0"/>
          <p:cNvSpPr>
            <a:spLocks noGrp="1"/>
          </p:cNvSpPr>
          <p:nvPr>
            <p:ph type="sldNum" sz="quarter" idx="4294967295"/>
          </p:nvPr>
        </p:nvSpPr>
        <p:spPr>
          <a:xfrm>
            <a:off x="11064240" y="6446520"/>
            <a:ext cx="66751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288A6"/>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777240"/>
            <a:ext cx="11064240" cy="640080"/>
          </a:xfrm>
          <a:prstGeom prst="rect">
            <a:avLst/>
          </a:prstGeom>
          <a:noFill/>
          <a:ln/>
        </p:spPr>
        <p:txBody>
          <a:bodyPr wrap="square" rtlCol="0"/>
          <a:lstStyle>
            <a:lvl1pPr algn="l" indent="0" marL="0">
              <a:buNone/>
              <a:defRPr lang="en-US" sz="2800" b="1" dirty="0">
                <a:solidFill>
                  <a:schemeClr val="tx1"/>
                </a:solidFill>
              </a:defRPr>
            </a:lvl1pPr>
          </a:lstStyle>
          <a:p>
            <a:pPr algn="l" indent="0" marL="0">
              <a:buNone/>
            </a:pPr>
            <a:r>
              <a:rPr lang="en-US" sz="2800" b="1" dirty="0">
                <a:solidFill>
                  <a:schemeClr val="tx1"/>
                </a:solidFill>
              </a:rPr>
              <a:t>Title</a:t>
            </a:r>
            <a:endParaRPr lang="en-US" sz="2800" dirty="0"/>
          </a:p>
        </p:txBody>
      </p:sp>
      <p:sp>
        <p:nvSpPr>
          <p:cNvPr id="25" name="Slide Number Placeholder 0"/>
          <p:cNvSpPr>
            <a:spLocks noGrp="1"/>
          </p:cNvSpPr>
          <p:nvPr>
            <p:ph type="sldNum" sz="quarter" idx="4294967295"/>
          </p:nvPr>
        </p:nvSpPr>
        <p:spPr>
          <a:xfrm>
            <a:off x="11064240" y="6446520"/>
            <a:ext cx="66751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086"/>
                </a:solidFill>
              </a:defRPr>
            </a:lvl1pPr>
          </a:lstStyle>
          <a:p>
            <a:pPr algn="r"/>
            <a:fld id="{F7021451-1387-4CA6-816F-3879F97B5CBC}" type="slidenum">
              <a:rPr b="0" lang="en-US"/>
              <a:t>1004</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Q_CHART_LEF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104888" y="457200"/>
            <a:ext cx="4626864" cy="777240"/>
          </a:xfrm>
          <a:prstGeom prst="rect">
            <a:avLst/>
          </a:prstGeom>
          <a:noFill/>
          <a:ln/>
        </p:spPr>
        <p:txBody>
          <a:bodyPr wrap="square" rtlCol="0"/>
          <a:lstStyle>
            <a:lvl1pPr algn="l" indent="0" marL="0">
              <a:buNone/>
              <a:defRPr lang="en-US" sz="2000" b="1" dirty="0">
                <a:solidFill>
                  <a:schemeClr val="tx1"/>
                </a:solidFill>
              </a:defRPr>
            </a:lvl1pPr>
          </a:lstStyle>
          <a:p>
            <a:pPr algn="l" indent="0" marL="0">
              <a:buNone/>
            </a:pPr>
            <a:r>
              <a:rPr lang="en-US" sz="2000" b="1" dirty="0">
                <a:solidFill>
                  <a:schemeClr val="tx1"/>
                </a:solidFill>
              </a:rPr>
              <a:t>Question</a:t>
            </a:r>
            <a:endParaRPr lang="en-US" sz="2000" dirty="0"/>
          </a:p>
        </p:txBody>
      </p:sp>
      <p:sp>
        <p:nvSpPr>
          <p:cNvPr id="25" name="Slide Number Placeholder 0"/>
          <p:cNvSpPr>
            <a:spLocks noGrp="1"/>
          </p:cNvSpPr>
          <p:nvPr>
            <p:ph type="sldNum" sz="quarter" idx="4294967295"/>
          </p:nvPr>
        </p:nvSpPr>
        <p:spPr>
          <a:xfrm>
            <a:off x="11064240" y="6446520"/>
            <a:ext cx="66751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086"/>
                </a:solidFill>
              </a:defRPr>
            </a:lvl1pPr>
          </a:lstStyle>
          <a:p>
            <a:pPr algn="r"/>
            <a:fld id="{F7021451-1387-4CA6-816F-3879F97B5CBC}" type="slidenum">
              <a:rPr b="0" lang="en-US"/>
              <a:t>1005</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Q_CHART_RIGH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1207008" y="457200"/>
            <a:ext cx="4754880" cy="777240"/>
          </a:xfrm>
          <a:prstGeom prst="rect">
            <a:avLst/>
          </a:prstGeom>
          <a:noFill/>
          <a:ln/>
        </p:spPr>
        <p:txBody>
          <a:bodyPr wrap="square" rtlCol="0"/>
          <a:lstStyle>
            <a:lvl1pPr algn="l" indent="0" marL="0">
              <a:buNone/>
              <a:defRPr lang="en-US" sz="2000" b="1" dirty="0">
                <a:solidFill>
                  <a:schemeClr val="tx1"/>
                </a:solidFill>
              </a:defRPr>
            </a:lvl1pPr>
          </a:lstStyle>
          <a:p>
            <a:pPr algn="l" indent="0" marL="0">
              <a:buNone/>
            </a:pPr>
            <a:r>
              <a:rPr lang="en-US" sz="2000" b="1" dirty="0">
                <a:solidFill>
                  <a:schemeClr val="tx1"/>
                </a:solidFill>
              </a:rPr>
              <a:t>Question</a:t>
            </a:r>
            <a:endParaRPr lang="en-US" sz="2000" dirty="0"/>
          </a:p>
        </p:txBody>
      </p:sp>
      <p:sp>
        <p:nvSpPr>
          <p:cNvPr id="25" name="Slide Number Placeholder 0"/>
          <p:cNvSpPr>
            <a:spLocks noGrp="1"/>
          </p:cNvSpPr>
          <p:nvPr>
            <p:ph type="sldNum" sz="quarter" idx="4294967295"/>
          </p:nvPr>
        </p:nvSpPr>
        <p:spPr>
          <a:xfrm>
            <a:off x="11064240" y="6446520"/>
            <a:ext cx="66751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086"/>
                </a:solidFill>
              </a:defRPr>
            </a:lvl1pPr>
          </a:lstStyle>
          <a:p>
            <a:pPr algn="r"/>
            <a:fld id="{F7021451-1387-4CA6-816F-3879F97B5CBC}" type="slidenum">
              <a:rPr b="0" lang="en-US"/>
              <a:t>1006</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Q_WIDE">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1207008" y="457200"/>
            <a:ext cx="10515600" cy="777240"/>
          </a:xfrm>
          <a:prstGeom prst="rect">
            <a:avLst/>
          </a:prstGeom>
          <a:noFill/>
          <a:ln/>
        </p:spPr>
        <p:txBody>
          <a:bodyPr wrap="square" rtlCol="0"/>
          <a:lstStyle>
            <a:lvl1pPr algn="l" indent="0" marL="0">
              <a:buNone/>
              <a:defRPr lang="en-US" sz="2000" b="1" dirty="0">
                <a:solidFill>
                  <a:schemeClr val="tx1"/>
                </a:solidFill>
              </a:defRPr>
            </a:lvl1pPr>
          </a:lstStyle>
          <a:p>
            <a:pPr algn="l" indent="0" marL="0">
              <a:buNone/>
            </a:pPr>
            <a:r>
              <a:rPr lang="en-US" sz="2000" b="1" dirty="0">
                <a:solidFill>
                  <a:schemeClr val="tx1"/>
                </a:solidFill>
              </a:rPr>
              <a:t>Question</a:t>
            </a:r>
            <a:endParaRPr lang="en-US" sz="2000" dirty="0"/>
          </a:p>
        </p:txBody>
      </p:sp>
      <p:sp>
        <p:nvSpPr>
          <p:cNvPr id="25" name="Slide Number Placeholder 0"/>
          <p:cNvSpPr>
            <a:spLocks noGrp="1"/>
          </p:cNvSpPr>
          <p:nvPr>
            <p:ph type="sldNum" sz="quarter" idx="4294967295"/>
          </p:nvPr>
        </p:nvSpPr>
        <p:spPr>
          <a:xfrm>
            <a:off x="11064240" y="6446520"/>
            <a:ext cx="66751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086"/>
                </a:solidFill>
              </a:defRPr>
            </a:lvl1pPr>
          </a:lstStyle>
          <a:p>
            <a:pPr algn="r"/>
            <a:fld id="{F7021451-1387-4CA6-816F-3879F97B5CBC}" type="slidenum">
              <a:rPr b="0" lang="en-US"/>
              <a:t>1007</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64240" y="6446520"/>
            <a:ext cx="66751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288A6"/>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6.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5.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7.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7.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7.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6.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7.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6.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5.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7.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Decor circle 1"/>
          <p:cNvSpPr/>
          <p:nvPr/>
        </p:nvSpPr>
        <p:spPr>
          <a:xfrm>
            <a:off x="9692640" y="-1463040"/>
            <a:ext cx="4572000" cy="4572000"/>
          </a:xfrm>
          <a:prstGeom prst="ellipse">
            <a:avLst/>
          </a:prstGeom>
          <a:solidFill>
            <a:schemeClr val="accent2"/>
          </a:solidFill>
          <a:ln/>
        </p:spPr>
      </p:sp>
      <p:sp>
        <p:nvSpPr>
          <p:cNvPr id="3" name="Decor circle 2"/>
          <p:cNvSpPr/>
          <p:nvPr/>
        </p:nvSpPr>
        <p:spPr>
          <a:xfrm>
            <a:off x="-1645920" y="4754880"/>
            <a:ext cx="3840480" cy="3840480"/>
          </a:xfrm>
          <a:prstGeom prst="ellipse">
            <a:avLst/>
          </a:prstGeom>
          <a:solidFill>
            <a:schemeClr val="accent2"/>
          </a:solidFill>
          <a:ln/>
        </p:spPr>
      </p:sp>
      <p:sp>
        <p:nvSpPr>
          <p:cNvPr id="4" name="Text 2"/>
          <p:cNvSpPr txBox="1"/>
          <p:nvPr/>
        </p:nvSpPr>
        <p:spPr>
          <a:xfrm>
            <a:off x="822960" y="1783080"/>
            <a:ext cx="10424160" cy="365760"/>
          </a:xfrm>
          <a:prstGeom prst="rect">
            <a:avLst/>
          </a:prstGeom>
          <a:noFill/>
          <a:ln/>
        </p:spPr>
        <p:txBody>
          <a:bodyPr wrap="square" lIns="0" tIns="0" rIns="0" bIns="0" rtlCol="0" anchor="ctr"/>
          <a:lstStyle/>
          <a:p>
            <a:pPr indent="0" marL="0">
              <a:buNone/>
            </a:pPr>
            <a:r>
              <a:rPr lang="en-US" sz="1400" b="1" spc="300" kern="0" dirty="0">
                <a:solidFill>
                  <a:schemeClr val="accent1"/>
                </a:solidFill>
              </a:rPr>
              <a:t>ML INTERNSHIP PROGRAM  ·  WEATHER FORECAST API &amp; TIME-SERIES EDA</a:t>
            </a:r>
            <a:endParaRPr lang="en-US" sz="1400" dirty="0"/>
          </a:p>
        </p:txBody>
      </p:sp>
      <p:sp>
        <p:nvSpPr>
          <p:cNvPr id="5" name="Text 0"/>
          <p:cNvSpPr/>
          <p:nvPr>
            <p:ph idx="100" type="title" hasCustomPrompt="1"/>
          </p:nvPr>
        </p:nvSpPr>
        <p:spPr>
          <a:xfrm>
            <a:off x="822960" y="2240280"/>
            <a:ext cx="10424160" cy="1325880"/>
          </a:xfrm>
          <a:prstGeom prst="rect">
            <a:avLst/>
          </a:prstGeom>
          <a:noFill/>
          <a:ln/>
        </p:spPr>
        <p:txBody>
          <a:bodyPr wrap="square" lIns="0" tIns="0" rIns="0" bIns="0" rtlCol="0" anchor="ctr"/>
          <a:lstStyle/>
          <a:p>
            <a:pPr algn="l" indent="0" marL="0">
              <a:buNone/>
            </a:pPr>
            <a:r>
              <a:rPr lang="en-US" sz="4400" b="1" dirty="0">
                <a:solidFill>
                  <a:schemeClr val="bg1"/>
                </a:solidFill>
              </a:rPr>
              <a:t>Cairo Weather Forecast</a:t>
            </a:r>
            <a:endParaRPr lang="en-US" sz="4400" dirty="0"/>
          </a:p>
        </p:txBody>
      </p:sp>
      <p:sp>
        <p:nvSpPr>
          <p:cNvPr id="6" name="Text 4"/>
          <p:cNvSpPr txBox="1"/>
          <p:nvPr/>
        </p:nvSpPr>
        <p:spPr>
          <a:xfrm>
            <a:off x="822960" y="3611880"/>
            <a:ext cx="9692640" cy="822960"/>
          </a:xfrm>
          <a:prstGeom prst="rect">
            <a:avLst/>
          </a:prstGeom>
          <a:noFill/>
          <a:ln/>
        </p:spPr>
        <p:txBody>
          <a:bodyPr wrap="square" lIns="0" tIns="0" rIns="0" bIns="0" rtlCol="0" anchor="t"/>
          <a:lstStyle/>
          <a:p>
            <a:pPr indent="0" marL="0">
              <a:buNone/>
            </a:pPr>
            <a:r>
              <a:rPr lang="en-US" sz="2000" i="1" dirty="0">
                <a:solidFill>
                  <a:srgbClr val="C7CBE0"/>
                </a:solidFill>
              </a:rPr>
              <a:t>Data acquisition, data preparation and time-series EDA on 1,055 observations (2021 – 2026)</a:t>
            </a:r>
            <a:endParaRPr lang="en-US" sz="2000" dirty="0"/>
          </a:p>
        </p:txBody>
      </p:sp>
      <p:sp>
        <p:nvSpPr>
          <p:cNvPr id="7" name="Text 5"/>
          <p:cNvSpPr txBox="1"/>
          <p:nvPr/>
        </p:nvSpPr>
        <p:spPr>
          <a:xfrm>
            <a:off x="822960" y="6263640"/>
            <a:ext cx="8229600" cy="320040"/>
          </a:xfrm>
          <a:prstGeom prst="rect">
            <a:avLst/>
          </a:prstGeom>
          <a:noFill/>
          <a:ln/>
        </p:spPr>
        <p:txBody>
          <a:bodyPr wrap="square" lIns="0" tIns="0" rIns="0" bIns="0" rtlCol="0" anchor="t"/>
          <a:lstStyle/>
          <a:p>
            <a:pPr indent="0" marL="0">
              <a:buNone/>
            </a:pPr>
            <a:r>
              <a:rPr lang="en-US" sz="1200" dirty="0">
                <a:solidFill>
                  <a:srgbClr val="8288A6"/>
                </a:solidFill>
              </a:rPr>
              <a:t>Data collection (Part 1)  •  Preparation (Part 2)  •  EDA (Part 3)</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548640" y="457200"/>
            <a:ext cx="10789920" cy="320040"/>
          </a:xfrm>
          <a:prstGeom prst="rect">
            <a:avLst/>
          </a:prstGeom>
          <a:noFill/>
          <a:ln/>
        </p:spPr>
        <p:txBody>
          <a:bodyPr wrap="square" lIns="0" tIns="0" rIns="0" bIns="0" rtlCol="0" anchor="ctr"/>
          <a:lstStyle/>
          <a:p>
            <a:pPr indent="0" marL="0">
              <a:buNone/>
            </a:pPr>
            <a:r>
              <a:rPr lang="en-US" sz="1300" b="1" spc="200" kern="0" dirty="0">
                <a:solidFill>
                  <a:schemeClr val="accent3"/>
                </a:solidFill>
              </a:rPr>
              <a:t>THE DATASET</a:t>
            </a:r>
            <a:endParaRPr lang="en-US" sz="1300" dirty="0"/>
          </a:p>
        </p:txBody>
      </p:sp>
      <p:sp>
        <p:nvSpPr>
          <p:cNvPr id="3" name="Text 0"/>
          <p:cNvSpPr/>
          <p:nvPr>
            <p:ph idx="100" type="title" hasCustomPrompt="1"/>
          </p:nvPr>
        </p:nvSpPr>
        <p:spPr>
          <a:xfrm>
            <a:off x="548640" y="777240"/>
            <a:ext cx="11064240" cy="640080"/>
          </a:xfrm>
          <a:prstGeom prst="rect">
            <a:avLst/>
          </a:prstGeom>
          <a:noFill/>
          <a:ln/>
        </p:spPr>
        <p:txBody>
          <a:bodyPr wrap="square" lIns="0" tIns="0" rIns="0" bIns="0" rtlCol="0" anchor="ctr"/>
          <a:lstStyle/>
          <a:p>
            <a:pPr algn="l" indent="0" marL="0">
              <a:buNone/>
            </a:pPr>
            <a:r>
              <a:rPr lang="en-US" sz="2800" b="1" dirty="0">
                <a:solidFill>
                  <a:schemeClr val="tx1"/>
                </a:solidFill>
              </a:rPr>
              <a:t>Nearly six years of Cairo weather in one ML-ready table</a:t>
            </a:r>
            <a:endParaRPr lang="en-US" sz="2800" dirty="0"/>
          </a:p>
        </p:txBody>
      </p:sp>
      <p:sp>
        <p:nvSpPr>
          <p:cNvPr id="4" name="Text 2"/>
          <p:cNvSpPr txBox="1"/>
          <p:nvPr/>
        </p:nvSpPr>
        <p:spPr>
          <a:xfrm>
            <a:off x="548640" y="1417320"/>
            <a:ext cx="11064240" cy="502920"/>
          </a:xfrm>
          <a:prstGeom prst="rect">
            <a:avLst/>
          </a:prstGeom>
          <a:noFill/>
          <a:ln/>
        </p:spPr>
        <p:txBody>
          <a:bodyPr wrap="square" lIns="0" tIns="0" rIns="0" bIns="0" rtlCol="0" anchor="t"/>
          <a:lstStyle/>
          <a:p>
            <a:pPr indent="0" marL="0">
              <a:buNone/>
            </a:pPr>
            <a:r>
              <a:rPr lang="en-US" sz="1400" dirty="0">
                <a:solidFill>
                  <a:schemeClr val="accent3"/>
                </a:solidFill>
              </a:rPr>
              <a:t>A free public API, a clean time-series file and ten questions that explain how temperature behaves.</a:t>
            </a:r>
            <a:endParaRPr lang="en-US" sz="1400" dirty="0"/>
          </a:p>
        </p:txBody>
      </p:sp>
      <p:sp>
        <p:nvSpPr>
          <p:cNvPr id="5" name="Stat card"/>
          <p:cNvSpPr/>
          <p:nvPr/>
        </p:nvSpPr>
        <p:spPr>
          <a:xfrm>
            <a:off x="457200" y="2103120"/>
            <a:ext cx="2606040" cy="1783080"/>
          </a:xfrm>
          <a:prstGeom prst="roundRect">
            <a:avLst>
              <a:gd name="adj" fmla="val 4103"/>
            </a:avLst>
          </a:prstGeom>
          <a:solidFill>
            <a:schemeClr val="bg2"/>
          </a:solidFill>
          <a:ln w="12700">
            <a:solidFill>
              <a:srgbClr val="E4E6F0"/>
            </a:solidFill>
            <a:prstDash val="solid"/>
          </a:ln>
        </p:spPr>
      </p:sp>
      <p:sp>
        <p:nvSpPr>
          <p:cNvPr id="6" name="Text 4"/>
          <p:cNvSpPr txBox="1"/>
          <p:nvPr/>
        </p:nvSpPr>
        <p:spPr>
          <a:xfrm>
            <a:off x="685800" y="2212848"/>
            <a:ext cx="2240280" cy="640080"/>
          </a:xfrm>
          <a:prstGeom prst="rect">
            <a:avLst/>
          </a:prstGeom>
          <a:noFill/>
          <a:ln/>
        </p:spPr>
        <p:txBody>
          <a:bodyPr wrap="square" lIns="0" tIns="0" rIns="0" bIns="0" rtlCol="0" anchor="ctr"/>
          <a:lstStyle/>
          <a:p>
            <a:pPr indent="0" marL="0">
              <a:buNone/>
            </a:pPr>
            <a:r>
              <a:rPr lang="en-US" sz="3000" b="1" dirty="0">
                <a:solidFill>
                  <a:schemeClr val="tx2"/>
                </a:solidFill>
                <a:latin typeface="+mj-lt" pitchFamily="34" charset="0"/>
                <a:ea typeface="+mj-lt" pitchFamily="34" charset="-122"/>
                <a:cs typeface="+mj-lt" pitchFamily="34" charset="-120"/>
              </a:rPr>
              <a:t>1,055</a:t>
            </a:r>
            <a:endParaRPr lang="en-US" sz="3000" dirty="0"/>
          </a:p>
        </p:txBody>
      </p:sp>
      <p:sp>
        <p:nvSpPr>
          <p:cNvPr id="7" name="Text 5"/>
          <p:cNvSpPr txBox="1"/>
          <p:nvPr/>
        </p:nvSpPr>
        <p:spPr>
          <a:xfrm>
            <a:off x="685800" y="2880360"/>
            <a:ext cx="2240280" cy="274320"/>
          </a:xfrm>
          <a:prstGeom prst="rect">
            <a:avLst/>
          </a:prstGeom>
          <a:noFill/>
          <a:ln/>
        </p:spPr>
        <p:txBody>
          <a:bodyPr wrap="square" lIns="0" tIns="0" rIns="0" bIns="0" rtlCol="0" anchor="t"/>
          <a:lstStyle/>
          <a:p>
            <a:pPr indent="0" marL="0">
              <a:buNone/>
            </a:pPr>
            <a:r>
              <a:rPr lang="en-US" sz="1400" b="1" dirty="0">
                <a:solidFill>
                  <a:schemeClr val="tx1"/>
                </a:solidFill>
              </a:rPr>
              <a:t>rows</a:t>
            </a:r>
            <a:endParaRPr lang="en-US" sz="1400" dirty="0"/>
          </a:p>
        </p:txBody>
      </p:sp>
      <p:sp>
        <p:nvSpPr>
          <p:cNvPr id="8" name="Text 6"/>
          <p:cNvSpPr txBox="1"/>
          <p:nvPr/>
        </p:nvSpPr>
        <p:spPr>
          <a:xfrm>
            <a:off x="685800" y="3172968"/>
            <a:ext cx="2240280" cy="594360"/>
          </a:xfrm>
          <a:prstGeom prst="rect">
            <a:avLst/>
          </a:prstGeom>
          <a:noFill/>
          <a:ln/>
        </p:spPr>
        <p:txBody>
          <a:bodyPr wrap="square" lIns="0" tIns="0" rIns="0" bIns="0" rtlCol="0" anchor="t"/>
          <a:lstStyle/>
          <a:p>
            <a:pPr indent="0" marL="0">
              <a:buNone/>
            </a:pPr>
            <a:r>
              <a:rPr lang="en-US" sz="1200" dirty="0">
                <a:solidFill>
                  <a:schemeClr val="accent3"/>
                </a:solidFill>
              </a:rPr>
              <a:t>one observation every 2 days</a:t>
            </a:r>
            <a:endParaRPr lang="en-US" sz="1200" dirty="0"/>
          </a:p>
        </p:txBody>
      </p:sp>
      <p:sp>
        <p:nvSpPr>
          <p:cNvPr id="9" name="Stat card"/>
          <p:cNvSpPr/>
          <p:nvPr/>
        </p:nvSpPr>
        <p:spPr>
          <a:xfrm>
            <a:off x="3346704" y="2103120"/>
            <a:ext cx="2606040" cy="1783080"/>
          </a:xfrm>
          <a:prstGeom prst="roundRect">
            <a:avLst>
              <a:gd name="adj" fmla="val 4103"/>
            </a:avLst>
          </a:prstGeom>
          <a:solidFill>
            <a:schemeClr val="bg2"/>
          </a:solidFill>
          <a:ln w="12700">
            <a:solidFill>
              <a:srgbClr val="E4E6F0"/>
            </a:solidFill>
            <a:prstDash val="solid"/>
          </a:ln>
        </p:spPr>
      </p:sp>
      <p:sp>
        <p:nvSpPr>
          <p:cNvPr id="10" name="Text 8"/>
          <p:cNvSpPr txBox="1"/>
          <p:nvPr/>
        </p:nvSpPr>
        <p:spPr>
          <a:xfrm>
            <a:off x="3575304" y="2212848"/>
            <a:ext cx="2240280" cy="640080"/>
          </a:xfrm>
          <a:prstGeom prst="rect">
            <a:avLst/>
          </a:prstGeom>
          <a:noFill/>
          <a:ln/>
        </p:spPr>
        <p:txBody>
          <a:bodyPr wrap="square" lIns="0" tIns="0" rIns="0" bIns="0" rtlCol="0" anchor="ctr"/>
          <a:lstStyle/>
          <a:p>
            <a:pPr indent="0" marL="0">
              <a:buNone/>
            </a:pPr>
            <a:r>
              <a:rPr lang="en-US" sz="3000" b="1" dirty="0">
                <a:solidFill>
                  <a:schemeClr val="tx2"/>
                </a:solidFill>
                <a:latin typeface="+mj-lt" pitchFamily="34" charset="0"/>
                <a:ea typeface="+mj-lt" pitchFamily="34" charset="-122"/>
                <a:cs typeface="+mj-lt" pitchFamily="34" charset="-120"/>
              </a:rPr>
              <a:t>33</a:t>
            </a:r>
            <a:endParaRPr lang="en-US" sz="3000" dirty="0"/>
          </a:p>
        </p:txBody>
      </p:sp>
      <p:sp>
        <p:nvSpPr>
          <p:cNvPr id="11" name="Text 9"/>
          <p:cNvSpPr txBox="1"/>
          <p:nvPr/>
        </p:nvSpPr>
        <p:spPr>
          <a:xfrm>
            <a:off x="3575304" y="2880360"/>
            <a:ext cx="2240280" cy="274320"/>
          </a:xfrm>
          <a:prstGeom prst="rect">
            <a:avLst/>
          </a:prstGeom>
          <a:noFill/>
          <a:ln/>
        </p:spPr>
        <p:txBody>
          <a:bodyPr wrap="square" lIns="0" tIns="0" rIns="0" bIns="0" rtlCol="0" anchor="t"/>
          <a:lstStyle/>
          <a:p>
            <a:pPr indent="0" marL="0">
              <a:buNone/>
            </a:pPr>
            <a:r>
              <a:rPr lang="en-US" sz="1400" b="1" dirty="0">
                <a:solidFill>
                  <a:schemeClr val="tx1"/>
                </a:solidFill>
              </a:rPr>
              <a:t>columns</a:t>
            </a:r>
            <a:endParaRPr lang="en-US" sz="1400" dirty="0"/>
          </a:p>
        </p:txBody>
      </p:sp>
      <p:sp>
        <p:nvSpPr>
          <p:cNvPr id="12" name="Text 10"/>
          <p:cNvSpPr txBox="1"/>
          <p:nvPr/>
        </p:nvSpPr>
        <p:spPr>
          <a:xfrm>
            <a:off x="3575304" y="3172968"/>
            <a:ext cx="2240280" cy="594360"/>
          </a:xfrm>
          <a:prstGeom prst="rect">
            <a:avLst/>
          </a:prstGeom>
          <a:noFill/>
          <a:ln/>
        </p:spPr>
        <p:txBody>
          <a:bodyPr wrap="square" lIns="0" tIns="0" rIns="0" bIns="0" rtlCol="0" anchor="t"/>
          <a:lstStyle/>
          <a:p>
            <a:pPr indent="0" marL="0">
              <a:buNone/>
            </a:pPr>
            <a:r>
              <a:rPr lang="en-US" sz="1200" dirty="0">
                <a:solidFill>
                  <a:schemeClr val="accent3"/>
                </a:solidFill>
              </a:rPr>
              <a:t>20 API parameters + 12 engineered features, plus the date</a:t>
            </a:r>
            <a:endParaRPr lang="en-US" sz="1200" dirty="0"/>
          </a:p>
        </p:txBody>
      </p:sp>
      <p:sp>
        <p:nvSpPr>
          <p:cNvPr id="13" name="Stat card"/>
          <p:cNvSpPr/>
          <p:nvPr/>
        </p:nvSpPr>
        <p:spPr>
          <a:xfrm>
            <a:off x="6236208" y="2103120"/>
            <a:ext cx="2606040" cy="1783080"/>
          </a:xfrm>
          <a:prstGeom prst="roundRect">
            <a:avLst>
              <a:gd name="adj" fmla="val 4103"/>
            </a:avLst>
          </a:prstGeom>
          <a:solidFill>
            <a:schemeClr val="bg2"/>
          </a:solidFill>
          <a:ln w="12700">
            <a:solidFill>
              <a:srgbClr val="E4E6F0"/>
            </a:solidFill>
            <a:prstDash val="solid"/>
          </a:ln>
        </p:spPr>
      </p:sp>
      <p:sp>
        <p:nvSpPr>
          <p:cNvPr id="14" name="Text 12"/>
          <p:cNvSpPr txBox="1"/>
          <p:nvPr/>
        </p:nvSpPr>
        <p:spPr>
          <a:xfrm>
            <a:off x="6464808" y="2212848"/>
            <a:ext cx="2240280" cy="640080"/>
          </a:xfrm>
          <a:prstGeom prst="rect">
            <a:avLst/>
          </a:prstGeom>
          <a:noFill/>
          <a:ln/>
        </p:spPr>
        <p:txBody>
          <a:bodyPr wrap="square" lIns="0" tIns="0" rIns="0" bIns="0" rtlCol="0" anchor="ctr"/>
          <a:lstStyle/>
          <a:p>
            <a:pPr indent="0" marL="0">
              <a:buNone/>
            </a:pPr>
            <a:r>
              <a:rPr lang="en-US" sz="3000" b="1" dirty="0">
                <a:solidFill>
                  <a:schemeClr val="tx2"/>
                </a:solidFill>
                <a:latin typeface="+mj-lt" pitchFamily="34" charset="0"/>
                <a:ea typeface="+mj-lt" pitchFamily="34" charset="-122"/>
                <a:cs typeface="+mj-lt" pitchFamily="34" charset="-120"/>
              </a:rPr>
              <a:t>2021 – 2026</a:t>
            </a:r>
            <a:endParaRPr lang="en-US" sz="3000" dirty="0"/>
          </a:p>
        </p:txBody>
      </p:sp>
      <p:sp>
        <p:nvSpPr>
          <p:cNvPr id="15" name="Text 13"/>
          <p:cNvSpPr txBox="1"/>
          <p:nvPr/>
        </p:nvSpPr>
        <p:spPr>
          <a:xfrm>
            <a:off x="6464808" y="2880360"/>
            <a:ext cx="2240280" cy="274320"/>
          </a:xfrm>
          <a:prstGeom prst="rect">
            <a:avLst/>
          </a:prstGeom>
          <a:noFill/>
          <a:ln/>
        </p:spPr>
        <p:txBody>
          <a:bodyPr wrap="square" lIns="0" tIns="0" rIns="0" bIns="0" rtlCol="0" anchor="t"/>
          <a:lstStyle/>
          <a:p>
            <a:pPr indent="0" marL="0">
              <a:buNone/>
            </a:pPr>
            <a:r>
              <a:rPr lang="en-US" sz="1400" b="1" dirty="0">
                <a:solidFill>
                  <a:schemeClr val="tx1"/>
                </a:solidFill>
              </a:rPr>
              <a:t>period</a:t>
            </a:r>
            <a:endParaRPr lang="en-US" sz="1400" dirty="0"/>
          </a:p>
        </p:txBody>
      </p:sp>
      <p:sp>
        <p:nvSpPr>
          <p:cNvPr id="16" name="Text 14"/>
          <p:cNvSpPr txBox="1"/>
          <p:nvPr/>
        </p:nvSpPr>
        <p:spPr>
          <a:xfrm>
            <a:off x="6464808" y="3172968"/>
            <a:ext cx="2240280" cy="594360"/>
          </a:xfrm>
          <a:prstGeom prst="rect">
            <a:avLst/>
          </a:prstGeom>
          <a:noFill/>
          <a:ln/>
        </p:spPr>
        <p:txBody>
          <a:bodyPr wrap="square" lIns="0" tIns="0" rIns="0" bIns="0" rtlCol="0" anchor="t"/>
          <a:lstStyle/>
          <a:p>
            <a:pPr indent="0" marL="0">
              <a:buNone/>
            </a:pPr>
            <a:r>
              <a:rPr lang="en-US" sz="1200" dirty="0">
                <a:solidFill>
                  <a:schemeClr val="accent3"/>
                </a:solidFill>
              </a:rPr>
              <a:t>2021-01-01 to 2026-10-10</a:t>
            </a:r>
            <a:endParaRPr lang="en-US" sz="1200" dirty="0"/>
          </a:p>
        </p:txBody>
      </p:sp>
      <p:sp>
        <p:nvSpPr>
          <p:cNvPr id="17" name="Stat card"/>
          <p:cNvSpPr/>
          <p:nvPr/>
        </p:nvSpPr>
        <p:spPr>
          <a:xfrm>
            <a:off x="9125712" y="2103120"/>
            <a:ext cx="2606040" cy="1783080"/>
          </a:xfrm>
          <a:prstGeom prst="roundRect">
            <a:avLst>
              <a:gd name="adj" fmla="val 4103"/>
            </a:avLst>
          </a:prstGeom>
          <a:solidFill>
            <a:schemeClr val="bg2"/>
          </a:solidFill>
          <a:ln w="12700">
            <a:solidFill>
              <a:srgbClr val="E4E6F0"/>
            </a:solidFill>
            <a:prstDash val="solid"/>
          </a:ln>
        </p:spPr>
      </p:sp>
      <p:sp>
        <p:nvSpPr>
          <p:cNvPr id="18" name="Text 16"/>
          <p:cNvSpPr txBox="1"/>
          <p:nvPr/>
        </p:nvSpPr>
        <p:spPr>
          <a:xfrm>
            <a:off x="9354312" y="2212848"/>
            <a:ext cx="2240280" cy="640080"/>
          </a:xfrm>
          <a:prstGeom prst="rect">
            <a:avLst/>
          </a:prstGeom>
          <a:noFill/>
          <a:ln/>
        </p:spPr>
        <p:txBody>
          <a:bodyPr wrap="square" lIns="0" tIns="0" rIns="0" bIns="0" rtlCol="0" anchor="ctr"/>
          <a:lstStyle/>
          <a:p>
            <a:pPr indent="0" marL="0">
              <a:buNone/>
            </a:pPr>
            <a:r>
              <a:rPr lang="en-US" sz="3000" b="1" dirty="0">
                <a:solidFill>
                  <a:schemeClr val="tx2"/>
                </a:solidFill>
                <a:latin typeface="+mj-lt" pitchFamily="34" charset="0"/>
                <a:ea typeface="+mj-lt" pitchFamily="34" charset="-122"/>
                <a:cs typeface="+mj-lt" pitchFamily="34" charset="-120"/>
              </a:rPr>
              <a:t>22.5 °C</a:t>
            </a:r>
            <a:endParaRPr lang="en-US" sz="3000" dirty="0"/>
          </a:p>
        </p:txBody>
      </p:sp>
      <p:sp>
        <p:nvSpPr>
          <p:cNvPr id="19" name="Text 17"/>
          <p:cNvSpPr txBox="1"/>
          <p:nvPr/>
        </p:nvSpPr>
        <p:spPr>
          <a:xfrm>
            <a:off x="9354312" y="2880360"/>
            <a:ext cx="2240280" cy="274320"/>
          </a:xfrm>
          <a:prstGeom prst="rect">
            <a:avLst/>
          </a:prstGeom>
          <a:noFill/>
          <a:ln/>
        </p:spPr>
        <p:txBody>
          <a:bodyPr wrap="square" lIns="0" tIns="0" rIns="0" bIns="0" rtlCol="0" anchor="t"/>
          <a:lstStyle/>
          <a:p>
            <a:pPr indent="0" marL="0">
              <a:buNone/>
            </a:pPr>
            <a:r>
              <a:rPr lang="en-US" sz="1400" b="1" dirty="0">
                <a:solidFill>
                  <a:schemeClr val="tx1"/>
                </a:solidFill>
              </a:rPr>
              <a:t>mean target</a:t>
            </a:r>
            <a:endParaRPr lang="en-US" sz="1400" dirty="0"/>
          </a:p>
        </p:txBody>
      </p:sp>
      <p:sp>
        <p:nvSpPr>
          <p:cNvPr id="20" name="Text 18"/>
          <p:cNvSpPr txBox="1"/>
          <p:nvPr/>
        </p:nvSpPr>
        <p:spPr>
          <a:xfrm>
            <a:off x="9354312" y="3172968"/>
            <a:ext cx="2240280" cy="594360"/>
          </a:xfrm>
          <a:prstGeom prst="rect">
            <a:avLst/>
          </a:prstGeom>
          <a:noFill/>
          <a:ln/>
        </p:spPr>
        <p:txBody>
          <a:bodyPr wrap="square" lIns="0" tIns="0" rIns="0" bIns="0" rtlCol="0" anchor="t"/>
          <a:lstStyle/>
          <a:p>
            <a:pPr indent="0" marL="0">
              <a:buNone/>
            </a:pPr>
            <a:r>
              <a:rPr lang="en-US" sz="1200" dirty="0">
                <a:solidFill>
                  <a:schemeClr val="accent3"/>
                </a:solidFill>
              </a:rPr>
              <a:t>daily average air temperature (NASA POWER T2M)</a:t>
            </a:r>
            <a:endParaRPr lang="en-US" sz="1200" dirty="0"/>
          </a:p>
        </p:txBody>
      </p:sp>
      <p:sp>
        <p:nvSpPr>
          <p:cNvPr id="21" name="Part card"/>
          <p:cNvSpPr/>
          <p:nvPr/>
        </p:nvSpPr>
        <p:spPr>
          <a:xfrm>
            <a:off x="457200" y="4206240"/>
            <a:ext cx="3575304" cy="2148840"/>
          </a:xfrm>
          <a:prstGeom prst="roundRect">
            <a:avLst>
              <a:gd name="adj" fmla="val 3404"/>
            </a:avLst>
          </a:prstGeom>
          <a:solidFill>
            <a:schemeClr val="tx2"/>
          </a:solidFill>
          <a:ln/>
        </p:spPr>
      </p:sp>
      <p:sp>
        <p:nvSpPr>
          <p:cNvPr id="22" name="Badge 1"/>
          <p:cNvSpPr/>
          <p:nvPr/>
        </p:nvSpPr>
        <p:spPr>
          <a:xfrm>
            <a:off x="731520" y="4434840"/>
            <a:ext cx="457200" cy="457200"/>
          </a:xfrm>
          <a:prstGeom prst="ellipse">
            <a:avLst/>
          </a:prstGeom>
          <a:solidFill>
            <a:schemeClr val="accent1"/>
          </a:solidFill>
          <a:ln/>
        </p:spPr>
      </p:sp>
      <p:sp>
        <p:nvSpPr>
          <p:cNvPr id="23" name="Text 21"/>
          <p:cNvSpPr txBox="1"/>
          <p:nvPr/>
        </p:nvSpPr>
        <p:spPr>
          <a:xfrm>
            <a:off x="731520" y="4434840"/>
            <a:ext cx="457200" cy="457200"/>
          </a:xfrm>
          <a:prstGeom prst="rect">
            <a:avLst/>
          </a:prstGeom>
          <a:noFill/>
          <a:ln/>
        </p:spPr>
        <p:txBody>
          <a:bodyPr wrap="square" lIns="0" tIns="0" rIns="0" bIns="0" rtlCol="0" anchor="ctr"/>
          <a:lstStyle/>
          <a:p>
            <a:pPr algn="ctr" indent="0" marL="0">
              <a:buNone/>
            </a:pPr>
            <a:r>
              <a:rPr lang="en-US" sz="1800" b="1" dirty="0">
                <a:solidFill>
                  <a:schemeClr val="tx2"/>
                </a:solidFill>
                <a:latin typeface="+mj-lt" pitchFamily="34" charset="0"/>
                <a:ea typeface="+mj-lt" pitchFamily="34" charset="-122"/>
                <a:cs typeface="+mj-lt" pitchFamily="34" charset="-120"/>
              </a:rPr>
              <a:t>1</a:t>
            </a:r>
            <a:endParaRPr lang="en-US" sz="1800" dirty="0"/>
          </a:p>
        </p:txBody>
      </p:sp>
      <p:sp>
        <p:nvSpPr>
          <p:cNvPr id="24" name="Text 22"/>
          <p:cNvSpPr txBox="1"/>
          <p:nvPr/>
        </p:nvSpPr>
        <p:spPr>
          <a:xfrm>
            <a:off x="1371600" y="4434840"/>
            <a:ext cx="2478024" cy="457200"/>
          </a:xfrm>
          <a:prstGeom prst="rect">
            <a:avLst/>
          </a:prstGeom>
          <a:noFill/>
          <a:ln/>
        </p:spPr>
        <p:txBody>
          <a:bodyPr wrap="square" lIns="0" tIns="0" rIns="0" bIns="0" rtlCol="0" anchor="ctr"/>
          <a:lstStyle/>
          <a:p>
            <a:pPr indent="0" marL="0">
              <a:buNone/>
            </a:pPr>
            <a:r>
              <a:rPr lang="en-US" sz="1500" b="1" dirty="0">
                <a:solidFill>
                  <a:schemeClr val="bg1"/>
                </a:solidFill>
              </a:rPr>
              <a:t>Part 1 · Data collection</a:t>
            </a:r>
            <a:endParaRPr lang="en-US" sz="1500" dirty="0"/>
          </a:p>
        </p:txBody>
      </p:sp>
      <p:sp>
        <p:nvSpPr>
          <p:cNvPr id="25" name="Text 23"/>
          <p:cNvSpPr txBox="1"/>
          <p:nvPr/>
        </p:nvSpPr>
        <p:spPr>
          <a:xfrm>
            <a:off x="731520" y="5074920"/>
            <a:ext cx="3026664" cy="1188720"/>
          </a:xfrm>
          <a:prstGeom prst="rect">
            <a:avLst/>
          </a:prstGeom>
          <a:noFill/>
          <a:ln/>
        </p:spPr>
        <p:txBody>
          <a:bodyPr wrap="square" lIns="0" tIns="0" rIns="0" bIns="0" rtlCol="0" anchor="t"/>
          <a:lstStyle/>
          <a:p>
            <a:pPr indent="0" marL="0">
              <a:buNone/>
            </a:pPr>
            <a:r>
              <a:rPr lang="en-US" sz="1300" dirty="0">
                <a:solidFill>
                  <a:srgbClr val="C7CBE0"/>
                </a:solidFill>
              </a:rPr>
              <a:t>NASA POWER daily API, 20 parameters, 6 yearly requests, then sampled every 2 days into a 1,055-row, 33-column table.</a:t>
            </a:r>
            <a:endParaRPr lang="en-US" sz="1300" dirty="0"/>
          </a:p>
        </p:txBody>
      </p:sp>
      <p:sp>
        <p:nvSpPr>
          <p:cNvPr id="26" name="Part card"/>
          <p:cNvSpPr/>
          <p:nvPr/>
        </p:nvSpPr>
        <p:spPr>
          <a:xfrm>
            <a:off x="4306824" y="4206240"/>
            <a:ext cx="3575304" cy="2148840"/>
          </a:xfrm>
          <a:prstGeom prst="roundRect">
            <a:avLst>
              <a:gd name="adj" fmla="val 3404"/>
            </a:avLst>
          </a:prstGeom>
          <a:solidFill>
            <a:schemeClr val="tx2"/>
          </a:solidFill>
          <a:ln/>
        </p:spPr>
      </p:sp>
      <p:sp>
        <p:nvSpPr>
          <p:cNvPr id="27" name="Badge 2"/>
          <p:cNvSpPr/>
          <p:nvPr/>
        </p:nvSpPr>
        <p:spPr>
          <a:xfrm>
            <a:off x="4581144" y="4434840"/>
            <a:ext cx="457200" cy="457200"/>
          </a:xfrm>
          <a:prstGeom prst="ellipse">
            <a:avLst/>
          </a:prstGeom>
          <a:solidFill>
            <a:schemeClr val="accent1"/>
          </a:solidFill>
          <a:ln/>
        </p:spPr>
      </p:sp>
      <p:sp>
        <p:nvSpPr>
          <p:cNvPr id="28" name="Text 26"/>
          <p:cNvSpPr txBox="1"/>
          <p:nvPr/>
        </p:nvSpPr>
        <p:spPr>
          <a:xfrm>
            <a:off x="4581144" y="4434840"/>
            <a:ext cx="457200" cy="457200"/>
          </a:xfrm>
          <a:prstGeom prst="rect">
            <a:avLst/>
          </a:prstGeom>
          <a:noFill/>
          <a:ln/>
        </p:spPr>
        <p:txBody>
          <a:bodyPr wrap="square" lIns="0" tIns="0" rIns="0" bIns="0" rtlCol="0" anchor="ctr"/>
          <a:lstStyle/>
          <a:p>
            <a:pPr algn="ctr" indent="0" marL="0">
              <a:buNone/>
            </a:pPr>
            <a:r>
              <a:rPr lang="en-US" sz="1800" b="1" dirty="0">
                <a:solidFill>
                  <a:schemeClr val="tx2"/>
                </a:solidFill>
                <a:latin typeface="+mj-lt" pitchFamily="34" charset="0"/>
                <a:ea typeface="+mj-lt" pitchFamily="34" charset="-122"/>
                <a:cs typeface="+mj-lt" pitchFamily="34" charset="-120"/>
              </a:rPr>
              <a:t>2</a:t>
            </a:r>
            <a:endParaRPr lang="en-US" sz="1800" dirty="0"/>
          </a:p>
        </p:txBody>
      </p:sp>
      <p:sp>
        <p:nvSpPr>
          <p:cNvPr id="29" name="Text 27"/>
          <p:cNvSpPr txBox="1"/>
          <p:nvPr/>
        </p:nvSpPr>
        <p:spPr>
          <a:xfrm>
            <a:off x="5221224" y="4434840"/>
            <a:ext cx="2478024" cy="457200"/>
          </a:xfrm>
          <a:prstGeom prst="rect">
            <a:avLst/>
          </a:prstGeom>
          <a:noFill/>
          <a:ln/>
        </p:spPr>
        <p:txBody>
          <a:bodyPr wrap="square" lIns="0" tIns="0" rIns="0" bIns="0" rtlCol="0" anchor="ctr"/>
          <a:lstStyle/>
          <a:p>
            <a:pPr indent="0" marL="0">
              <a:buNone/>
            </a:pPr>
            <a:r>
              <a:rPr lang="en-US" sz="1500" b="1" dirty="0">
                <a:solidFill>
                  <a:schemeClr val="bg1"/>
                </a:solidFill>
              </a:rPr>
              <a:t>Part 2 · Preparation (Q1 – Q2)</a:t>
            </a:r>
            <a:endParaRPr lang="en-US" sz="1500" dirty="0"/>
          </a:p>
        </p:txBody>
      </p:sp>
      <p:sp>
        <p:nvSpPr>
          <p:cNvPr id="30" name="Text 28"/>
          <p:cNvSpPr txBox="1"/>
          <p:nvPr/>
        </p:nvSpPr>
        <p:spPr>
          <a:xfrm>
            <a:off x="4581144" y="5074920"/>
            <a:ext cx="3026664" cy="1188720"/>
          </a:xfrm>
          <a:prstGeom prst="rect">
            <a:avLst/>
          </a:prstGeom>
          <a:noFill/>
          <a:ln/>
        </p:spPr>
        <p:txBody>
          <a:bodyPr wrap="square" lIns="0" tIns="0" rIns="0" bIns="0" rtlCol="0" anchor="t"/>
          <a:lstStyle/>
          <a:p>
            <a:pPr indent="0" marL="0">
              <a:buNone/>
            </a:pPr>
            <a:r>
              <a:rPr lang="en-US" sz="1300" dirty="0">
                <a:solidFill>
                  <a:srgbClr val="C7CBE0"/>
                </a:solidFill>
              </a:rPr>
              <a:t>Q1: is the series ordered, regular and duplicate-free?  Q2: how are missing values and impossible values handled?</a:t>
            </a:r>
            <a:endParaRPr lang="en-US" sz="1300" dirty="0"/>
          </a:p>
        </p:txBody>
      </p:sp>
      <p:sp>
        <p:nvSpPr>
          <p:cNvPr id="31" name="Part card"/>
          <p:cNvSpPr/>
          <p:nvPr/>
        </p:nvSpPr>
        <p:spPr>
          <a:xfrm>
            <a:off x="8156448" y="4206240"/>
            <a:ext cx="3575304" cy="2148840"/>
          </a:xfrm>
          <a:prstGeom prst="roundRect">
            <a:avLst>
              <a:gd name="adj" fmla="val 3404"/>
            </a:avLst>
          </a:prstGeom>
          <a:solidFill>
            <a:schemeClr val="tx2"/>
          </a:solidFill>
          <a:ln/>
        </p:spPr>
      </p:sp>
      <p:sp>
        <p:nvSpPr>
          <p:cNvPr id="32" name="Badge 3"/>
          <p:cNvSpPr/>
          <p:nvPr/>
        </p:nvSpPr>
        <p:spPr>
          <a:xfrm>
            <a:off x="8430768" y="4434840"/>
            <a:ext cx="457200" cy="457200"/>
          </a:xfrm>
          <a:prstGeom prst="ellipse">
            <a:avLst/>
          </a:prstGeom>
          <a:solidFill>
            <a:schemeClr val="accent1"/>
          </a:solidFill>
          <a:ln/>
        </p:spPr>
      </p:sp>
      <p:sp>
        <p:nvSpPr>
          <p:cNvPr id="33" name="Text 31"/>
          <p:cNvSpPr txBox="1"/>
          <p:nvPr/>
        </p:nvSpPr>
        <p:spPr>
          <a:xfrm>
            <a:off x="8430768" y="4434840"/>
            <a:ext cx="457200" cy="457200"/>
          </a:xfrm>
          <a:prstGeom prst="rect">
            <a:avLst/>
          </a:prstGeom>
          <a:noFill/>
          <a:ln/>
        </p:spPr>
        <p:txBody>
          <a:bodyPr wrap="square" lIns="0" tIns="0" rIns="0" bIns="0" rtlCol="0" anchor="ctr"/>
          <a:lstStyle/>
          <a:p>
            <a:pPr algn="ctr" indent="0" marL="0">
              <a:buNone/>
            </a:pPr>
            <a:r>
              <a:rPr lang="en-US" sz="1800" b="1" dirty="0">
                <a:solidFill>
                  <a:schemeClr val="tx2"/>
                </a:solidFill>
                <a:latin typeface="+mj-lt" pitchFamily="34" charset="0"/>
                <a:ea typeface="+mj-lt" pitchFamily="34" charset="-122"/>
                <a:cs typeface="+mj-lt" pitchFamily="34" charset="-120"/>
              </a:rPr>
              <a:t>3</a:t>
            </a:r>
            <a:endParaRPr lang="en-US" sz="1800" dirty="0"/>
          </a:p>
        </p:txBody>
      </p:sp>
      <p:sp>
        <p:nvSpPr>
          <p:cNvPr id="34" name="Text 32"/>
          <p:cNvSpPr txBox="1"/>
          <p:nvPr/>
        </p:nvSpPr>
        <p:spPr>
          <a:xfrm>
            <a:off x="9070848" y="4434840"/>
            <a:ext cx="2478024" cy="457200"/>
          </a:xfrm>
          <a:prstGeom prst="rect">
            <a:avLst/>
          </a:prstGeom>
          <a:noFill/>
          <a:ln/>
        </p:spPr>
        <p:txBody>
          <a:bodyPr wrap="square" lIns="0" tIns="0" rIns="0" bIns="0" rtlCol="0" anchor="ctr"/>
          <a:lstStyle/>
          <a:p>
            <a:pPr indent="0" marL="0">
              <a:buNone/>
            </a:pPr>
            <a:r>
              <a:rPr lang="en-US" sz="1500" b="1" dirty="0">
                <a:solidFill>
                  <a:schemeClr val="bg1"/>
                </a:solidFill>
              </a:rPr>
              <a:t>Part 3 · EDA (Q3 – Q10)</a:t>
            </a:r>
            <a:endParaRPr lang="en-US" sz="1500" dirty="0"/>
          </a:p>
        </p:txBody>
      </p:sp>
      <p:sp>
        <p:nvSpPr>
          <p:cNvPr id="35" name="Text 33"/>
          <p:cNvSpPr txBox="1"/>
          <p:nvPr/>
        </p:nvSpPr>
        <p:spPr>
          <a:xfrm>
            <a:off x="8430768" y="5074920"/>
            <a:ext cx="3026664" cy="1188720"/>
          </a:xfrm>
          <a:prstGeom prst="rect">
            <a:avLst/>
          </a:prstGeom>
          <a:noFill/>
          <a:ln/>
        </p:spPr>
        <p:txBody>
          <a:bodyPr wrap="square" lIns="0" tIns="0" rIns="0" bIns="0" rtlCol="0" anchor="t"/>
          <a:lstStyle/>
          <a:p>
            <a:pPr indent="0" marL="0">
              <a:buNone/>
            </a:pPr>
            <a:r>
              <a:rPr lang="en-US" sz="1300" dirty="0">
                <a:solidFill>
                  <a:srgbClr val="C7CBE0"/>
                </a:solidFill>
              </a:rPr>
              <a:t>Distribution, trend, seasonality, volatility, STL, ACF / PACF, stationarity, correlations, anomaly review.</a:t>
            </a:r>
            <a:endParaRPr lang="en-US" sz="1300" dirty="0"/>
          </a:p>
        </p:txBody>
      </p:sp>
      <p:sp>
        <p:nvSpPr>
          <p:cNvPr id="25" name="Slide Number Placeholder 0"/>
          <p:cNvSpPr>
            <a:spLocks noGrp="1"/>
          </p:cNvSpPr>
          <p:nvPr>
            <p:ph type="sldNum" sz="quarter" idx="4294967295"/>
          </p:nvPr>
        </p:nvSpPr>
        <p:spPr>
          <a:xfrm>
            <a:off x="11064240" y="6446520"/>
            <a:ext cx="66751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086"/>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548640" y="457200"/>
            <a:ext cx="10789920" cy="320040"/>
          </a:xfrm>
          <a:prstGeom prst="rect">
            <a:avLst/>
          </a:prstGeom>
          <a:noFill/>
          <a:ln/>
        </p:spPr>
        <p:txBody>
          <a:bodyPr wrap="square" lIns="0" tIns="0" rIns="0" bIns="0" rtlCol="0" anchor="ctr"/>
          <a:lstStyle/>
          <a:p>
            <a:pPr indent="0" marL="0">
              <a:buNone/>
            </a:pPr>
            <a:r>
              <a:rPr lang="en-US" sz="1300" b="1" spc="200" kern="0" dirty="0">
                <a:solidFill>
                  <a:schemeClr val="accent3"/>
                </a:solidFill>
              </a:rPr>
              <a:t>PART 1 · DATA COLLECTION</a:t>
            </a:r>
            <a:endParaRPr lang="en-US" sz="1300" dirty="0"/>
          </a:p>
        </p:txBody>
      </p:sp>
      <p:sp>
        <p:nvSpPr>
          <p:cNvPr id="3" name="Text 0"/>
          <p:cNvSpPr/>
          <p:nvPr>
            <p:ph idx="100" type="title" hasCustomPrompt="1"/>
          </p:nvPr>
        </p:nvSpPr>
        <p:spPr>
          <a:xfrm>
            <a:off x="548640" y="777240"/>
            <a:ext cx="11064240" cy="640080"/>
          </a:xfrm>
          <a:prstGeom prst="rect">
            <a:avLst/>
          </a:prstGeom>
          <a:noFill/>
          <a:ln/>
        </p:spPr>
        <p:txBody>
          <a:bodyPr wrap="square" lIns="0" tIns="0" rIns="0" bIns="0" rtlCol="0" anchor="ctr"/>
          <a:lstStyle/>
          <a:p>
            <a:pPr algn="l" indent="0" marL="0">
              <a:buNone/>
            </a:pPr>
            <a:r>
              <a:rPr lang="en-US" sz="2800" b="1" dirty="0">
                <a:solidFill>
                  <a:schemeClr val="tx1"/>
                </a:solidFill>
              </a:rPr>
              <a:t>One free API, one request per year of data</a:t>
            </a:r>
            <a:endParaRPr lang="en-US" sz="2800" dirty="0"/>
          </a:p>
        </p:txBody>
      </p:sp>
      <p:sp>
        <p:nvSpPr>
          <p:cNvPr id="4" name="Text 2"/>
          <p:cNvSpPr txBox="1"/>
          <p:nvPr/>
        </p:nvSpPr>
        <p:spPr>
          <a:xfrm>
            <a:off x="548640" y="1417320"/>
            <a:ext cx="11064240" cy="502920"/>
          </a:xfrm>
          <a:prstGeom prst="rect">
            <a:avLst/>
          </a:prstGeom>
          <a:noFill/>
          <a:ln/>
        </p:spPr>
        <p:txBody>
          <a:bodyPr wrap="square" lIns="0" tIns="0" rIns="0" bIns="0" rtlCol="0" anchor="t"/>
          <a:lstStyle/>
          <a:p>
            <a:pPr indent="0" marL="0">
              <a:buNone/>
            </a:pPr>
            <a:r>
              <a:rPr lang="en-US" sz="1400" dirty="0">
                <a:solidFill>
                  <a:schemeClr val="accent3"/>
                </a:solidFill>
              </a:rPr>
              <a:t>NASA POWER Daily API — a free public service with historical and near-real-time data, queried at Cairo's coordinates.</a:t>
            </a:r>
            <a:endParaRPr lang="en-US" sz="1400" dirty="0"/>
          </a:p>
        </p:txBody>
      </p:sp>
      <p:sp>
        <p:nvSpPr>
          <p:cNvPr id="5" name="Request card"/>
          <p:cNvSpPr/>
          <p:nvPr/>
        </p:nvSpPr>
        <p:spPr>
          <a:xfrm>
            <a:off x="457200" y="2103120"/>
            <a:ext cx="5577840" cy="4251960"/>
          </a:xfrm>
          <a:prstGeom prst="roundRect">
            <a:avLst>
              <a:gd name="adj" fmla="val 1720"/>
            </a:avLst>
          </a:prstGeom>
          <a:solidFill>
            <a:schemeClr val="tx2"/>
          </a:solidFill>
          <a:ln/>
        </p:spPr>
      </p:sp>
      <p:sp>
        <p:nvSpPr>
          <p:cNvPr id="6" name="Text 4"/>
          <p:cNvSpPr txBox="1"/>
          <p:nvPr/>
        </p:nvSpPr>
        <p:spPr>
          <a:xfrm>
            <a:off x="777240" y="2331720"/>
            <a:ext cx="4937760" cy="228600"/>
          </a:xfrm>
          <a:prstGeom prst="rect">
            <a:avLst/>
          </a:prstGeom>
          <a:noFill/>
          <a:ln/>
        </p:spPr>
        <p:txBody>
          <a:bodyPr wrap="square" lIns="0" tIns="0" rIns="0" bIns="0" rtlCol="0" anchor="t"/>
          <a:lstStyle/>
          <a:p>
            <a:pPr indent="0" marL="0">
              <a:buNone/>
            </a:pPr>
            <a:r>
              <a:rPr lang="en-US" sz="1100" b="1" spc="150" kern="0" dirty="0">
                <a:solidFill>
                  <a:schemeClr val="accent1"/>
                </a:solidFill>
              </a:rPr>
              <a:t>ENDPOINT</a:t>
            </a:r>
            <a:endParaRPr lang="en-US" sz="1100" dirty="0"/>
          </a:p>
        </p:txBody>
      </p:sp>
      <p:sp>
        <p:nvSpPr>
          <p:cNvPr id="7" name="Endpoint box"/>
          <p:cNvSpPr/>
          <p:nvPr/>
        </p:nvSpPr>
        <p:spPr>
          <a:xfrm>
            <a:off x="777240" y="2633472"/>
            <a:ext cx="4937760" cy="502920"/>
          </a:xfrm>
          <a:prstGeom prst="roundRect">
            <a:avLst>
              <a:gd name="adj" fmla="val 10909"/>
            </a:avLst>
          </a:prstGeom>
          <a:solidFill>
            <a:schemeClr val="accent2"/>
          </a:solidFill>
          <a:ln/>
        </p:spPr>
      </p:sp>
      <p:sp>
        <p:nvSpPr>
          <p:cNvPr id="8" name="Text 6"/>
          <p:cNvSpPr txBox="1"/>
          <p:nvPr/>
        </p:nvSpPr>
        <p:spPr>
          <a:xfrm>
            <a:off x="914400" y="2633472"/>
            <a:ext cx="4663440" cy="502920"/>
          </a:xfrm>
          <a:prstGeom prst="rect">
            <a:avLst/>
          </a:prstGeom>
          <a:noFill/>
          <a:ln/>
        </p:spPr>
        <p:txBody>
          <a:bodyPr wrap="square" lIns="0" tIns="0" rIns="0" bIns="0" rtlCol="0" anchor="ctr"/>
          <a:lstStyle/>
          <a:p>
            <a:pPr indent="0" marL="0">
              <a:buNone/>
            </a:pPr>
            <a:r>
              <a:rPr lang="en-US" sz="1400" b="1" dirty="0">
                <a:solidFill>
                  <a:schemeClr val="accent1"/>
                </a:solidFill>
                <a:latin typeface="Courier New" pitchFamily="34" charset="0"/>
                <a:ea typeface="Courier New" pitchFamily="34" charset="-122"/>
                <a:cs typeface="Courier New" pitchFamily="34" charset="-120"/>
              </a:rPr>
              <a:t>GET /api/temporal/daily/point</a:t>
            </a:r>
            <a:endParaRPr lang="en-US" sz="1400" dirty="0"/>
          </a:p>
        </p:txBody>
      </p:sp>
      <p:sp>
        <p:nvSpPr>
          <p:cNvPr id="9" name="Text 7"/>
          <p:cNvSpPr txBox="1"/>
          <p:nvPr/>
        </p:nvSpPr>
        <p:spPr>
          <a:xfrm>
            <a:off x="777240" y="3200400"/>
            <a:ext cx="4937760" cy="274320"/>
          </a:xfrm>
          <a:prstGeom prst="rect">
            <a:avLst/>
          </a:prstGeom>
          <a:noFill/>
          <a:ln/>
        </p:spPr>
        <p:txBody>
          <a:bodyPr wrap="square" lIns="0" tIns="0" rIns="0" bIns="0" rtlCol="0" anchor="t"/>
          <a:lstStyle/>
          <a:p>
            <a:pPr indent="0" marL="0">
              <a:buNone/>
            </a:pPr>
            <a:r>
              <a:rPr lang="en-US" sz="1200" i="1" dirty="0">
                <a:solidFill>
                  <a:srgbClr val="AEB3CC"/>
                </a:solidFill>
              </a:rPr>
              <a:t>power.larc.nasa.gov</a:t>
            </a:r>
            <a:endParaRPr lang="en-US" sz="1200" dirty="0"/>
          </a:p>
        </p:txBody>
      </p:sp>
      <p:sp>
        <p:nvSpPr>
          <p:cNvPr id="10" name="Text 8"/>
          <p:cNvSpPr txBox="1"/>
          <p:nvPr/>
        </p:nvSpPr>
        <p:spPr>
          <a:xfrm>
            <a:off x="777240" y="3611880"/>
            <a:ext cx="1920240" cy="365760"/>
          </a:xfrm>
          <a:prstGeom prst="rect">
            <a:avLst/>
          </a:prstGeom>
          <a:noFill/>
          <a:ln/>
        </p:spPr>
        <p:txBody>
          <a:bodyPr wrap="square" lIns="0" tIns="0" rIns="0" bIns="0" rtlCol="0" anchor="ctr"/>
          <a:lstStyle/>
          <a:p>
            <a:pPr indent="0" marL="0">
              <a:buNone/>
            </a:pPr>
            <a:r>
              <a:rPr lang="en-US" sz="1100" dirty="0">
                <a:solidFill>
                  <a:schemeClr val="accent1"/>
                </a:solidFill>
                <a:latin typeface="Courier New" pitchFamily="34" charset="0"/>
                <a:ea typeface="Courier New" pitchFamily="34" charset="-122"/>
                <a:cs typeface="Courier New" pitchFamily="34" charset="-120"/>
              </a:rPr>
              <a:t>parameters</a:t>
            </a:r>
            <a:endParaRPr lang="en-US" sz="1100" dirty="0"/>
          </a:p>
        </p:txBody>
      </p:sp>
      <p:sp>
        <p:nvSpPr>
          <p:cNvPr id="11" name="Text 9"/>
          <p:cNvSpPr txBox="1"/>
          <p:nvPr/>
        </p:nvSpPr>
        <p:spPr>
          <a:xfrm>
            <a:off x="2743200" y="3611880"/>
            <a:ext cx="3154680" cy="365760"/>
          </a:xfrm>
          <a:prstGeom prst="rect">
            <a:avLst/>
          </a:prstGeom>
          <a:noFill/>
          <a:ln/>
        </p:spPr>
        <p:txBody>
          <a:bodyPr wrap="square" lIns="0" tIns="0" rIns="0" bIns="0" rtlCol="0" anchor="ctr"/>
          <a:lstStyle/>
          <a:p>
            <a:pPr indent="0" marL="0">
              <a:buNone/>
            </a:pPr>
            <a:r>
              <a:rPr lang="en-US" sz="1300" dirty="0">
                <a:solidFill>
                  <a:schemeClr val="bg1"/>
                </a:solidFill>
              </a:rPr>
              <a:t>20 POWER variables (T2M … CLRSKY_SFC_SW_DWN)</a:t>
            </a:r>
            <a:endParaRPr lang="en-US" sz="1300" dirty="0"/>
          </a:p>
        </p:txBody>
      </p:sp>
      <p:sp>
        <p:nvSpPr>
          <p:cNvPr id="12" name="Text 10"/>
          <p:cNvSpPr txBox="1"/>
          <p:nvPr/>
        </p:nvSpPr>
        <p:spPr>
          <a:xfrm>
            <a:off x="777240" y="4069080"/>
            <a:ext cx="1920240" cy="365760"/>
          </a:xfrm>
          <a:prstGeom prst="rect">
            <a:avLst/>
          </a:prstGeom>
          <a:noFill/>
          <a:ln/>
        </p:spPr>
        <p:txBody>
          <a:bodyPr wrap="square" lIns="0" tIns="0" rIns="0" bIns="0" rtlCol="0" anchor="ctr"/>
          <a:lstStyle/>
          <a:p>
            <a:pPr indent="0" marL="0">
              <a:buNone/>
            </a:pPr>
            <a:r>
              <a:rPr lang="en-US" sz="1100" dirty="0">
                <a:solidFill>
                  <a:schemeClr val="accent1"/>
                </a:solidFill>
                <a:latin typeface="Courier New" pitchFamily="34" charset="0"/>
                <a:ea typeface="Courier New" pitchFamily="34" charset="-122"/>
                <a:cs typeface="Courier New" pitchFamily="34" charset="-120"/>
              </a:rPr>
              <a:t>community</a:t>
            </a:r>
            <a:endParaRPr lang="en-US" sz="1100" dirty="0"/>
          </a:p>
        </p:txBody>
      </p:sp>
      <p:sp>
        <p:nvSpPr>
          <p:cNvPr id="13" name="Text 11"/>
          <p:cNvSpPr txBox="1"/>
          <p:nvPr/>
        </p:nvSpPr>
        <p:spPr>
          <a:xfrm>
            <a:off x="2743200" y="4069080"/>
            <a:ext cx="3154680" cy="365760"/>
          </a:xfrm>
          <a:prstGeom prst="rect">
            <a:avLst/>
          </a:prstGeom>
          <a:noFill/>
          <a:ln/>
        </p:spPr>
        <p:txBody>
          <a:bodyPr wrap="square" lIns="0" tIns="0" rIns="0" bIns="0" rtlCol="0" anchor="ctr"/>
          <a:lstStyle/>
          <a:p>
            <a:pPr indent="0" marL="0">
              <a:buNone/>
            </a:pPr>
            <a:r>
              <a:rPr lang="en-US" sz="1300" dirty="0">
                <a:solidFill>
                  <a:schemeClr val="bg1"/>
                </a:solidFill>
              </a:rPr>
              <a:t>RE (Renewable Energy)</a:t>
            </a:r>
            <a:endParaRPr lang="en-US" sz="1300" dirty="0"/>
          </a:p>
        </p:txBody>
      </p:sp>
      <p:sp>
        <p:nvSpPr>
          <p:cNvPr id="14" name="Text 12"/>
          <p:cNvSpPr txBox="1"/>
          <p:nvPr/>
        </p:nvSpPr>
        <p:spPr>
          <a:xfrm>
            <a:off x="777240" y="4526280"/>
            <a:ext cx="1920240" cy="365760"/>
          </a:xfrm>
          <a:prstGeom prst="rect">
            <a:avLst/>
          </a:prstGeom>
          <a:noFill/>
          <a:ln/>
        </p:spPr>
        <p:txBody>
          <a:bodyPr wrap="square" lIns="0" tIns="0" rIns="0" bIns="0" rtlCol="0" anchor="ctr"/>
          <a:lstStyle/>
          <a:p>
            <a:pPr indent="0" marL="0">
              <a:buNone/>
            </a:pPr>
            <a:r>
              <a:rPr lang="en-US" sz="1100" dirty="0">
                <a:solidFill>
                  <a:schemeClr val="accent1"/>
                </a:solidFill>
                <a:latin typeface="Courier New" pitchFamily="34" charset="0"/>
                <a:ea typeface="Courier New" pitchFamily="34" charset="-122"/>
                <a:cs typeface="Courier New" pitchFamily="34" charset="-120"/>
              </a:rPr>
              <a:t>latitude / longitude</a:t>
            </a:r>
            <a:endParaRPr lang="en-US" sz="1100" dirty="0"/>
          </a:p>
        </p:txBody>
      </p:sp>
      <p:sp>
        <p:nvSpPr>
          <p:cNvPr id="15" name="Text 13"/>
          <p:cNvSpPr txBox="1"/>
          <p:nvPr/>
        </p:nvSpPr>
        <p:spPr>
          <a:xfrm>
            <a:off x="2743200" y="4526280"/>
            <a:ext cx="3154680" cy="365760"/>
          </a:xfrm>
          <a:prstGeom prst="rect">
            <a:avLst/>
          </a:prstGeom>
          <a:noFill/>
          <a:ln/>
        </p:spPr>
        <p:txBody>
          <a:bodyPr wrap="square" lIns="0" tIns="0" rIns="0" bIns="0" rtlCol="0" anchor="ctr"/>
          <a:lstStyle/>
          <a:p>
            <a:pPr indent="0" marL="0">
              <a:buNone/>
            </a:pPr>
            <a:r>
              <a:rPr lang="en-US" sz="1300" dirty="0">
                <a:solidFill>
                  <a:schemeClr val="bg1"/>
                </a:solidFill>
              </a:rPr>
              <a:t>30.0444 / 31.2357 (Cairo)</a:t>
            </a:r>
            <a:endParaRPr lang="en-US" sz="1300" dirty="0"/>
          </a:p>
        </p:txBody>
      </p:sp>
      <p:sp>
        <p:nvSpPr>
          <p:cNvPr id="16" name="Text 14"/>
          <p:cNvSpPr txBox="1"/>
          <p:nvPr/>
        </p:nvSpPr>
        <p:spPr>
          <a:xfrm>
            <a:off x="777240" y="4983480"/>
            <a:ext cx="1920240" cy="365760"/>
          </a:xfrm>
          <a:prstGeom prst="rect">
            <a:avLst/>
          </a:prstGeom>
          <a:noFill/>
          <a:ln/>
        </p:spPr>
        <p:txBody>
          <a:bodyPr wrap="square" lIns="0" tIns="0" rIns="0" bIns="0" rtlCol="0" anchor="ctr"/>
          <a:lstStyle/>
          <a:p>
            <a:pPr indent="0" marL="0">
              <a:buNone/>
            </a:pPr>
            <a:r>
              <a:rPr lang="en-US" sz="1100" dirty="0">
                <a:solidFill>
                  <a:schemeClr val="accent1"/>
                </a:solidFill>
                <a:latin typeface="Courier New" pitchFamily="34" charset="0"/>
                <a:ea typeface="Courier New" pitchFamily="34" charset="-122"/>
                <a:cs typeface="Courier New" pitchFamily="34" charset="-120"/>
              </a:rPr>
              <a:t>start / end</a:t>
            </a:r>
            <a:endParaRPr lang="en-US" sz="1100" dirty="0"/>
          </a:p>
        </p:txBody>
      </p:sp>
      <p:sp>
        <p:nvSpPr>
          <p:cNvPr id="17" name="Text 15"/>
          <p:cNvSpPr txBox="1"/>
          <p:nvPr/>
        </p:nvSpPr>
        <p:spPr>
          <a:xfrm>
            <a:off x="2743200" y="4983480"/>
            <a:ext cx="3154680" cy="365760"/>
          </a:xfrm>
          <a:prstGeom prst="rect">
            <a:avLst/>
          </a:prstGeom>
          <a:noFill/>
          <a:ln/>
        </p:spPr>
        <p:txBody>
          <a:bodyPr wrap="square" lIns="0" tIns="0" rIns="0" bIns="0" rtlCol="0" anchor="ctr"/>
          <a:lstStyle/>
          <a:p>
            <a:pPr indent="0" marL="0">
              <a:buNone/>
            </a:pPr>
            <a:r>
              <a:rPr lang="en-US" sz="1300" dirty="0">
                <a:solidFill>
                  <a:schemeClr val="bg1"/>
                </a:solidFill>
              </a:rPr>
              <a:t>one request per year, 2021 → 2026</a:t>
            </a:r>
            <a:endParaRPr lang="en-US" sz="1300" dirty="0"/>
          </a:p>
        </p:txBody>
      </p:sp>
      <p:sp>
        <p:nvSpPr>
          <p:cNvPr id="18" name="Text 16"/>
          <p:cNvSpPr txBox="1"/>
          <p:nvPr/>
        </p:nvSpPr>
        <p:spPr>
          <a:xfrm>
            <a:off x="777240" y="5440680"/>
            <a:ext cx="1920240" cy="365760"/>
          </a:xfrm>
          <a:prstGeom prst="rect">
            <a:avLst/>
          </a:prstGeom>
          <a:noFill/>
          <a:ln/>
        </p:spPr>
        <p:txBody>
          <a:bodyPr wrap="square" lIns="0" tIns="0" rIns="0" bIns="0" rtlCol="0" anchor="ctr"/>
          <a:lstStyle/>
          <a:p>
            <a:pPr indent="0" marL="0">
              <a:buNone/>
            </a:pPr>
            <a:r>
              <a:rPr lang="en-US" sz="1100" dirty="0">
                <a:solidFill>
                  <a:schemeClr val="accent1"/>
                </a:solidFill>
                <a:latin typeface="Courier New" pitchFamily="34" charset="0"/>
                <a:ea typeface="Courier New" pitchFamily="34" charset="-122"/>
                <a:cs typeface="Courier New" pitchFamily="34" charset="-120"/>
              </a:rPr>
              <a:t>time-standard</a:t>
            </a:r>
            <a:endParaRPr lang="en-US" sz="1100" dirty="0"/>
          </a:p>
        </p:txBody>
      </p:sp>
      <p:sp>
        <p:nvSpPr>
          <p:cNvPr id="19" name="Text 17"/>
          <p:cNvSpPr txBox="1"/>
          <p:nvPr/>
        </p:nvSpPr>
        <p:spPr>
          <a:xfrm>
            <a:off x="2743200" y="5440680"/>
            <a:ext cx="3154680" cy="365760"/>
          </a:xfrm>
          <a:prstGeom prst="rect">
            <a:avLst/>
          </a:prstGeom>
          <a:noFill/>
          <a:ln/>
        </p:spPr>
        <p:txBody>
          <a:bodyPr wrap="square" lIns="0" tIns="0" rIns="0" bIns="0" rtlCol="0" anchor="ctr"/>
          <a:lstStyle/>
          <a:p>
            <a:pPr indent="0" marL="0">
              <a:buNone/>
            </a:pPr>
            <a:r>
              <a:rPr lang="en-US" sz="1300" dirty="0">
                <a:solidFill>
                  <a:schemeClr val="bg1"/>
                </a:solidFill>
              </a:rPr>
              <a:t>UTC</a:t>
            </a:r>
            <a:endParaRPr lang="en-US" sz="1300" dirty="0"/>
          </a:p>
        </p:txBody>
      </p:sp>
      <p:sp>
        <p:nvSpPr>
          <p:cNvPr id="20" name="Text 18"/>
          <p:cNvSpPr txBox="1"/>
          <p:nvPr/>
        </p:nvSpPr>
        <p:spPr>
          <a:xfrm>
            <a:off x="777240" y="5897880"/>
            <a:ext cx="1920240" cy="365760"/>
          </a:xfrm>
          <a:prstGeom prst="rect">
            <a:avLst/>
          </a:prstGeom>
          <a:noFill/>
          <a:ln/>
        </p:spPr>
        <p:txBody>
          <a:bodyPr wrap="square" lIns="0" tIns="0" rIns="0" bIns="0" rtlCol="0" anchor="ctr"/>
          <a:lstStyle/>
          <a:p>
            <a:pPr indent="0" marL="0">
              <a:buNone/>
            </a:pPr>
            <a:r>
              <a:rPr lang="en-US" sz="1100" dirty="0">
                <a:solidFill>
                  <a:schemeClr val="accent1"/>
                </a:solidFill>
                <a:latin typeface="Courier New" pitchFamily="34" charset="0"/>
                <a:ea typeface="Courier New" pitchFamily="34" charset="-122"/>
                <a:cs typeface="Courier New" pitchFamily="34" charset="-120"/>
              </a:rPr>
              <a:t>format</a:t>
            </a:r>
            <a:endParaRPr lang="en-US" sz="1100" dirty="0"/>
          </a:p>
        </p:txBody>
      </p:sp>
      <p:sp>
        <p:nvSpPr>
          <p:cNvPr id="21" name="Text 19"/>
          <p:cNvSpPr txBox="1"/>
          <p:nvPr/>
        </p:nvSpPr>
        <p:spPr>
          <a:xfrm>
            <a:off x="2743200" y="5897880"/>
            <a:ext cx="3154680" cy="365760"/>
          </a:xfrm>
          <a:prstGeom prst="rect">
            <a:avLst/>
          </a:prstGeom>
          <a:noFill/>
          <a:ln/>
        </p:spPr>
        <p:txBody>
          <a:bodyPr wrap="square" lIns="0" tIns="0" rIns="0" bIns="0" rtlCol="0" anchor="ctr"/>
          <a:lstStyle/>
          <a:p>
            <a:pPr indent="0" marL="0">
              <a:buNone/>
            </a:pPr>
            <a:r>
              <a:rPr lang="en-US" sz="1300" dirty="0">
                <a:solidFill>
                  <a:schemeClr val="bg1"/>
                </a:solidFill>
              </a:rPr>
              <a:t>JSON</a:t>
            </a:r>
            <a:endParaRPr lang="en-US" sz="1300" dirty="0"/>
          </a:p>
        </p:txBody>
      </p:sp>
      <p:sp>
        <p:nvSpPr>
          <p:cNvPr id="22" name="Reason card"/>
          <p:cNvSpPr/>
          <p:nvPr/>
        </p:nvSpPr>
        <p:spPr>
          <a:xfrm>
            <a:off x="6355080" y="2103120"/>
            <a:ext cx="5376672" cy="1280160"/>
          </a:xfrm>
          <a:prstGeom prst="roundRect">
            <a:avLst>
              <a:gd name="adj" fmla="val 5714"/>
            </a:avLst>
          </a:prstGeom>
          <a:solidFill>
            <a:schemeClr val="bg2"/>
          </a:solidFill>
          <a:ln w="12700">
            <a:solidFill>
              <a:srgbClr val="E4E6F0"/>
            </a:solidFill>
            <a:prstDash val="solid"/>
          </a:ln>
        </p:spPr>
      </p:sp>
      <p:sp>
        <p:nvSpPr>
          <p:cNvPr id="23" name="Badge 1"/>
          <p:cNvSpPr/>
          <p:nvPr/>
        </p:nvSpPr>
        <p:spPr>
          <a:xfrm>
            <a:off x="6629400" y="2423160"/>
            <a:ext cx="457200" cy="457200"/>
          </a:xfrm>
          <a:prstGeom prst="ellipse">
            <a:avLst/>
          </a:prstGeom>
          <a:solidFill>
            <a:schemeClr val="tx2"/>
          </a:solidFill>
          <a:ln/>
        </p:spPr>
      </p:sp>
      <p:sp>
        <p:nvSpPr>
          <p:cNvPr id="24" name="Text 22"/>
          <p:cNvSpPr txBox="1"/>
          <p:nvPr/>
        </p:nvSpPr>
        <p:spPr>
          <a:xfrm>
            <a:off x="6629400" y="2423160"/>
            <a:ext cx="457200" cy="457200"/>
          </a:xfrm>
          <a:prstGeom prst="rect">
            <a:avLst/>
          </a:prstGeom>
          <a:noFill/>
          <a:ln/>
        </p:spPr>
        <p:txBody>
          <a:bodyPr wrap="square" lIns="0" tIns="0" rIns="0" bIns="0" rtlCol="0" anchor="ctr"/>
          <a:lstStyle/>
          <a:p>
            <a:pPr algn="ctr" indent="0" marL="0">
              <a:buNone/>
            </a:pPr>
            <a:r>
              <a:rPr lang="en-US" sz="1800" b="1" dirty="0">
                <a:solidFill>
                  <a:schemeClr val="accent1"/>
                </a:solidFill>
                <a:latin typeface="+mj-lt" pitchFamily="34" charset="0"/>
                <a:ea typeface="+mj-lt" pitchFamily="34" charset="-122"/>
                <a:cs typeface="+mj-lt" pitchFamily="34" charset="-120"/>
              </a:rPr>
              <a:t>1</a:t>
            </a:r>
            <a:endParaRPr lang="en-US" sz="1800" dirty="0"/>
          </a:p>
        </p:txBody>
      </p:sp>
      <p:sp>
        <p:nvSpPr>
          <p:cNvPr id="25" name="Text 23"/>
          <p:cNvSpPr txBox="1"/>
          <p:nvPr/>
        </p:nvSpPr>
        <p:spPr>
          <a:xfrm>
            <a:off x="7315200" y="2258568"/>
            <a:ext cx="4206240" cy="320040"/>
          </a:xfrm>
          <a:prstGeom prst="rect">
            <a:avLst/>
          </a:prstGeom>
          <a:noFill/>
          <a:ln/>
        </p:spPr>
        <p:txBody>
          <a:bodyPr wrap="square" lIns="0" tIns="0" rIns="0" bIns="0" rtlCol="0" anchor="ctr"/>
          <a:lstStyle/>
          <a:p>
            <a:pPr indent="0" marL="0">
              <a:buNone/>
            </a:pPr>
            <a:r>
              <a:rPr lang="en-US" sz="1500" b="1" dirty="0">
                <a:solidFill>
                  <a:schemeClr val="tx1"/>
                </a:solidFill>
              </a:rPr>
              <a:t>Free and public</a:t>
            </a:r>
            <a:endParaRPr lang="en-US" sz="1500" dirty="0"/>
          </a:p>
        </p:txBody>
      </p:sp>
      <p:sp>
        <p:nvSpPr>
          <p:cNvPr id="26" name="Text 24"/>
          <p:cNvSpPr txBox="1"/>
          <p:nvPr/>
        </p:nvSpPr>
        <p:spPr>
          <a:xfrm>
            <a:off x="7315200" y="2606040"/>
            <a:ext cx="4206240" cy="731520"/>
          </a:xfrm>
          <a:prstGeom prst="rect">
            <a:avLst/>
          </a:prstGeom>
          <a:noFill/>
          <a:ln/>
        </p:spPr>
        <p:txBody>
          <a:bodyPr wrap="square" lIns="0" tIns="0" rIns="0" bIns="0" rtlCol="0" anchor="t"/>
          <a:lstStyle/>
          <a:p>
            <a:pPr indent="0" marL="0">
              <a:buNone/>
            </a:pPr>
            <a:r>
              <a:rPr lang="en-US" sz="1200" dirty="0">
                <a:solidFill>
                  <a:schemeClr val="accent3"/>
                </a:solidFill>
              </a:rPr>
              <a:t>No paid API key is needed, and the service reaches the newest data (October 2026), so the series runs to the present.</a:t>
            </a:r>
            <a:endParaRPr lang="en-US" sz="1200" dirty="0"/>
          </a:p>
        </p:txBody>
      </p:sp>
      <p:sp>
        <p:nvSpPr>
          <p:cNvPr id="27" name="Reason card"/>
          <p:cNvSpPr/>
          <p:nvPr/>
        </p:nvSpPr>
        <p:spPr>
          <a:xfrm>
            <a:off x="6355080" y="3584448"/>
            <a:ext cx="5376672" cy="1280160"/>
          </a:xfrm>
          <a:prstGeom prst="roundRect">
            <a:avLst>
              <a:gd name="adj" fmla="val 5714"/>
            </a:avLst>
          </a:prstGeom>
          <a:solidFill>
            <a:schemeClr val="bg2"/>
          </a:solidFill>
          <a:ln w="12700">
            <a:solidFill>
              <a:srgbClr val="E4E6F0"/>
            </a:solidFill>
            <a:prstDash val="solid"/>
          </a:ln>
        </p:spPr>
      </p:sp>
      <p:sp>
        <p:nvSpPr>
          <p:cNvPr id="28" name="Badge 2"/>
          <p:cNvSpPr/>
          <p:nvPr/>
        </p:nvSpPr>
        <p:spPr>
          <a:xfrm>
            <a:off x="6629400" y="3904488"/>
            <a:ext cx="457200" cy="457200"/>
          </a:xfrm>
          <a:prstGeom prst="ellipse">
            <a:avLst/>
          </a:prstGeom>
          <a:solidFill>
            <a:schemeClr val="tx2"/>
          </a:solidFill>
          <a:ln/>
        </p:spPr>
      </p:sp>
      <p:sp>
        <p:nvSpPr>
          <p:cNvPr id="29" name="Text 27"/>
          <p:cNvSpPr txBox="1"/>
          <p:nvPr/>
        </p:nvSpPr>
        <p:spPr>
          <a:xfrm>
            <a:off x="6629400" y="3904488"/>
            <a:ext cx="457200" cy="457200"/>
          </a:xfrm>
          <a:prstGeom prst="rect">
            <a:avLst/>
          </a:prstGeom>
          <a:noFill/>
          <a:ln/>
        </p:spPr>
        <p:txBody>
          <a:bodyPr wrap="square" lIns="0" tIns="0" rIns="0" bIns="0" rtlCol="0" anchor="ctr"/>
          <a:lstStyle/>
          <a:p>
            <a:pPr algn="ctr" indent="0" marL="0">
              <a:buNone/>
            </a:pPr>
            <a:r>
              <a:rPr lang="en-US" sz="1800" b="1" dirty="0">
                <a:solidFill>
                  <a:schemeClr val="accent1"/>
                </a:solidFill>
                <a:latin typeface="+mj-lt" pitchFamily="34" charset="0"/>
                <a:ea typeface="+mj-lt" pitchFamily="34" charset="-122"/>
                <a:cs typeface="+mj-lt" pitchFamily="34" charset="-120"/>
              </a:rPr>
              <a:t>2</a:t>
            </a:r>
            <a:endParaRPr lang="en-US" sz="1800" dirty="0"/>
          </a:p>
        </p:txBody>
      </p:sp>
      <p:sp>
        <p:nvSpPr>
          <p:cNvPr id="30" name="Text 28"/>
          <p:cNvSpPr txBox="1"/>
          <p:nvPr/>
        </p:nvSpPr>
        <p:spPr>
          <a:xfrm>
            <a:off x="7315200" y="3739896"/>
            <a:ext cx="4206240" cy="320040"/>
          </a:xfrm>
          <a:prstGeom prst="rect">
            <a:avLst/>
          </a:prstGeom>
          <a:noFill/>
          <a:ln/>
        </p:spPr>
        <p:txBody>
          <a:bodyPr wrap="square" lIns="0" tIns="0" rIns="0" bIns="0" rtlCol="0" anchor="ctr"/>
          <a:lstStyle/>
          <a:p>
            <a:pPr indent="0" marL="0">
              <a:buNone/>
            </a:pPr>
            <a:r>
              <a:rPr lang="en-US" sz="1500" b="1" dirty="0">
                <a:solidFill>
                  <a:schemeClr val="tx1"/>
                </a:solidFill>
              </a:rPr>
              <a:t>20 parameters per request</a:t>
            </a:r>
            <a:endParaRPr lang="en-US" sz="1500" dirty="0"/>
          </a:p>
        </p:txBody>
      </p:sp>
      <p:sp>
        <p:nvSpPr>
          <p:cNvPr id="31" name="Text 29"/>
          <p:cNvSpPr txBox="1"/>
          <p:nvPr/>
        </p:nvSpPr>
        <p:spPr>
          <a:xfrm>
            <a:off x="7315200" y="4087368"/>
            <a:ext cx="4206240" cy="731520"/>
          </a:xfrm>
          <a:prstGeom prst="rect">
            <a:avLst/>
          </a:prstGeom>
          <a:noFill/>
          <a:ln/>
        </p:spPr>
        <p:txBody>
          <a:bodyPr wrap="square" lIns="0" tIns="0" rIns="0" bIns="0" rtlCol="0" anchor="t"/>
          <a:lstStyle/>
          <a:p>
            <a:pPr indent="0" marL="0">
              <a:buNone/>
            </a:pPr>
            <a:r>
              <a:rPr lang="en-US" sz="1200" dirty="0">
                <a:solidFill>
                  <a:schemeClr val="accent3"/>
                </a:solidFill>
              </a:rPr>
              <a:t>This documented limit shaped the design: temperature, humidity, rain, wind, pressure and radiation fit in one call per year.</a:t>
            </a:r>
            <a:endParaRPr lang="en-US" sz="1200" dirty="0"/>
          </a:p>
        </p:txBody>
      </p:sp>
      <p:sp>
        <p:nvSpPr>
          <p:cNvPr id="32" name="Reason card"/>
          <p:cNvSpPr/>
          <p:nvPr/>
        </p:nvSpPr>
        <p:spPr>
          <a:xfrm>
            <a:off x="6355080" y="5065776"/>
            <a:ext cx="5376672" cy="1280160"/>
          </a:xfrm>
          <a:prstGeom prst="roundRect">
            <a:avLst>
              <a:gd name="adj" fmla="val 5714"/>
            </a:avLst>
          </a:prstGeom>
          <a:solidFill>
            <a:schemeClr val="bg2"/>
          </a:solidFill>
          <a:ln w="12700">
            <a:solidFill>
              <a:srgbClr val="E4E6F0"/>
            </a:solidFill>
            <a:prstDash val="solid"/>
          </a:ln>
        </p:spPr>
      </p:sp>
      <p:sp>
        <p:nvSpPr>
          <p:cNvPr id="33" name="Badge 3"/>
          <p:cNvSpPr/>
          <p:nvPr/>
        </p:nvSpPr>
        <p:spPr>
          <a:xfrm>
            <a:off x="6629400" y="5385816"/>
            <a:ext cx="457200" cy="457200"/>
          </a:xfrm>
          <a:prstGeom prst="ellipse">
            <a:avLst/>
          </a:prstGeom>
          <a:solidFill>
            <a:schemeClr val="tx2"/>
          </a:solidFill>
          <a:ln/>
        </p:spPr>
      </p:sp>
      <p:sp>
        <p:nvSpPr>
          <p:cNvPr id="34" name="Text 32"/>
          <p:cNvSpPr txBox="1"/>
          <p:nvPr/>
        </p:nvSpPr>
        <p:spPr>
          <a:xfrm>
            <a:off x="6629400" y="5385816"/>
            <a:ext cx="457200" cy="457200"/>
          </a:xfrm>
          <a:prstGeom prst="rect">
            <a:avLst/>
          </a:prstGeom>
          <a:noFill/>
          <a:ln/>
        </p:spPr>
        <p:txBody>
          <a:bodyPr wrap="square" lIns="0" tIns="0" rIns="0" bIns="0" rtlCol="0" anchor="ctr"/>
          <a:lstStyle/>
          <a:p>
            <a:pPr algn="ctr" indent="0" marL="0">
              <a:buNone/>
            </a:pPr>
            <a:r>
              <a:rPr lang="en-US" sz="1800" b="1" dirty="0">
                <a:solidFill>
                  <a:schemeClr val="accent1"/>
                </a:solidFill>
                <a:latin typeface="+mj-lt" pitchFamily="34" charset="0"/>
                <a:ea typeface="+mj-lt" pitchFamily="34" charset="-122"/>
                <a:cs typeface="+mj-lt" pitchFamily="34" charset="-120"/>
              </a:rPr>
              <a:t>3</a:t>
            </a:r>
            <a:endParaRPr lang="en-US" sz="1800" dirty="0"/>
          </a:p>
        </p:txBody>
      </p:sp>
      <p:sp>
        <p:nvSpPr>
          <p:cNvPr id="35" name="Text 33"/>
          <p:cNvSpPr txBox="1"/>
          <p:nvPr/>
        </p:nvSpPr>
        <p:spPr>
          <a:xfrm>
            <a:off x="7315200" y="5221224"/>
            <a:ext cx="4206240" cy="320040"/>
          </a:xfrm>
          <a:prstGeom prst="rect">
            <a:avLst/>
          </a:prstGeom>
          <a:noFill/>
          <a:ln/>
        </p:spPr>
        <p:txBody>
          <a:bodyPr wrap="square" lIns="0" tIns="0" rIns="0" bIns="0" rtlCol="0" anchor="ctr"/>
          <a:lstStyle/>
          <a:p>
            <a:pPr indent="0" marL="0">
              <a:buNone/>
            </a:pPr>
            <a:r>
              <a:rPr lang="en-US" sz="1500" b="1" dirty="0">
                <a:solidFill>
                  <a:schemeClr val="tx1"/>
                </a:solidFill>
              </a:rPr>
              <a:t>Built for retries</a:t>
            </a:r>
            <a:endParaRPr lang="en-US" sz="1500" dirty="0"/>
          </a:p>
        </p:txBody>
      </p:sp>
      <p:sp>
        <p:nvSpPr>
          <p:cNvPr id="36" name="Text 34"/>
          <p:cNvSpPr txBox="1"/>
          <p:nvPr/>
        </p:nvSpPr>
        <p:spPr>
          <a:xfrm>
            <a:off x="7315200" y="5568696"/>
            <a:ext cx="4206240" cy="731520"/>
          </a:xfrm>
          <a:prstGeom prst="rect">
            <a:avLst/>
          </a:prstGeom>
          <a:noFill/>
          <a:ln/>
        </p:spPr>
        <p:txBody>
          <a:bodyPr wrap="square" lIns="0" tIns="0" rIns="0" bIns="0" rtlCol="0" anchor="t"/>
          <a:lstStyle/>
          <a:p>
            <a:pPr indent="0" marL="0">
              <a:buNone/>
            </a:pPr>
            <a:r>
              <a:rPr lang="en-US" sz="1200" dirty="0">
                <a:solidFill>
                  <a:schemeClr val="accent3"/>
                </a:solidFill>
              </a:rPr>
              <a:t>Up to 3 attempts per year with back-off; each raw JSON is cached on disk, and the −999 fill value becomes NaN.</a:t>
            </a:r>
            <a:endParaRPr lang="en-US" sz="1200" dirty="0"/>
          </a:p>
        </p:txBody>
      </p:sp>
      <p:sp>
        <p:nvSpPr>
          <p:cNvPr id="25" name="Slide Number Placeholder 0"/>
          <p:cNvSpPr>
            <a:spLocks noGrp="1"/>
          </p:cNvSpPr>
          <p:nvPr>
            <p:ph type="sldNum" sz="quarter" idx="4294967295"/>
          </p:nvPr>
        </p:nvSpPr>
        <p:spPr>
          <a:xfrm>
            <a:off x="11064240" y="6446520"/>
            <a:ext cx="66751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086"/>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548640" y="457200"/>
            <a:ext cx="10789920" cy="320040"/>
          </a:xfrm>
          <a:prstGeom prst="rect">
            <a:avLst/>
          </a:prstGeom>
          <a:noFill/>
          <a:ln/>
        </p:spPr>
        <p:txBody>
          <a:bodyPr wrap="square" lIns="0" tIns="0" rIns="0" bIns="0" rtlCol="0" anchor="ctr"/>
          <a:lstStyle/>
          <a:p>
            <a:pPr indent="0" marL="0">
              <a:buNone/>
            </a:pPr>
            <a:r>
              <a:rPr lang="en-US" sz="1300" b="1" spc="200" kern="0" dirty="0">
                <a:solidFill>
                  <a:schemeClr val="accent3"/>
                </a:solidFill>
              </a:rPr>
              <a:t>PART 1 · DATA COLLECTION</a:t>
            </a:r>
            <a:endParaRPr lang="en-US" sz="1300" dirty="0"/>
          </a:p>
        </p:txBody>
      </p:sp>
      <p:sp>
        <p:nvSpPr>
          <p:cNvPr id="3" name="Text 0"/>
          <p:cNvSpPr/>
          <p:nvPr>
            <p:ph idx="100" type="title" hasCustomPrompt="1"/>
          </p:nvPr>
        </p:nvSpPr>
        <p:spPr>
          <a:xfrm>
            <a:off x="548640" y="777240"/>
            <a:ext cx="11064240" cy="640080"/>
          </a:xfrm>
          <a:prstGeom prst="rect">
            <a:avLst/>
          </a:prstGeom>
          <a:noFill/>
          <a:ln/>
        </p:spPr>
        <p:txBody>
          <a:bodyPr wrap="square" lIns="0" tIns="0" rIns="0" bIns="0" rtlCol="0" anchor="ctr"/>
          <a:lstStyle/>
          <a:p>
            <a:pPr algn="l" indent="0" marL="0">
              <a:buNone/>
            </a:pPr>
            <a:r>
              <a:rPr lang="en-US" sz="2800" b="1" dirty="0">
                <a:solidFill>
                  <a:schemeClr val="tx1"/>
                </a:solidFill>
              </a:rPr>
              <a:t>Twenty parameters in six weather families</a:t>
            </a:r>
            <a:endParaRPr lang="en-US" sz="2800" dirty="0"/>
          </a:p>
        </p:txBody>
      </p:sp>
      <p:sp>
        <p:nvSpPr>
          <p:cNvPr id="4" name="Text 2"/>
          <p:cNvSpPr txBox="1"/>
          <p:nvPr/>
        </p:nvSpPr>
        <p:spPr>
          <a:xfrm>
            <a:off x="548640" y="1417320"/>
            <a:ext cx="11064240" cy="502920"/>
          </a:xfrm>
          <a:prstGeom prst="rect">
            <a:avLst/>
          </a:prstGeom>
          <a:noFill/>
          <a:ln/>
        </p:spPr>
        <p:txBody>
          <a:bodyPr wrap="square" lIns="0" tIns="0" rIns="0" bIns="0" rtlCol="0" anchor="t"/>
          <a:lstStyle/>
          <a:p>
            <a:pPr indent="0" marL="0">
              <a:buNone/>
            </a:pPr>
            <a:r>
              <a:rPr lang="en-US" sz="1400" dirty="0">
                <a:solidFill>
                  <a:schemeClr val="accent3"/>
                </a:solidFill>
              </a:rPr>
              <a:t>Temperature is the prediction target; everything else is a candidate predictor.</a:t>
            </a:r>
            <a:endParaRPr lang="en-US" sz="1400" dirty="0"/>
          </a:p>
        </p:txBody>
      </p:sp>
      <p:sp>
        <p:nvSpPr>
          <p:cNvPr id="5" name="Family card"/>
          <p:cNvSpPr/>
          <p:nvPr/>
        </p:nvSpPr>
        <p:spPr>
          <a:xfrm>
            <a:off x="457200" y="2103120"/>
            <a:ext cx="3575304" cy="1965960"/>
          </a:xfrm>
          <a:prstGeom prst="roundRect">
            <a:avLst>
              <a:gd name="adj" fmla="val 3721"/>
            </a:avLst>
          </a:prstGeom>
          <a:solidFill>
            <a:schemeClr val="tx2"/>
          </a:solidFill>
          <a:ln/>
        </p:spPr>
      </p:sp>
      <p:sp>
        <p:nvSpPr>
          <p:cNvPr id="6" name="Badge 5"/>
          <p:cNvSpPr/>
          <p:nvPr/>
        </p:nvSpPr>
        <p:spPr>
          <a:xfrm>
            <a:off x="731520" y="2377440"/>
            <a:ext cx="640080" cy="640080"/>
          </a:xfrm>
          <a:prstGeom prst="ellipse">
            <a:avLst/>
          </a:prstGeom>
          <a:solidFill>
            <a:schemeClr val="accent1"/>
          </a:solidFill>
          <a:ln/>
        </p:spPr>
      </p:sp>
      <p:sp>
        <p:nvSpPr>
          <p:cNvPr id="7" name="Text 5"/>
          <p:cNvSpPr txBox="1"/>
          <p:nvPr/>
        </p:nvSpPr>
        <p:spPr>
          <a:xfrm>
            <a:off x="731520" y="2377440"/>
            <a:ext cx="640080" cy="640080"/>
          </a:xfrm>
          <a:prstGeom prst="rect">
            <a:avLst/>
          </a:prstGeom>
          <a:noFill/>
          <a:ln/>
        </p:spPr>
        <p:txBody>
          <a:bodyPr wrap="square" lIns="0" tIns="0" rIns="0" bIns="0" rtlCol="0" anchor="ctr"/>
          <a:lstStyle/>
          <a:p>
            <a:pPr algn="ctr" indent="0" marL="0">
              <a:buNone/>
            </a:pPr>
            <a:r>
              <a:rPr lang="en-US" sz="2400" b="1" dirty="0">
                <a:solidFill>
                  <a:schemeClr val="tx2"/>
                </a:solidFill>
                <a:latin typeface="+mj-lt" pitchFamily="34" charset="0"/>
                <a:ea typeface="+mj-lt" pitchFamily="34" charset="-122"/>
                <a:cs typeface="+mj-lt" pitchFamily="34" charset="-120"/>
              </a:rPr>
              <a:t>5</a:t>
            </a:r>
            <a:endParaRPr lang="en-US" sz="2400" dirty="0"/>
          </a:p>
        </p:txBody>
      </p:sp>
      <p:sp>
        <p:nvSpPr>
          <p:cNvPr id="8" name="Text 6"/>
          <p:cNvSpPr txBox="1"/>
          <p:nvPr/>
        </p:nvSpPr>
        <p:spPr>
          <a:xfrm>
            <a:off x="1554480" y="2377440"/>
            <a:ext cx="2295144" cy="640080"/>
          </a:xfrm>
          <a:prstGeom prst="rect">
            <a:avLst/>
          </a:prstGeom>
          <a:noFill/>
          <a:ln/>
        </p:spPr>
        <p:txBody>
          <a:bodyPr wrap="square" lIns="0" tIns="0" rIns="0" bIns="0" rtlCol="0" anchor="ctr"/>
          <a:lstStyle/>
          <a:p>
            <a:pPr indent="0" marL="0">
              <a:buNone/>
            </a:pPr>
            <a:r>
              <a:rPr lang="en-US" sz="1800" b="1" dirty="0">
                <a:solidFill>
                  <a:schemeClr val="bg1"/>
                </a:solidFill>
              </a:rPr>
              <a:t>Temperature</a:t>
            </a:r>
            <a:endParaRPr lang="en-US" sz="1800" dirty="0"/>
          </a:p>
        </p:txBody>
      </p:sp>
      <p:sp>
        <p:nvSpPr>
          <p:cNvPr id="9" name="Text 7"/>
          <p:cNvSpPr txBox="1"/>
          <p:nvPr/>
        </p:nvSpPr>
        <p:spPr>
          <a:xfrm>
            <a:off x="731520" y="3154680"/>
            <a:ext cx="3026664" cy="822960"/>
          </a:xfrm>
          <a:prstGeom prst="rect">
            <a:avLst/>
          </a:prstGeom>
          <a:noFill/>
          <a:ln/>
        </p:spPr>
        <p:txBody>
          <a:bodyPr wrap="square" lIns="0" tIns="0" rIns="0" bIns="0" rtlCol="0" anchor="t"/>
          <a:lstStyle/>
          <a:p>
            <a:pPr indent="0" marL="0">
              <a:buNone/>
            </a:pPr>
            <a:r>
              <a:rPr lang="en-US" sz="1200" dirty="0">
                <a:solidFill>
                  <a:srgbClr val="C7CBE0"/>
                </a:solidFill>
              </a:rPr>
              <a:t>T2M (target) · T2M_MAX · T2M_MIN · dew point · wet bulb</a:t>
            </a:r>
            <a:endParaRPr lang="en-US" sz="1200" dirty="0"/>
          </a:p>
        </p:txBody>
      </p:sp>
      <p:sp>
        <p:nvSpPr>
          <p:cNvPr id="10" name="Family card"/>
          <p:cNvSpPr/>
          <p:nvPr/>
        </p:nvSpPr>
        <p:spPr>
          <a:xfrm>
            <a:off x="4306824" y="2103120"/>
            <a:ext cx="3575304" cy="1965960"/>
          </a:xfrm>
          <a:prstGeom prst="roundRect">
            <a:avLst>
              <a:gd name="adj" fmla="val 3721"/>
            </a:avLst>
          </a:prstGeom>
          <a:solidFill>
            <a:schemeClr val="bg2"/>
          </a:solidFill>
          <a:ln w="12700">
            <a:solidFill>
              <a:srgbClr val="E4E6F0"/>
            </a:solidFill>
            <a:prstDash val="solid"/>
          </a:ln>
        </p:spPr>
      </p:sp>
      <p:sp>
        <p:nvSpPr>
          <p:cNvPr id="11" name="Badge 2"/>
          <p:cNvSpPr/>
          <p:nvPr/>
        </p:nvSpPr>
        <p:spPr>
          <a:xfrm>
            <a:off x="4581144" y="2377440"/>
            <a:ext cx="640080" cy="640080"/>
          </a:xfrm>
          <a:prstGeom prst="ellipse">
            <a:avLst/>
          </a:prstGeom>
          <a:solidFill>
            <a:schemeClr val="tx2"/>
          </a:solidFill>
          <a:ln/>
        </p:spPr>
      </p:sp>
      <p:sp>
        <p:nvSpPr>
          <p:cNvPr id="12" name="Text 10"/>
          <p:cNvSpPr txBox="1"/>
          <p:nvPr/>
        </p:nvSpPr>
        <p:spPr>
          <a:xfrm>
            <a:off x="4581144" y="2377440"/>
            <a:ext cx="640080" cy="640080"/>
          </a:xfrm>
          <a:prstGeom prst="rect">
            <a:avLst/>
          </a:prstGeom>
          <a:noFill/>
          <a:ln/>
        </p:spPr>
        <p:txBody>
          <a:bodyPr wrap="square" lIns="0" tIns="0" rIns="0" bIns="0" rtlCol="0" anchor="ctr"/>
          <a:lstStyle/>
          <a:p>
            <a:pPr algn="ctr" indent="0" marL="0">
              <a:buNone/>
            </a:pPr>
            <a:r>
              <a:rPr lang="en-US" sz="2400" b="1" dirty="0">
                <a:solidFill>
                  <a:schemeClr val="accent1"/>
                </a:solidFill>
                <a:latin typeface="+mj-lt" pitchFamily="34" charset="0"/>
                <a:ea typeface="+mj-lt" pitchFamily="34" charset="-122"/>
                <a:cs typeface="+mj-lt" pitchFamily="34" charset="-120"/>
              </a:rPr>
              <a:t>2</a:t>
            </a:r>
            <a:endParaRPr lang="en-US" sz="2400" dirty="0"/>
          </a:p>
        </p:txBody>
      </p:sp>
      <p:sp>
        <p:nvSpPr>
          <p:cNvPr id="13" name="Text 11"/>
          <p:cNvSpPr txBox="1"/>
          <p:nvPr/>
        </p:nvSpPr>
        <p:spPr>
          <a:xfrm>
            <a:off x="5404104" y="2377440"/>
            <a:ext cx="2295144" cy="640080"/>
          </a:xfrm>
          <a:prstGeom prst="rect">
            <a:avLst/>
          </a:prstGeom>
          <a:noFill/>
          <a:ln/>
        </p:spPr>
        <p:txBody>
          <a:bodyPr wrap="square" lIns="0" tIns="0" rIns="0" bIns="0" rtlCol="0" anchor="ctr"/>
          <a:lstStyle/>
          <a:p>
            <a:pPr indent="0" marL="0">
              <a:buNone/>
            </a:pPr>
            <a:r>
              <a:rPr lang="en-US" sz="1800" b="1" dirty="0">
                <a:solidFill>
                  <a:schemeClr val="tx1"/>
                </a:solidFill>
              </a:rPr>
              <a:t>Humidity</a:t>
            </a:r>
            <a:endParaRPr lang="en-US" sz="1800" dirty="0"/>
          </a:p>
        </p:txBody>
      </p:sp>
      <p:sp>
        <p:nvSpPr>
          <p:cNvPr id="14" name="Text 12"/>
          <p:cNvSpPr txBox="1"/>
          <p:nvPr/>
        </p:nvSpPr>
        <p:spPr>
          <a:xfrm>
            <a:off x="4581144" y="3154680"/>
            <a:ext cx="3026664" cy="822960"/>
          </a:xfrm>
          <a:prstGeom prst="rect">
            <a:avLst/>
          </a:prstGeom>
          <a:noFill/>
          <a:ln/>
        </p:spPr>
        <p:txBody>
          <a:bodyPr wrap="square" lIns="0" tIns="0" rIns="0" bIns="0" rtlCol="0" anchor="t"/>
          <a:lstStyle/>
          <a:p>
            <a:pPr indent="0" marL="0">
              <a:buNone/>
            </a:pPr>
            <a:r>
              <a:rPr lang="en-US" sz="1200" dirty="0">
                <a:solidFill>
                  <a:schemeClr val="accent3"/>
                </a:solidFill>
              </a:rPr>
              <a:t>Relative humidity (RH2M) · specific humidity (QV2M)</a:t>
            </a:r>
            <a:endParaRPr lang="en-US" sz="1200" dirty="0"/>
          </a:p>
        </p:txBody>
      </p:sp>
      <p:sp>
        <p:nvSpPr>
          <p:cNvPr id="15" name="Family card"/>
          <p:cNvSpPr/>
          <p:nvPr/>
        </p:nvSpPr>
        <p:spPr>
          <a:xfrm>
            <a:off x="8156448" y="2103120"/>
            <a:ext cx="3575304" cy="1965960"/>
          </a:xfrm>
          <a:prstGeom prst="roundRect">
            <a:avLst>
              <a:gd name="adj" fmla="val 3721"/>
            </a:avLst>
          </a:prstGeom>
          <a:solidFill>
            <a:schemeClr val="bg2"/>
          </a:solidFill>
          <a:ln w="12700">
            <a:solidFill>
              <a:srgbClr val="E4E6F0"/>
            </a:solidFill>
            <a:prstDash val="solid"/>
          </a:ln>
        </p:spPr>
      </p:sp>
      <p:sp>
        <p:nvSpPr>
          <p:cNvPr id="16" name="Badge 1"/>
          <p:cNvSpPr/>
          <p:nvPr/>
        </p:nvSpPr>
        <p:spPr>
          <a:xfrm>
            <a:off x="8430768" y="2377440"/>
            <a:ext cx="640080" cy="640080"/>
          </a:xfrm>
          <a:prstGeom prst="ellipse">
            <a:avLst/>
          </a:prstGeom>
          <a:solidFill>
            <a:schemeClr val="tx2"/>
          </a:solidFill>
          <a:ln/>
        </p:spPr>
      </p:sp>
      <p:sp>
        <p:nvSpPr>
          <p:cNvPr id="17" name="Text 15"/>
          <p:cNvSpPr txBox="1"/>
          <p:nvPr/>
        </p:nvSpPr>
        <p:spPr>
          <a:xfrm>
            <a:off x="8430768" y="2377440"/>
            <a:ext cx="640080" cy="640080"/>
          </a:xfrm>
          <a:prstGeom prst="rect">
            <a:avLst/>
          </a:prstGeom>
          <a:noFill/>
          <a:ln/>
        </p:spPr>
        <p:txBody>
          <a:bodyPr wrap="square" lIns="0" tIns="0" rIns="0" bIns="0" rtlCol="0" anchor="ctr"/>
          <a:lstStyle/>
          <a:p>
            <a:pPr algn="ctr" indent="0" marL="0">
              <a:buNone/>
            </a:pPr>
            <a:r>
              <a:rPr lang="en-US" sz="2400" b="1" dirty="0">
                <a:solidFill>
                  <a:schemeClr val="accent1"/>
                </a:solidFill>
                <a:latin typeface="+mj-lt" pitchFamily="34" charset="0"/>
                <a:ea typeface="+mj-lt" pitchFamily="34" charset="-122"/>
                <a:cs typeface="+mj-lt" pitchFamily="34" charset="-120"/>
              </a:rPr>
              <a:t>1</a:t>
            </a:r>
            <a:endParaRPr lang="en-US" sz="2400" dirty="0"/>
          </a:p>
        </p:txBody>
      </p:sp>
      <p:sp>
        <p:nvSpPr>
          <p:cNvPr id="18" name="Text 16"/>
          <p:cNvSpPr txBox="1"/>
          <p:nvPr/>
        </p:nvSpPr>
        <p:spPr>
          <a:xfrm>
            <a:off x="9253728" y="2377440"/>
            <a:ext cx="2295144" cy="640080"/>
          </a:xfrm>
          <a:prstGeom prst="rect">
            <a:avLst/>
          </a:prstGeom>
          <a:noFill/>
          <a:ln/>
        </p:spPr>
        <p:txBody>
          <a:bodyPr wrap="square" lIns="0" tIns="0" rIns="0" bIns="0" rtlCol="0" anchor="ctr"/>
          <a:lstStyle/>
          <a:p>
            <a:pPr indent="0" marL="0">
              <a:buNone/>
            </a:pPr>
            <a:r>
              <a:rPr lang="en-US" sz="1800" b="1" dirty="0">
                <a:solidFill>
                  <a:schemeClr val="tx1"/>
                </a:solidFill>
              </a:rPr>
              <a:t>Precipitation</a:t>
            </a:r>
            <a:endParaRPr lang="en-US" sz="1800" dirty="0"/>
          </a:p>
        </p:txBody>
      </p:sp>
      <p:sp>
        <p:nvSpPr>
          <p:cNvPr id="19" name="Text 17"/>
          <p:cNvSpPr txBox="1"/>
          <p:nvPr/>
        </p:nvSpPr>
        <p:spPr>
          <a:xfrm>
            <a:off x="8430768" y="3154680"/>
            <a:ext cx="3026664" cy="822960"/>
          </a:xfrm>
          <a:prstGeom prst="rect">
            <a:avLst/>
          </a:prstGeom>
          <a:noFill/>
          <a:ln/>
        </p:spPr>
        <p:txBody>
          <a:bodyPr wrap="square" lIns="0" tIns="0" rIns="0" bIns="0" rtlCol="0" anchor="t"/>
          <a:lstStyle/>
          <a:p>
            <a:pPr indent="0" marL="0">
              <a:buNone/>
            </a:pPr>
            <a:r>
              <a:rPr lang="en-US" sz="1200" dirty="0">
                <a:solidFill>
                  <a:schemeClr val="accent3"/>
                </a:solidFill>
              </a:rPr>
              <a:t>Bias-corrected precipitation (PRECTOTCORR, mm/day)</a:t>
            </a:r>
            <a:endParaRPr lang="en-US" sz="1200" dirty="0"/>
          </a:p>
        </p:txBody>
      </p:sp>
      <p:sp>
        <p:nvSpPr>
          <p:cNvPr id="20" name="Family card"/>
          <p:cNvSpPr/>
          <p:nvPr/>
        </p:nvSpPr>
        <p:spPr>
          <a:xfrm>
            <a:off x="457200" y="4297680"/>
            <a:ext cx="3575304" cy="1965960"/>
          </a:xfrm>
          <a:prstGeom prst="roundRect">
            <a:avLst>
              <a:gd name="adj" fmla="val 3721"/>
            </a:avLst>
          </a:prstGeom>
          <a:solidFill>
            <a:schemeClr val="bg2"/>
          </a:solidFill>
          <a:ln w="12700">
            <a:solidFill>
              <a:srgbClr val="E4E6F0"/>
            </a:solidFill>
            <a:prstDash val="solid"/>
          </a:ln>
        </p:spPr>
      </p:sp>
      <p:sp>
        <p:nvSpPr>
          <p:cNvPr id="21" name="Badge 8"/>
          <p:cNvSpPr/>
          <p:nvPr/>
        </p:nvSpPr>
        <p:spPr>
          <a:xfrm>
            <a:off x="731520" y="4572000"/>
            <a:ext cx="640080" cy="640080"/>
          </a:xfrm>
          <a:prstGeom prst="ellipse">
            <a:avLst/>
          </a:prstGeom>
          <a:solidFill>
            <a:schemeClr val="tx2"/>
          </a:solidFill>
          <a:ln/>
        </p:spPr>
      </p:sp>
      <p:sp>
        <p:nvSpPr>
          <p:cNvPr id="22" name="Text 20"/>
          <p:cNvSpPr txBox="1"/>
          <p:nvPr/>
        </p:nvSpPr>
        <p:spPr>
          <a:xfrm>
            <a:off x="731520" y="4572000"/>
            <a:ext cx="640080" cy="640080"/>
          </a:xfrm>
          <a:prstGeom prst="rect">
            <a:avLst/>
          </a:prstGeom>
          <a:noFill/>
          <a:ln/>
        </p:spPr>
        <p:txBody>
          <a:bodyPr wrap="square" lIns="0" tIns="0" rIns="0" bIns="0" rtlCol="0" anchor="ctr"/>
          <a:lstStyle/>
          <a:p>
            <a:pPr algn="ctr" indent="0" marL="0">
              <a:buNone/>
            </a:pPr>
            <a:r>
              <a:rPr lang="en-US" sz="2400" b="1" dirty="0">
                <a:solidFill>
                  <a:schemeClr val="accent1"/>
                </a:solidFill>
                <a:latin typeface="+mj-lt" pitchFamily="34" charset="0"/>
                <a:ea typeface="+mj-lt" pitchFamily="34" charset="-122"/>
                <a:cs typeface="+mj-lt" pitchFamily="34" charset="-120"/>
              </a:rPr>
              <a:t>8</a:t>
            </a:r>
            <a:endParaRPr lang="en-US" sz="2400" dirty="0"/>
          </a:p>
        </p:txBody>
      </p:sp>
      <p:sp>
        <p:nvSpPr>
          <p:cNvPr id="23" name="Text 21"/>
          <p:cNvSpPr txBox="1"/>
          <p:nvPr/>
        </p:nvSpPr>
        <p:spPr>
          <a:xfrm>
            <a:off x="1554480" y="4572000"/>
            <a:ext cx="2295144" cy="640080"/>
          </a:xfrm>
          <a:prstGeom prst="rect">
            <a:avLst/>
          </a:prstGeom>
          <a:noFill/>
          <a:ln/>
        </p:spPr>
        <p:txBody>
          <a:bodyPr wrap="square" lIns="0" tIns="0" rIns="0" bIns="0" rtlCol="0" anchor="ctr"/>
          <a:lstStyle/>
          <a:p>
            <a:pPr indent="0" marL="0">
              <a:buNone/>
            </a:pPr>
            <a:r>
              <a:rPr lang="en-US" sz="1800" b="1" dirty="0">
                <a:solidFill>
                  <a:schemeClr val="tx1"/>
                </a:solidFill>
              </a:rPr>
              <a:t>Wind</a:t>
            </a:r>
            <a:endParaRPr lang="en-US" sz="1800" dirty="0"/>
          </a:p>
        </p:txBody>
      </p:sp>
      <p:sp>
        <p:nvSpPr>
          <p:cNvPr id="24" name="Text 22"/>
          <p:cNvSpPr txBox="1"/>
          <p:nvPr/>
        </p:nvSpPr>
        <p:spPr>
          <a:xfrm>
            <a:off x="731520" y="5349240"/>
            <a:ext cx="3026664" cy="822960"/>
          </a:xfrm>
          <a:prstGeom prst="rect">
            <a:avLst/>
          </a:prstGeom>
          <a:noFill/>
          <a:ln/>
        </p:spPr>
        <p:txBody>
          <a:bodyPr wrap="square" lIns="0" tIns="0" rIns="0" bIns="0" rtlCol="0" anchor="t"/>
          <a:lstStyle/>
          <a:p>
            <a:pPr indent="0" marL="0">
              <a:buNone/>
            </a:pPr>
            <a:r>
              <a:rPr lang="en-US" sz="1200" dirty="0">
                <a:solidFill>
                  <a:schemeClr val="accent3"/>
                </a:solidFill>
              </a:rPr>
              <a:t>Speed average / max / min and direction, at 10 m and at 50 m</a:t>
            </a:r>
            <a:endParaRPr lang="en-US" sz="1200" dirty="0"/>
          </a:p>
        </p:txBody>
      </p:sp>
      <p:sp>
        <p:nvSpPr>
          <p:cNvPr id="25" name="Family card"/>
          <p:cNvSpPr/>
          <p:nvPr/>
        </p:nvSpPr>
        <p:spPr>
          <a:xfrm>
            <a:off x="4306824" y="4297680"/>
            <a:ext cx="3575304" cy="1965960"/>
          </a:xfrm>
          <a:prstGeom prst="roundRect">
            <a:avLst>
              <a:gd name="adj" fmla="val 3721"/>
            </a:avLst>
          </a:prstGeom>
          <a:solidFill>
            <a:schemeClr val="bg2"/>
          </a:solidFill>
          <a:ln w="12700">
            <a:solidFill>
              <a:srgbClr val="E4E6F0"/>
            </a:solidFill>
            <a:prstDash val="solid"/>
          </a:ln>
        </p:spPr>
      </p:sp>
      <p:sp>
        <p:nvSpPr>
          <p:cNvPr id="26" name="Badge 1"/>
          <p:cNvSpPr/>
          <p:nvPr/>
        </p:nvSpPr>
        <p:spPr>
          <a:xfrm>
            <a:off x="4581144" y="4572000"/>
            <a:ext cx="640080" cy="640080"/>
          </a:xfrm>
          <a:prstGeom prst="ellipse">
            <a:avLst/>
          </a:prstGeom>
          <a:solidFill>
            <a:schemeClr val="tx2"/>
          </a:solidFill>
          <a:ln/>
        </p:spPr>
      </p:sp>
      <p:sp>
        <p:nvSpPr>
          <p:cNvPr id="27" name="Text 25"/>
          <p:cNvSpPr txBox="1"/>
          <p:nvPr/>
        </p:nvSpPr>
        <p:spPr>
          <a:xfrm>
            <a:off x="4581144" y="4572000"/>
            <a:ext cx="640080" cy="640080"/>
          </a:xfrm>
          <a:prstGeom prst="rect">
            <a:avLst/>
          </a:prstGeom>
          <a:noFill/>
          <a:ln/>
        </p:spPr>
        <p:txBody>
          <a:bodyPr wrap="square" lIns="0" tIns="0" rIns="0" bIns="0" rtlCol="0" anchor="ctr"/>
          <a:lstStyle/>
          <a:p>
            <a:pPr algn="ctr" indent="0" marL="0">
              <a:buNone/>
            </a:pPr>
            <a:r>
              <a:rPr lang="en-US" sz="2400" b="1" dirty="0">
                <a:solidFill>
                  <a:schemeClr val="accent1"/>
                </a:solidFill>
                <a:latin typeface="+mj-lt" pitchFamily="34" charset="0"/>
                <a:ea typeface="+mj-lt" pitchFamily="34" charset="-122"/>
                <a:cs typeface="+mj-lt" pitchFamily="34" charset="-120"/>
              </a:rPr>
              <a:t>1</a:t>
            </a:r>
            <a:endParaRPr lang="en-US" sz="2400" dirty="0"/>
          </a:p>
        </p:txBody>
      </p:sp>
      <p:sp>
        <p:nvSpPr>
          <p:cNvPr id="28" name="Text 26"/>
          <p:cNvSpPr txBox="1"/>
          <p:nvPr/>
        </p:nvSpPr>
        <p:spPr>
          <a:xfrm>
            <a:off x="5404104" y="4572000"/>
            <a:ext cx="2295144" cy="640080"/>
          </a:xfrm>
          <a:prstGeom prst="rect">
            <a:avLst/>
          </a:prstGeom>
          <a:noFill/>
          <a:ln/>
        </p:spPr>
        <p:txBody>
          <a:bodyPr wrap="square" lIns="0" tIns="0" rIns="0" bIns="0" rtlCol="0" anchor="ctr"/>
          <a:lstStyle/>
          <a:p>
            <a:pPr indent="0" marL="0">
              <a:buNone/>
            </a:pPr>
            <a:r>
              <a:rPr lang="en-US" sz="1800" b="1" dirty="0">
                <a:solidFill>
                  <a:schemeClr val="tx1"/>
                </a:solidFill>
              </a:rPr>
              <a:t>Pressure</a:t>
            </a:r>
            <a:endParaRPr lang="en-US" sz="1800" dirty="0"/>
          </a:p>
        </p:txBody>
      </p:sp>
      <p:sp>
        <p:nvSpPr>
          <p:cNvPr id="29" name="Text 27"/>
          <p:cNvSpPr txBox="1"/>
          <p:nvPr/>
        </p:nvSpPr>
        <p:spPr>
          <a:xfrm>
            <a:off x="4581144" y="5349240"/>
            <a:ext cx="3026664" cy="822960"/>
          </a:xfrm>
          <a:prstGeom prst="rect">
            <a:avLst/>
          </a:prstGeom>
          <a:noFill/>
          <a:ln/>
        </p:spPr>
        <p:txBody>
          <a:bodyPr wrap="square" lIns="0" tIns="0" rIns="0" bIns="0" rtlCol="0" anchor="t"/>
          <a:lstStyle/>
          <a:p>
            <a:pPr indent="0" marL="0">
              <a:buNone/>
            </a:pPr>
            <a:r>
              <a:rPr lang="en-US" sz="1200" dirty="0">
                <a:solidFill>
                  <a:schemeClr val="accent3"/>
                </a:solidFill>
              </a:rPr>
              <a:t>Surface pressure (PS, kPa)</a:t>
            </a:r>
            <a:endParaRPr lang="en-US" sz="1200" dirty="0"/>
          </a:p>
        </p:txBody>
      </p:sp>
      <p:sp>
        <p:nvSpPr>
          <p:cNvPr id="30" name="Family card"/>
          <p:cNvSpPr/>
          <p:nvPr/>
        </p:nvSpPr>
        <p:spPr>
          <a:xfrm>
            <a:off x="8156448" y="4297680"/>
            <a:ext cx="3575304" cy="1965960"/>
          </a:xfrm>
          <a:prstGeom prst="roundRect">
            <a:avLst>
              <a:gd name="adj" fmla="val 3721"/>
            </a:avLst>
          </a:prstGeom>
          <a:solidFill>
            <a:schemeClr val="bg2"/>
          </a:solidFill>
          <a:ln w="12700">
            <a:solidFill>
              <a:srgbClr val="E4E6F0"/>
            </a:solidFill>
            <a:prstDash val="solid"/>
          </a:ln>
        </p:spPr>
      </p:sp>
      <p:sp>
        <p:nvSpPr>
          <p:cNvPr id="31" name="Badge 3"/>
          <p:cNvSpPr/>
          <p:nvPr/>
        </p:nvSpPr>
        <p:spPr>
          <a:xfrm>
            <a:off x="8430768" y="4572000"/>
            <a:ext cx="640080" cy="640080"/>
          </a:xfrm>
          <a:prstGeom prst="ellipse">
            <a:avLst/>
          </a:prstGeom>
          <a:solidFill>
            <a:schemeClr val="tx2"/>
          </a:solidFill>
          <a:ln/>
        </p:spPr>
      </p:sp>
      <p:sp>
        <p:nvSpPr>
          <p:cNvPr id="32" name="Text 30"/>
          <p:cNvSpPr txBox="1"/>
          <p:nvPr/>
        </p:nvSpPr>
        <p:spPr>
          <a:xfrm>
            <a:off x="8430768" y="4572000"/>
            <a:ext cx="640080" cy="640080"/>
          </a:xfrm>
          <a:prstGeom prst="rect">
            <a:avLst/>
          </a:prstGeom>
          <a:noFill/>
          <a:ln/>
        </p:spPr>
        <p:txBody>
          <a:bodyPr wrap="square" lIns="0" tIns="0" rIns="0" bIns="0" rtlCol="0" anchor="ctr"/>
          <a:lstStyle/>
          <a:p>
            <a:pPr algn="ctr" indent="0" marL="0">
              <a:buNone/>
            </a:pPr>
            <a:r>
              <a:rPr lang="en-US" sz="2400" b="1" dirty="0">
                <a:solidFill>
                  <a:schemeClr val="accent1"/>
                </a:solidFill>
                <a:latin typeface="+mj-lt" pitchFamily="34" charset="0"/>
                <a:ea typeface="+mj-lt" pitchFamily="34" charset="-122"/>
                <a:cs typeface="+mj-lt" pitchFamily="34" charset="-120"/>
              </a:rPr>
              <a:t>3</a:t>
            </a:r>
            <a:endParaRPr lang="en-US" sz="2400" dirty="0"/>
          </a:p>
        </p:txBody>
      </p:sp>
      <p:sp>
        <p:nvSpPr>
          <p:cNvPr id="33" name="Text 31"/>
          <p:cNvSpPr txBox="1"/>
          <p:nvPr/>
        </p:nvSpPr>
        <p:spPr>
          <a:xfrm>
            <a:off x="9253728" y="4572000"/>
            <a:ext cx="2295144" cy="640080"/>
          </a:xfrm>
          <a:prstGeom prst="rect">
            <a:avLst/>
          </a:prstGeom>
          <a:noFill/>
          <a:ln/>
        </p:spPr>
        <p:txBody>
          <a:bodyPr wrap="square" lIns="0" tIns="0" rIns="0" bIns="0" rtlCol="0" anchor="ctr"/>
          <a:lstStyle/>
          <a:p>
            <a:pPr indent="0" marL="0">
              <a:buNone/>
            </a:pPr>
            <a:r>
              <a:rPr lang="en-US" sz="1800" b="1" dirty="0">
                <a:solidFill>
                  <a:schemeClr val="tx1"/>
                </a:solidFill>
              </a:rPr>
              <a:t>Radiation</a:t>
            </a:r>
            <a:endParaRPr lang="en-US" sz="1800" dirty="0"/>
          </a:p>
        </p:txBody>
      </p:sp>
      <p:sp>
        <p:nvSpPr>
          <p:cNvPr id="34" name="Text 32"/>
          <p:cNvSpPr txBox="1"/>
          <p:nvPr/>
        </p:nvSpPr>
        <p:spPr>
          <a:xfrm>
            <a:off x="8430768" y="5349240"/>
            <a:ext cx="3026664" cy="822960"/>
          </a:xfrm>
          <a:prstGeom prst="rect">
            <a:avLst/>
          </a:prstGeom>
          <a:noFill/>
          <a:ln/>
        </p:spPr>
        <p:txBody>
          <a:bodyPr wrap="square" lIns="0" tIns="0" rIns="0" bIns="0" rtlCol="0" anchor="t"/>
          <a:lstStyle/>
          <a:p>
            <a:pPr indent="0" marL="0">
              <a:buNone/>
            </a:pPr>
            <a:r>
              <a:rPr lang="en-US" sz="1200" dirty="0">
                <a:solidFill>
                  <a:schemeClr val="accent3"/>
                </a:solidFill>
              </a:rPr>
              <a:t>All-sky shortwave · all-sky longwave · clear-sky shortwave (MJ/m²/day)</a:t>
            </a:r>
            <a:endParaRPr lang="en-US" sz="1200" dirty="0"/>
          </a:p>
        </p:txBody>
      </p:sp>
      <p:sp>
        <p:nvSpPr>
          <p:cNvPr id="25" name="Slide Number Placeholder 0"/>
          <p:cNvSpPr>
            <a:spLocks noGrp="1"/>
          </p:cNvSpPr>
          <p:nvPr>
            <p:ph type="sldNum" sz="quarter" idx="4294967295"/>
          </p:nvPr>
        </p:nvSpPr>
        <p:spPr>
          <a:xfrm>
            <a:off x="11064240" y="6446520"/>
            <a:ext cx="66751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086"/>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548640" y="457200"/>
            <a:ext cx="10789920" cy="320040"/>
          </a:xfrm>
          <a:prstGeom prst="rect">
            <a:avLst/>
          </a:prstGeom>
          <a:noFill/>
          <a:ln/>
        </p:spPr>
        <p:txBody>
          <a:bodyPr wrap="square" lIns="0" tIns="0" rIns="0" bIns="0" rtlCol="0" anchor="ctr"/>
          <a:lstStyle/>
          <a:p>
            <a:pPr indent="0" marL="0">
              <a:buNone/>
            </a:pPr>
            <a:r>
              <a:rPr lang="en-US" sz="1300" b="1" spc="200" kern="0" dirty="0">
                <a:solidFill>
                  <a:schemeClr val="accent3"/>
                </a:solidFill>
              </a:rPr>
              <a:t>PART 1 · DATA COLLECTION</a:t>
            </a:r>
            <a:endParaRPr lang="en-US" sz="1300" dirty="0"/>
          </a:p>
        </p:txBody>
      </p:sp>
      <p:sp>
        <p:nvSpPr>
          <p:cNvPr id="3" name="Text 0"/>
          <p:cNvSpPr/>
          <p:nvPr>
            <p:ph idx="100" type="title" hasCustomPrompt="1"/>
          </p:nvPr>
        </p:nvSpPr>
        <p:spPr>
          <a:xfrm>
            <a:off x="548640" y="777240"/>
            <a:ext cx="11064240" cy="640080"/>
          </a:xfrm>
          <a:prstGeom prst="rect">
            <a:avLst/>
          </a:prstGeom>
          <a:noFill/>
          <a:ln/>
        </p:spPr>
        <p:txBody>
          <a:bodyPr wrap="square" lIns="0" tIns="0" rIns="0" bIns="0" rtlCol="0" anchor="ctr"/>
          <a:lstStyle/>
          <a:p>
            <a:pPr algn="l" indent="0" marL="0">
              <a:buNone/>
            </a:pPr>
            <a:r>
              <a:rPr lang="en-US" sz="2800" b="1" dirty="0">
                <a:solidFill>
                  <a:schemeClr val="tx1"/>
                </a:solidFill>
              </a:rPr>
              <a:t>From raw JSON to a 1,055-row table</a:t>
            </a:r>
            <a:endParaRPr lang="en-US" sz="2800" dirty="0"/>
          </a:p>
        </p:txBody>
      </p:sp>
      <p:sp>
        <p:nvSpPr>
          <p:cNvPr id="4" name="Text 2"/>
          <p:cNvSpPr txBox="1"/>
          <p:nvPr/>
        </p:nvSpPr>
        <p:spPr>
          <a:xfrm>
            <a:off x="548640" y="1417320"/>
            <a:ext cx="11064240" cy="502920"/>
          </a:xfrm>
          <a:prstGeom prst="rect">
            <a:avLst/>
          </a:prstGeom>
          <a:noFill/>
          <a:ln/>
        </p:spPr>
        <p:txBody>
          <a:bodyPr wrap="square" lIns="0" tIns="0" rIns="0" bIns="0" rtlCol="0" anchor="t"/>
          <a:lstStyle/>
          <a:p>
            <a:pPr indent="0" marL="0">
              <a:buNone/>
            </a:pPr>
            <a:r>
              <a:rPr lang="en-US" sz="1400" dirty="0">
                <a:solidFill>
                  <a:schemeClr val="accent3"/>
                </a:solidFill>
              </a:rPr>
              <a:t>Five steps turn the API responses into the single CSV used by the whole analysis.</a:t>
            </a:r>
            <a:endParaRPr lang="en-US" sz="1400" dirty="0"/>
          </a:p>
        </p:txBody>
      </p:sp>
      <p:sp>
        <p:nvSpPr>
          <p:cNvPr id="5" name="Step card"/>
          <p:cNvSpPr/>
          <p:nvPr/>
        </p:nvSpPr>
        <p:spPr>
          <a:xfrm>
            <a:off x="457200" y="2148840"/>
            <a:ext cx="2035454" cy="2834640"/>
          </a:xfrm>
          <a:prstGeom prst="roundRect">
            <a:avLst>
              <a:gd name="adj" fmla="val 3594"/>
            </a:avLst>
          </a:prstGeom>
          <a:solidFill>
            <a:schemeClr val="bg2"/>
          </a:solidFill>
          <a:ln w="12700">
            <a:solidFill>
              <a:srgbClr val="E4E6F0"/>
            </a:solidFill>
            <a:prstDash val="solid"/>
          </a:ln>
        </p:spPr>
      </p:sp>
      <p:sp>
        <p:nvSpPr>
          <p:cNvPr id="6" name="Badge 1"/>
          <p:cNvSpPr/>
          <p:nvPr/>
        </p:nvSpPr>
        <p:spPr>
          <a:xfrm>
            <a:off x="685800" y="2377440"/>
            <a:ext cx="502920" cy="502920"/>
          </a:xfrm>
          <a:prstGeom prst="ellipse">
            <a:avLst/>
          </a:prstGeom>
          <a:solidFill>
            <a:schemeClr val="tx2"/>
          </a:solidFill>
          <a:ln/>
        </p:spPr>
      </p:sp>
      <p:sp>
        <p:nvSpPr>
          <p:cNvPr id="7" name="Text 5"/>
          <p:cNvSpPr txBox="1"/>
          <p:nvPr/>
        </p:nvSpPr>
        <p:spPr>
          <a:xfrm>
            <a:off x="685800" y="2377440"/>
            <a:ext cx="502920" cy="502920"/>
          </a:xfrm>
          <a:prstGeom prst="rect">
            <a:avLst/>
          </a:prstGeom>
          <a:noFill/>
          <a:ln/>
        </p:spPr>
        <p:txBody>
          <a:bodyPr wrap="square" lIns="0" tIns="0" rIns="0" bIns="0" rtlCol="0" anchor="ctr"/>
          <a:lstStyle/>
          <a:p>
            <a:pPr algn="ctr" indent="0" marL="0">
              <a:buNone/>
            </a:pPr>
            <a:r>
              <a:rPr lang="en-US" sz="1900" b="1" dirty="0">
                <a:solidFill>
                  <a:schemeClr val="accent1"/>
                </a:solidFill>
                <a:latin typeface="+mj-lt" pitchFamily="34" charset="0"/>
                <a:ea typeface="+mj-lt" pitchFamily="34" charset="-122"/>
                <a:cs typeface="+mj-lt" pitchFamily="34" charset="-120"/>
              </a:rPr>
              <a:t>1</a:t>
            </a:r>
            <a:endParaRPr lang="en-US" sz="1900" dirty="0"/>
          </a:p>
        </p:txBody>
      </p:sp>
      <p:sp>
        <p:nvSpPr>
          <p:cNvPr id="8" name="Text 6"/>
          <p:cNvSpPr txBox="1"/>
          <p:nvPr/>
        </p:nvSpPr>
        <p:spPr>
          <a:xfrm>
            <a:off x="685800" y="3063240"/>
            <a:ext cx="1623974" cy="594360"/>
          </a:xfrm>
          <a:prstGeom prst="rect">
            <a:avLst/>
          </a:prstGeom>
          <a:noFill/>
          <a:ln/>
        </p:spPr>
        <p:txBody>
          <a:bodyPr wrap="square" lIns="0" tIns="0" rIns="0" bIns="0" rtlCol="0" anchor="t"/>
          <a:lstStyle/>
          <a:p>
            <a:pPr indent="0" marL="0">
              <a:buNone/>
            </a:pPr>
            <a:r>
              <a:rPr lang="en-US" sz="1500" b="1" dirty="0">
                <a:solidFill>
                  <a:schemeClr val="tx1"/>
                </a:solidFill>
              </a:rPr>
              <a:t>Download</a:t>
            </a:r>
            <a:endParaRPr lang="en-US" sz="1500" dirty="0"/>
          </a:p>
        </p:txBody>
      </p:sp>
      <p:sp>
        <p:nvSpPr>
          <p:cNvPr id="9" name="Text 7"/>
          <p:cNvSpPr txBox="1"/>
          <p:nvPr/>
        </p:nvSpPr>
        <p:spPr>
          <a:xfrm>
            <a:off x="685800" y="3703320"/>
            <a:ext cx="1623974" cy="1188720"/>
          </a:xfrm>
          <a:prstGeom prst="rect">
            <a:avLst/>
          </a:prstGeom>
          <a:noFill/>
          <a:ln/>
        </p:spPr>
        <p:txBody>
          <a:bodyPr wrap="square" lIns="0" tIns="0" rIns="0" bIns="0" rtlCol="0" anchor="t"/>
          <a:lstStyle/>
          <a:p>
            <a:pPr indent="0" marL="0">
              <a:buNone/>
            </a:pPr>
            <a:r>
              <a:rPr lang="en-US" sz="1300" dirty="0">
                <a:solidFill>
                  <a:schemeClr val="accent3"/>
                </a:solidFill>
              </a:rPr>
              <a:t>6 yearly JSON files (2021 – 2026), cached on disk.</a:t>
            </a:r>
            <a:endParaRPr lang="en-US" sz="1300" dirty="0"/>
          </a:p>
        </p:txBody>
      </p:sp>
      <p:sp>
        <p:nvSpPr>
          <p:cNvPr id="10" name="Arrow"/>
          <p:cNvSpPr/>
          <p:nvPr/>
        </p:nvSpPr>
        <p:spPr>
          <a:xfrm>
            <a:off x="2520086" y="3383280"/>
            <a:ext cx="219456" cy="274320"/>
          </a:xfrm>
          <a:prstGeom prst="rightArrow">
            <a:avLst/>
          </a:prstGeom>
          <a:solidFill>
            <a:schemeClr val="accent3"/>
          </a:solidFill>
          <a:ln/>
        </p:spPr>
      </p:sp>
      <p:sp>
        <p:nvSpPr>
          <p:cNvPr id="11" name="Step card"/>
          <p:cNvSpPr/>
          <p:nvPr/>
        </p:nvSpPr>
        <p:spPr>
          <a:xfrm>
            <a:off x="2766974" y="2148840"/>
            <a:ext cx="2035454" cy="2834640"/>
          </a:xfrm>
          <a:prstGeom prst="roundRect">
            <a:avLst>
              <a:gd name="adj" fmla="val 3594"/>
            </a:avLst>
          </a:prstGeom>
          <a:solidFill>
            <a:schemeClr val="bg2"/>
          </a:solidFill>
          <a:ln w="12700">
            <a:solidFill>
              <a:srgbClr val="E4E6F0"/>
            </a:solidFill>
            <a:prstDash val="solid"/>
          </a:ln>
        </p:spPr>
      </p:sp>
      <p:sp>
        <p:nvSpPr>
          <p:cNvPr id="12" name="Badge 2"/>
          <p:cNvSpPr/>
          <p:nvPr/>
        </p:nvSpPr>
        <p:spPr>
          <a:xfrm>
            <a:off x="2995574" y="2377440"/>
            <a:ext cx="502920" cy="502920"/>
          </a:xfrm>
          <a:prstGeom prst="ellipse">
            <a:avLst/>
          </a:prstGeom>
          <a:solidFill>
            <a:schemeClr val="tx2"/>
          </a:solidFill>
          <a:ln/>
        </p:spPr>
      </p:sp>
      <p:sp>
        <p:nvSpPr>
          <p:cNvPr id="13" name="Text 11"/>
          <p:cNvSpPr txBox="1"/>
          <p:nvPr/>
        </p:nvSpPr>
        <p:spPr>
          <a:xfrm>
            <a:off x="2995574" y="2377440"/>
            <a:ext cx="502920" cy="502920"/>
          </a:xfrm>
          <a:prstGeom prst="rect">
            <a:avLst/>
          </a:prstGeom>
          <a:noFill/>
          <a:ln/>
        </p:spPr>
        <p:txBody>
          <a:bodyPr wrap="square" lIns="0" tIns="0" rIns="0" bIns="0" rtlCol="0" anchor="ctr"/>
          <a:lstStyle/>
          <a:p>
            <a:pPr algn="ctr" indent="0" marL="0">
              <a:buNone/>
            </a:pPr>
            <a:r>
              <a:rPr lang="en-US" sz="1900" b="1" dirty="0">
                <a:solidFill>
                  <a:schemeClr val="accent1"/>
                </a:solidFill>
                <a:latin typeface="+mj-lt" pitchFamily="34" charset="0"/>
                <a:ea typeface="+mj-lt" pitchFamily="34" charset="-122"/>
                <a:cs typeface="+mj-lt" pitchFamily="34" charset="-120"/>
              </a:rPr>
              <a:t>2</a:t>
            </a:r>
            <a:endParaRPr lang="en-US" sz="1900" dirty="0"/>
          </a:p>
        </p:txBody>
      </p:sp>
      <p:sp>
        <p:nvSpPr>
          <p:cNvPr id="14" name="Text 12"/>
          <p:cNvSpPr txBox="1"/>
          <p:nvPr/>
        </p:nvSpPr>
        <p:spPr>
          <a:xfrm>
            <a:off x="2995574" y="3063240"/>
            <a:ext cx="1623974" cy="594360"/>
          </a:xfrm>
          <a:prstGeom prst="rect">
            <a:avLst/>
          </a:prstGeom>
          <a:noFill/>
          <a:ln/>
        </p:spPr>
        <p:txBody>
          <a:bodyPr wrap="square" lIns="0" tIns="0" rIns="0" bIns="0" rtlCol="0" anchor="t"/>
          <a:lstStyle/>
          <a:p>
            <a:pPr indent="0" marL="0">
              <a:buNone/>
            </a:pPr>
            <a:r>
              <a:rPr lang="en-US" sz="1500" b="1" dirty="0">
                <a:solidFill>
                  <a:schemeClr val="tx1"/>
                </a:solidFill>
              </a:rPr>
              <a:t>Clean fill values</a:t>
            </a:r>
            <a:endParaRPr lang="en-US" sz="1500" dirty="0"/>
          </a:p>
        </p:txBody>
      </p:sp>
      <p:sp>
        <p:nvSpPr>
          <p:cNvPr id="15" name="Text 13"/>
          <p:cNvSpPr txBox="1"/>
          <p:nvPr/>
        </p:nvSpPr>
        <p:spPr>
          <a:xfrm>
            <a:off x="2995574" y="3703320"/>
            <a:ext cx="1623974" cy="1188720"/>
          </a:xfrm>
          <a:prstGeom prst="rect">
            <a:avLst/>
          </a:prstGeom>
          <a:noFill/>
          <a:ln/>
        </p:spPr>
        <p:txBody>
          <a:bodyPr wrap="square" lIns="0" tIns="0" rIns="0" bIns="0" rtlCol="0" anchor="t"/>
          <a:lstStyle/>
          <a:p>
            <a:pPr indent="0" marL="0">
              <a:buNone/>
            </a:pPr>
            <a:r>
              <a:rPr lang="en-US" sz="1300" dirty="0">
                <a:solidFill>
                  <a:schemeClr val="accent3"/>
                </a:solidFill>
              </a:rPr>
              <a:t>NASA's −999 fill value becomes NaN so it is never read as weather.</a:t>
            </a:r>
            <a:endParaRPr lang="en-US" sz="1300" dirty="0"/>
          </a:p>
        </p:txBody>
      </p:sp>
      <p:sp>
        <p:nvSpPr>
          <p:cNvPr id="16" name="Arrow"/>
          <p:cNvSpPr/>
          <p:nvPr/>
        </p:nvSpPr>
        <p:spPr>
          <a:xfrm>
            <a:off x="4829861" y="3383280"/>
            <a:ext cx="219456" cy="274320"/>
          </a:xfrm>
          <a:prstGeom prst="rightArrow">
            <a:avLst/>
          </a:prstGeom>
          <a:solidFill>
            <a:schemeClr val="accent3"/>
          </a:solidFill>
          <a:ln/>
        </p:spPr>
      </p:sp>
      <p:sp>
        <p:nvSpPr>
          <p:cNvPr id="17" name="Step card"/>
          <p:cNvSpPr/>
          <p:nvPr/>
        </p:nvSpPr>
        <p:spPr>
          <a:xfrm>
            <a:off x="5076749" y="2148840"/>
            <a:ext cx="2035454" cy="2834640"/>
          </a:xfrm>
          <a:prstGeom prst="roundRect">
            <a:avLst>
              <a:gd name="adj" fmla="val 3594"/>
            </a:avLst>
          </a:prstGeom>
          <a:solidFill>
            <a:schemeClr val="bg2"/>
          </a:solidFill>
          <a:ln w="12700">
            <a:solidFill>
              <a:srgbClr val="E4E6F0"/>
            </a:solidFill>
            <a:prstDash val="solid"/>
          </a:ln>
        </p:spPr>
      </p:sp>
      <p:sp>
        <p:nvSpPr>
          <p:cNvPr id="18" name="Badge 3"/>
          <p:cNvSpPr/>
          <p:nvPr/>
        </p:nvSpPr>
        <p:spPr>
          <a:xfrm>
            <a:off x="5305349" y="2377440"/>
            <a:ext cx="502920" cy="502920"/>
          </a:xfrm>
          <a:prstGeom prst="ellipse">
            <a:avLst/>
          </a:prstGeom>
          <a:solidFill>
            <a:schemeClr val="tx2"/>
          </a:solidFill>
          <a:ln/>
        </p:spPr>
      </p:sp>
      <p:sp>
        <p:nvSpPr>
          <p:cNvPr id="19" name="Text 17"/>
          <p:cNvSpPr txBox="1"/>
          <p:nvPr/>
        </p:nvSpPr>
        <p:spPr>
          <a:xfrm>
            <a:off x="5305349" y="2377440"/>
            <a:ext cx="502920" cy="502920"/>
          </a:xfrm>
          <a:prstGeom prst="rect">
            <a:avLst/>
          </a:prstGeom>
          <a:noFill/>
          <a:ln/>
        </p:spPr>
        <p:txBody>
          <a:bodyPr wrap="square" lIns="0" tIns="0" rIns="0" bIns="0" rtlCol="0" anchor="ctr"/>
          <a:lstStyle/>
          <a:p>
            <a:pPr algn="ctr" indent="0" marL="0">
              <a:buNone/>
            </a:pPr>
            <a:r>
              <a:rPr lang="en-US" sz="1900" b="1" dirty="0">
                <a:solidFill>
                  <a:schemeClr val="accent1"/>
                </a:solidFill>
                <a:latin typeface="+mj-lt" pitchFamily="34" charset="0"/>
                <a:ea typeface="+mj-lt" pitchFamily="34" charset="-122"/>
                <a:cs typeface="+mj-lt" pitchFamily="34" charset="-120"/>
              </a:rPr>
              <a:t>3</a:t>
            </a:r>
            <a:endParaRPr lang="en-US" sz="1900" dirty="0"/>
          </a:p>
        </p:txBody>
      </p:sp>
      <p:sp>
        <p:nvSpPr>
          <p:cNvPr id="20" name="Text 18"/>
          <p:cNvSpPr txBox="1"/>
          <p:nvPr/>
        </p:nvSpPr>
        <p:spPr>
          <a:xfrm>
            <a:off x="5305349" y="3063240"/>
            <a:ext cx="1623974" cy="594360"/>
          </a:xfrm>
          <a:prstGeom prst="rect">
            <a:avLst/>
          </a:prstGeom>
          <a:noFill/>
          <a:ln/>
        </p:spPr>
        <p:txBody>
          <a:bodyPr wrap="square" lIns="0" tIns="0" rIns="0" bIns="0" rtlCol="0" anchor="t"/>
          <a:lstStyle/>
          <a:p>
            <a:pPr indent="0" marL="0">
              <a:buNone/>
            </a:pPr>
            <a:r>
              <a:rPr lang="en-US" sz="1500" b="1" dirty="0">
                <a:solidFill>
                  <a:schemeClr val="tx1"/>
                </a:solidFill>
              </a:rPr>
              <a:t>Daily table</a:t>
            </a:r>
            <a:endParaRPr lang="en-US" sz="1500" dirty="0"/>
          </a:p>
        </p:txBody>
      </p:sp>
      <p:sp>
        <p:nvSpPr>
          <p:cNvPr id="21" name="Text 19"/>
          <p:cNvSpPr txBox="1"/>
          <p:nvPr/>
        </p:nvSpPr>
        <p:spPr>
          <a:xfrm>
            <a:off x="5305349" y="3703320"/>
            <a:ext cx="1623974" cy="1188720"/>
          </a:xfrm>
          <a:prstGeom prst="rect">
            <a:avLst/>
          </a:prstGeom>
          <a:noFill/>
          <a:ln/>
        </p:spPr>
        <p:txBody>
          <a:bodyPr wrap="square" lIns="0" tIns="0" rIns="0" bIns="0" rtlCol="0" anchor="t"/>
          <a:lstStyle/>
          <a:p>
            <a:pPr indent="0" marL="0">
              <a:buNone/>
            </a:pPr>
            <a:r>
              <a:rPr lang="en-US" sz="1300" dirty="0">
                <a:solidFill>
                  <a:schemeClr val="accent3"/>
                </a:solidFill>
              </a:rPr>
              <a:t>2,109 daily records, from Jan 2021 to Oct 2026.</a:t>
            </a:r>
            <a:endParaRPr lang="en-US" sz="1300" dirty="0"/>
          </a:p>
        </p:txBody>
      </p:sp>
      <p:sp>
        <p:nvSpPr>
          <p:cNvPr id="22" name="Arrow"/>
          <p:cNvSpPr/>
          <p:nvPr/>
        </p:nvSpPr>
        <p:spPr>
          <a:xfrm>
            <a:off x="7139635" y="3383280"/>
            <a:ext cx="219456" cy="274320"/>
          </a:xfrm>
          <a:prstGeom prst="rightArrow">
            <a:avLst/>
          </a:prstGeom>
          <a:solidFill>
            <a:schemeClr val="accent3"/>
          </a:solidFill>
          <a:ln/>
        </p:spPr>
      </p:sp>
      <p:sp>
        <p:nvSpPr>
          <p:cNvPr id="23" name="Step card"/>
          <p:cNvSpPr/>
          <p:nvPr/>
        </p:nvSpPr>
        <p:spPr>
          <a:xfrm>
            <a:off x="7386523" y="2148840"/>
            <a:ext cx="2035454" cy="2834640"/>
          </a:xfrm>
          <a:prstGeom prst="roundRect">
            <a:avLst>
              <a:gd name="adj" fmla="val 3594"/>
            </a:avLst>
          </a:prstGeom>
          <a:solidFill>
            <a:schemeClr val="tx2"/>
          </a:solidFill>
          <a:ln/>
        </p:spPr>
      </p:sp>
      <p:sp>
        <p:nvSpPr>
          <p:cNvPr id="24" name="Badge 4"/>
          <p:cNvSpPr/>
          <p:nvPr/>
        </p:nvSpPr>
        <p:spPr>
          <a:xfrm>
            <a:off x="7615123" y="2377440"/>
            <a:ext cx="502920" cy="502920"/>
          </a:xfrm>
          <a:prstGeom prst="ellipse">
            <a:avLst/>
          </a:prstGeom>
          <a:solidFill>
            <a:schemeClr val="accent1"/>
          </a:solidFill>
          <a:ln/>
        </p:spPr>
      </p:sp>
      <p:sp>
        <p:nvSpPr>
          <p:cNvPr id="25" name="Text 23"/>
          <p:cNvSpPr txBox="1"/>
          <p:nvPr/>
        </p:nvSpPr>
        <p:spPr>
          <a:xfrm>
            <a:off x="7615123" y="2377440"/>
            <a:ext cx="502920" cy="502920"/>
          </a:xfrm>
          <a:prstGeom prst="rect">
            <a:avLst/>
          </a:prstGeom>
          <a:noFill/>
          <a:ln/>
        </p:spPr>
        <p:txBody>
          <a:bodyPr wrap="square" lIns="0" tIns="0" rIns="0" bIns="0" rtlCol="0" anchor="ctr"/>
          <a:lstStyle/>
          <a:p>
            <a:pPr algn="ctr" indent="0" marL="0">
              <a:buNone/>
            </a:pPr>
            <a:r>
              <a:rPr lang="en-US" sz="1900" b="1" dirty="0">
                <a:solidFill>
                  <a:schemeClr val="tx2"/>
                </a:solidFill>
                <a:latin typeface="+mj-lt" pitchFamily="34" charset="0"/>
                <a:ea typeface="+mj-lt" pitchFamily="34" charset="-122"/>
                <a:cs typeface="+mj-lt" pitchFamily="34" charset="-120"/>
              </a:rPr>
              <a:t>4</a:t>
            </a:r>
            <a:endParaRPr lang="en-US" sz="1900" dirty="0"/>
          </a:p>
        </p:txBody>
      </p:sp>
      <p:sp>
        <p:nvSpPr>
          <p:cNvPr id="26" name="Text 24"/>
          <p:cNvSpPr txBox="1"/>
          <p:nvPr/>
        </p:nvSpPr>
        <p:spPr>
          <a:xfrm>
            <a:off x="7615123" y="3063240"/>
            <a:ext cx="1623974" cy="594360"/>
          </a:xfrm>
          <a:prstGeom prst="rect">
            <a:avLst/>
          </a:prstGeom>
          <a:noFill/>
          <a:ln/>
        </p:spPr>
        <p:txBody>
          <a:bodyPr wrap="square" lIns="0" tIns="0" rIns="0" bIns="0" rtlCol="0" anchor="t"/>
          <a:lstStyle/>
          <a:p>
            <a:pPr indent="0" marL="0">
              <a:buNone/>
            </a:pPr>
            <a:r>
              <a:rPr lang="en-US" sz="1500" b="1" dirty="0">
                <a:solidFill>
                  <a:schemeClr val="bg1"/>
                </a:solidFill>
              </a:rPr>
              <a:t>Sample every 2 days</a:t>
            </a:r>
            <a:endParaRPr lang="en-US" sz="1500" dirty="0"/>
          </a:p>
        </p:txBody>
      </p:sp>
      <p:sp>
        <p:nvSpPr>
          <p:cNvPr id="27" name="Text 25"/>
          <p:cNvSpPr txBox="1"/>
          <p:nvPr/>
        </p:nvSpPr>
        <p:spPr>
          <a:xfrm>
            <a:off x="7615123" y="3703320"/>
            <a:ext cx="1623974" cy="1188720"/>
          </a:xfrm>
          <a:prstGeom prst="rect">
            <a:avLst/>
          </a:prstGeom>
          <a:noFill/>
          <a:ln/>
        </p:spPr>
        <p:txBody>
          <a:bodyPr wrap="square" lIns="0" tIns="0" rIns="0" bIns="0" rtlCol="0" anchor="t"/>
          <a:lstStyle/>
          <a:p>
            <a:pPr indent="0" marL="0">
              <a:buNone/>
            </a:pPr>
            <a:r>
              <a:rPr lang="en-US" sz="1300" dirty="0">
                <a:solidFill>
                  <a:srgbClr val="C7CBE0"/>
                </a:solidFill>
              </a:rPr>
              <a:t>1,055 rows. Alternate days are skipped, not averaged.</a:t>
            </a:r>
            <a:endParaRPr lang="en-US" sz="1300" dirty="0"/>
          </a:p>
        </p:txBody>
      </p:sp>
      <p:sp>
        <p:nvSpPr>
          <p:cNvPr id="28" name="Arrow"/>
          <p:cNvSpPr/>
          <p:nvPr/>
        </p:nvSpPr>
        <p:spPr>
          <a:xfrm>
            <a:off x="9449410" y="3383280"/>
            <a:ext cx="219456" cy="274320"/>
          </a:xfrm>
          <a:prstGeom prst="rightArrow">
            <a:avLst/>
          </a:prstGeom>
          <a:solidFill>
            <a:schemeClr val="accent3"/>
          </a:solidFill>
          <a:ln/>
        </p:spPr>
      </p:sp>
      <p:sp>
        <p:nvSpPr>
          <p:cNvPr id="29" name="Step card"/>
          <p:cNvSpPr/>
          <p:nvPr/>
        </p:nvSpPr>
        <p:spPr>
          <a:xfrm>
            <a:off x="9696298" y="2148840"/>
            <a:ext cx="2035454" cy="2834640"/>
          </a:xfrm>
          <a:prstGeom prst="roundRect">
            <a:avLst>
              <a:gd name="adj" fmla="val 3594"/>
            </a:avLst>
          </a:prstGeom>
          <a:solidFill>
            <a:schemeClr val="bg2"/>
          </a:solidFill>
          <a:ln w="12700">
            <a:solidFill>
              <a:srgbClr val="E4E6F0"/>
            </a:solidFill>
            <a:prstDash val="solid"/>
          </a:ln>
        </p:spPr>
      </p:sp>
      <p:sp>
        <p:nvSpPr>
          <p:cNvPr id="30" name="Badge 5"/>
          <p:cNvSpPr/>
          <p:nvPr/>
        </p:nvSpPr>
        <p:spPr>
          <a:xfrm>
            <a:off x="9924898" y="2377440"/>
            <a:ext cx="502920" cy="502920"/>
          </a:xfrm>
          <a:prstGeom prst="ellipse">
            <a:avLst/>
          </a:prstGeom>
          <a:solidFill>
            <a:schemeClr val="tx2"/>
          </a:solidFill>
          <a:ln/>
        </p:spPr>
      </p:sp>
      <p:sp>
        <p:nvSpPr>
          <p:cNvPr id="31" name="Text 29"/>
          <p:cNvSpPr txBox="1"/>
          <p:nvPr/>
        </p:nvSpPr>
        <p:spPr>
          <a:xfrm>
            <a:off x="9924898" y="2377440"/>
            <a:ext cx="502920" cy="502920"/>
          </a:xfrm>
          <a:prstGeom prst="rect">
            <a:avLst/>
          </a:prstGeom>
          <a:noFill/>
          <a:ln/>
        </p:spPr>
        <p:txBody>
          <a:bodyPr wrap="square" lIns="0" tIns="0" rIns="0" bIns="0" rtlCol="0" anchor="ctr"/>
          <a:lstStyle/>
          <a:p>
            <a:pPr algn="ctr" indent="0" marL="0">
              <a:buNone/>
            </a:pPr>
            <a:r>
              <a:rPr lang="en-US" sz="1900" b="1" dirty="0">
                <a:solidFill>
                  <a:schemeClr val="accent1"/>
                </a:solidFill>
                <a:latin typeface="+mj-lt" pitchFamily="34" charset="0"/>
                <a:ea typeface="+mj-lt" pitchFamily="34" charset="-122"/>
                <a:cs typeface="+mj-lt" pitchFamily="34" charset="-120"/>
              </a:rPr>
              <a:t>5</a:t>
            </a:r>
            <a:endParaRPr lang="en-US" sz="1900" dirty="0"/>
          </a:p>
        </p:txBody>
      </p:sp>
      <p:sp>
        <p:nvSpPr>
          <p:cNvPr id="32" name="Text 30"/>
          <p:cNvSpPr txBox="1"/>
          <p:nvPr/>
        </p:nvSpPr>
        <p:spPr>
          <a:xfrm>
            <a:off x="9924898" y="3063240"/>
            <a:ext cx="1623974" cy="594360"/>
          </a:xfrm>
          <a:prstGeom prst="rect">
            <a:avLst/>
          </a:prstGeom>
          <a:noFill/>
          <a:ln/>
        </p:spPr>
        <p:txBody>
          <a:bodyPr wrap="square" lIns="0" tIns="0" rIns="0" bIns="0" rtlCol="0" anchor="t"/>
          <a:lstStyle/>
          <a:p>
            <a:pPr indent="0" marL="0">
              <a:buNone/>
            </a:pPr>
            <a:r>
              <a:rPr lang="en-US" sz="1500" b="1" dirty="0">
                <a:solidFill>
                  <a:schemeClr val="tx1"/>
                </a:solidFill>
              </a:rPr>
              <a:t>Add features</a:t>
            </a:r>
            <a:endParaRPr lang="en-US" sz="1500" dirty="0"/>
          </a:p>
        </p:txBody>
      </p:sp>
      <p:sp>
        <p:nvSpPr>
          <p:cNvPr id="33" name="Text 31"/>
          <p:cNvSpPr txBox="1"/>
          <p:nvPr/>
        </p:nvSpPr>
        <p:spPr>
          <a:xfrm>
            <a:off x="9924898" y="3703320"/>
            <a:ext cx="1623974" cy="1188720"/>
          </a:xfrm>
          <a:prstGeom prst="rect">
            <a:avLst/>
          </a:prstGeom>
          <a:noFill/>
          <a:ln/>
        </p:spPr>
        <p:txBody>
          <a:bodyPr wrap="square" lIns="0" tIns="0" rIns="0" bIns="0" rtlCol="0" anchor="t"/>
          <a:lstStyle/>
          <a:p>
            <a:pPr indent="0" marL="0">
              <a:buNone/>
            </a:pPr>
            <a:r>
              <a:rPr lang="en-US" sz="1300" dirty="0">
                <a:solidFill>
                  <a:schemeClr val="accent3"/>
                </a:solidFill>
              </a:rPr>
              <a:t>+12 columns: calendar, sin/cos day-of-year, wind u/v, ranges.</a:t>
            </a:r>
            <a:endParaRPr lang="en-US" sz="1300" dirty="0"/>
          </a:p>
        </p:txBody>
      </p:sp>
      <p:sp>
        <p:nvSpPr>
          <p:cNvPr id="34" name="Why box"/>
          <p:cNvSpPr/>
          <p:nvPr/>
        </p:nvSpPr>
        <p:spPr>
          <a:xfrm>
            <a:off x="457200" y="5349240"/>
            <a:ext cx="11274552" cy="960120"/>
          </a:xfrm>
          <a:prstGeom prst="roundRect">
            <a:avLst>
              <a:gd name="adj" fmla="val 7619"/>
            </a:avLst>
          </a:prstGeom>
          <a:solidFill>
            <a:schemeClr val="tx2"/>
          </a:solidFill>
          <a:ln/>
        </p:spPr>
      </p:sp>
      <p:sp>
        <p:nvSpPr>
          <p:cNvPr id="35" name="Text 33"/>
          <p:cNvSpPr txBox="1"/>
          <p:nvPr/>
        </p:nvSpPr>
        <p:spPr>
          <a:xfrm>
            <a:off x="777240" y="5349240"/>
            <a:ext cx="2377440" cy="960120"/>
          </a:xfrm>
          <a:prstGeom prst="rect">
            <a:avLst/>
          </a:prstGeom>
          <a:noFill/>
          <a:ln/>
        </p:spPr>
        <p:txBody>
          <a:bodyPr wrap="square" lIns="0" tIns="0" rIns="0" bIns="0" rtlCol="0" anchor="ctr"/>
          <a:lstStyle/>
          <a:p>
            <a:pPr indent="0" marL="0">
              <a:buNone/>
            </a:pPr>
            <a:r>
              <a:rPr lang="en-US" sz="1500" b="1" dirty="0">
                <a:solidFill>
                  <a:schemeClr val="accent1"/>
                </a:solidFill>
              </a:rPr>
              <a:t>Why 2-day sampling?</a:t>
            </a:r>
            <a:endParaRPr lang="en-US" sz="1500" dirty="0"/>
          </a:p>
        </p:txBody>
      </p:sp>
      <p:sp>
        <p:nvSpPr>
          <p:cNvPr id="36" name="Text 34"/>
          <p:cNvSpPr txBox="1"/>
          <p:nvPr/>
        </p:nvSpPr>
        <p:spPr>
          <a:xfrm>
            <a:off x="3063240" y="5349240"/>
            <a:ext cx="8412480" cy="960120"/>
          </a:xfrm>
          <a:prstGeom prst="rect">
            <a:avLst/>
          </a:prstGeom>
          <a:noFill/>
          <a:ln/>
        </p:spPr>
        <p:txBody>
          <a:bodyPr wrap="square" lIns="0" tIns="0" rIns="0" bIns="0" rtlCol="0" anchor="ctr"/>
          <a:lstStyle/>
          <a:p>
            <a:pPr indent="0" marL="0">
              <a:buNone/>
            </a:pPr>
            <a:r>
              <a:rPr lang="en-US" sz="1300" dirty="0">
                <a:solidFill>
                  <a:srgbClr val="C7CBE0"/>
                </a:solidFill>
              </a:rPr>
              <a:t>Keeping every day from 2021 to 2026-10-10 would give 2,109 rows; the brief asked for 1,000 – 1,500, so every second day is kept to cover the full period (1,055 rows).</a:t>
            </a:r>
            <a:endParaRPr lang="en-US" sz="1300" dirty="0"/>
          </a:p>
        </p:txBody>
      </p:sp>
      <p:sp>
        <p:nvSpPr>
          <p:cNvPr id="25" name="Slide Number Placeholder 0"/>
          <p:cNvSpPr>
            <a:spLocks noGrp="1"/>
          </p:cNvSpPr>
          <p:nvPr>
            <p:ph type="sldNum" sz="quarter" idx="4294967295"/>
          </p:nvPr>
        </p:nvSpPr>
        <p:spPr>
          <a:xfrm>
            <a:off x="11064240" y="6446520"/>
            <a:ext cx="66751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086"/>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7104888" y="457200"/>
            <a:ext cx="4626864" cy="777240"/>
          </a:xfrm>
          <a:prstGeom prst="rect">
            <a:avLst/>
          </a:prstGeom>
          <a:noFill/>
          <a:ln/>
        </p:spPr>
        <p:txBody>
          <a:bodyPr wrap="square" lIns="0" tIns="0" rIns="0" bIns="0" rtlCol="0" anchor="ctr"/>
          <a:lstStyle/>
          <a:p>
            <a:pPr algn="l" indent="0" marL="0">
              <a:buNone/>
            </a:pPr>
            <a:r>
              <a:rPr lang="en-US" sz="2000" b="1" dirty="0">
                <a:solidFill>
                  <a:schemeClr val="tx1"/>
                </a:solidFill>
              </a:rPr>
              <a:t>Is the dataset ordered, regularly sampled and free of duplicates?</a:t>
            </a:r>
            <a:endParaRPr lang="en-US" sz="2000" dirty="0"/>
          </a:p>
        </p:txBody>
      </p:sp>
      <p:sp>
        <p:nvSpPr>
          <p:cNvPr id="3" name="Badge Q1"/>
          <p:cNvSpPr/>
          <p:nvPr/>
        </p:nvSpPr>
        <p:spPr>
          <a:xfrm>
            <a:off x="6355080" y="502920"/>
            <a:ext cx="566928" cy="566928"/>
          </a:xfrm>
          <a:prstGeom prst="ellipse">
            <a:avLst/>
          </a:prstGeom>
          <a:solidFill>
            <a:schemeClr val="tx2"/>
          </a:solidFill>
          <a:ln/>
        </p:spPr>
      </p:sp>
      <p:sp>
        <p:nvSpPr>
          <p:cNvPr id="4" name="Text 2"/>
          <p:cNvSpPr txBox="1"/>
          <p:nvPr/>
        </p:nvSpPr>
        <p:spPr>
          <a:xfrm>
            <a:off x="6355080" y="502920"/>
            <a:ext cx="566928" cy="566928"/>
          </a:xfrm>
          <a:prstGeom prst="rect">
            <a:avLst/>
          </a:prstGeom>
          <a:noFill/>
          <a:ln/>
        </p:spPr>
        <p:txBody>
          <a:bodyPr wrap="square" lIns="0" tIns="0" rIns="0" bIns="0" rtlCol="0" anchor="ctr"/>
          <a:lstStyle/>
          <a:p>
            <a:pPr algn="ctr" indent="0" marL="0">
              <a:buNone/>
            </a:pPr>
            <a:r>
              <a:rPr lang="en-US" sz="1900" b="1" dirty="0">
                <a:solidFill>
                  <a:schemeClr val="accent1"/>
                </a:solidFill>
                <a:latin typeface="+mj-lt" pitchFamily="34" charset="0"/>
                <a:ea typeface="+mj-lt" pitchFamily="34" charset="-122"/>
                <a:cs typeface="+mj-lt" pitchFamily="34" charset="-120"/>
              </a:rPr>
              <a:t>Q1</a:t>
            </a:r>
            <a:endParaRPr lang="en-US" sz="1900" dirty="0"/>
          </a:p>
        </p:txBody>
      </p:sp>
      <p:sp>
        <p:nvSpPr>
          <p:cNvPr id="5" name="Visual card"/>
          <p:cNvSpPr/>
          <p:nvPr/>
        </p:nvSpPr>
        <p:spPr>
          <a:xfrm>
            <a:off x="457200" y="1417320"/>
            <a:ext cx="5349240" cy="4937760"/>
          </a:xfrm>
          <a:prstGeom prst="roundRect">
            <a:avLst>
              <a:gd name="adj" fmla="val 1481"/>
            </a:avLst>
          </a:prstGeom>
          <a:solidFill>
            <a:schemeClr val="bg1"/>
          </a:solidFill>
          <a:ln w="12700">
            <a:solidFill>
              <a:srgbClr val="DEDFE8"/>
            </a:solidFill>
            <a:prstDash val="solid"/>
          </a:ln>
          <a:effectLst>
            <a:outerShdw sx="100000" sy="100000" kx="0" ky="0" algn="bl" rotWithShape="0" blurRad="101600" dist="38100" dir="5400000">
              <a:srgbClr val="1B1F2A">
                <a:alpha val="16000"/>
              </a:srgbClr>
            </a:outerShdw>
          </a:effectLst>
        </p:spPr>
      </p:sp>
      <p:sp>
        <p:nvSpPr>
          <p:cNvPr id="6" name="Text 4"/>
          <p:cNvSpPr txBox="1"/>
          <p:nvPr/>
        </p:nvSpPr>
        <p:spPr>
          <a:xfrm>
            <a:off x="731520" y="1645920"/>
            <a:ext cx="4800600" cy="228600"/>
          </a:xfrm>
          <a:prstGeom prst="rect">
            <a:avLst/>
          </a:prstGeom>
          <a:noFill/>
          <a:ln/>
        </p:spPr>
        <p:txBody>
          <a:bodyPr wrap="square" lIns="0" tIns="0" rIns="0" bIns="0" rtlCol="0" anchor="t"/>
          <a:lstStyle/>
          <a:p>
            <a:pPr indent="0" marL="0">
              <a:buNone/>
            </a:pPr>
            <a:r>
              <a:rPr lang="en-US" sz="1100" b="1" spc="150" kern="0" dirty="0">
                <a:solidFill>
                  <a:schemeClr val="accent3"/>
                </a:solidFill>
              </a:rPr>
              <a:t>QUALITY REPORT</a:t>
            </a:r>
            <a:endParaRPr lang="en-US" sz="11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731520" y="2011680"/>
          <a:ext cx="4800600" cy="914400"/>
        </p:xfrm>
        <a:graphic>
          <a:graphicData uri="http://schemas.openxmlformats.org/drawingml/2006/table">
            <a:tbl>
              <a:tblPr/>
              <a:tblGrid>
                <a:gridCol w="2331720"/>
                <a:gridCol w="2468880"/>
              </a:tblGrid>
              <a:tr h="475488">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Check</a:t>
                      </a:r>
                      <a:endParaRPr lang="en-US" sz="1200" dirty="0">
                        <a:latin typeface="Calibri" charset="0"/>
                        <a:ea typeface="Calibri" charset="0"/>
                        <a:cs typeface="Calibri" charset="0"/>
                      </a:endParaRPr>
                    </a:p>
                  </a:txBody>
                  <a:tcPr marL="91440" marR="91440" marT="0" marB="0" anchor="ctr">
                    <a:lnL w="12700" cap="flat" cmpd="sng" algn="ctr">
                      <a:solidFill>
                        <a:srgbClr val="E4E6F0"/>
                      </a:solidFill>
                      <a:prstDash val="solid"/>
                      <a:round/>
                      <a:headEnd type="none" w="med" len="med"/>
                      <a:tailEnd type="none" w="med" len="med"/>
                    </a:lnL>
                    <a:lnR w="12700" cap="flat" cmpd="sng" algn="ctr">
                      <a:solidFill>
                        <a:srgbClr val="E4E6F0"/>
                      </a:solidFill>
                      <a:prstDash val="solid"/>
                      <a:round/>
                      <a:headEnd type="none" w="med" len="med"/>
                      <a:tailEnd type="none" w="med" len="med"/>
                    </a:lnR>
                    <a:lnT w="12700" cap="flat" cmpd="sng" algn="ctr">
                      <a:solidFill>
                        <a:srgbClr val="E4E6F0"/>
                      </a:solidFill>
                      <a:prstDash val="solid"/>
                      <a:round/>
                      <a:headEnd type="none" w="med" len="med"/>
                      <a:tailEnd type="none" w="med" len="med"/>
                    </a:lnT>
                    <a:lnB w="12700" cap="flat" cmpd="sng" algn="ctr">
                      <a:solidFill>
                        <a:srgbClr val="E4E6F0"/>
                      </a:solidFill>
                      <a:prstDash val="solid"/>
                      <a:round/>
                      <a:headEnd type="none" w="med" len="med"/>
                      <a:tailEnd type="none" w="med" len="med"/>
                    </a:lnB>
                    <a:solidFill>
                      <a:srgbClr val="14172B"/>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Result</a:t>
                      </a:r>
                      <a:endParaRPr lang="en-US" sz="1200" dirty="0">
                        <a:latin typeface="Calibri" charset="0"/>
                        <a:ea typeface="Calibri" charset="0"/>
                        <a:cs typeface="Calibri" charset="0"/>
                      </a:endParaRPr>
                    </a:p>
                  </a:txBody>
                  <a:tcPr marL="91440" marR="91440" marT="0" marB="0" anchor="ctr">
                    <a:lnL w="12700" cap="flat" cmpd="sng" algn="ctr">
                      <a:solidFill>
                        <a:srgbClr val="E4E6F0"/>
                      </a:solidFill>
                      <a:prstDash val="solid"/>
                      <a:round/>
                      <a:headEnd type="none" w="med" len="med"/>
                      <a:tailEnd type="none" w="med" len="med"/>
                    </a:lnL>
                    <a:lnR w="12700" cap="flat" cmpd="sng" algn="ctr">
                      <a:solidFill>
                        <a:srgbClr val="E4E6F0"/>
                      </a:solidFill>
                      <a:prstDash val="solid"/>
                      <a:round/>
                      <a:headEnd type="none" w="med" len="med"/>
                      <a:tailEnd type="none" w="med" len="med"/>
                    </a:lnR>
                    <a:lnT w="12700" cap="flat" cmpd="sng" algn="ctr">
                      <a:solidFill>
                        <a:srgbClr val="E4E6F0"/>
                      </a:solidFill>
                      <a:prstDash val="solid"/>
                      <a:round/>
                      <a:headEnd type="none" w="med" len="med"/>
                      <a:tailEnd type="none" w="med" len="med"/>
                    </a:lnT>
                    <a:lnB w="12700" cap="flat" cmpd="sng" algn="ctr">
                      <a:solidFill>
                        <a:srgbClr val="E4E6F0"/>
                      </a:solidFill>
                      <a:prstDash val="solid"/>
                      <a:round/>
                      <a:headEnd type="none" w="med" len="med"/>
                      <a:tailEnd type="none" w="med" len="med"/>
                    </a:lnB>
                    <a:solidFill>
                      <a:srgbClr val="14172B"/>
                    </a:solidFill>
                  </a:tcPr>
                </a:tc>
              </a:tr>
              <a:tr h="475488">
                <a:tc>
                  <a:txBody>
                    <a:bodyPr/>
                    <a:lstStyle/>
                    <a:p>
                      <a:pPr indent="0" marL="0">
                        <a:buNone/>
                      </a:pPr>
                      <a:r>
                        <a:rPr lang="en-US" sz="1300" dirty="0">
                          <a:solidFill>
                            <a:srgbClr val="1B1F2A"/>
                          </a:solidFill>
                          <a:latin typeface="Calibri" pitchFamily="34" charset="0"/>
                          <a:ea typeface="Calibri" pitchFamily="34" charset="-122"/>
                          <a:cs typeface="Calibri" pitchFamily="34" charset="-120"/>
                        </a:rPr>
                        <a:t>Rows × columns</a:t>
                      </a:r>
                      <a:endParaRPr lang="en-US" sz="1300" dirty="0">
                        <a:latin typeface="Calibri" charset="0"/>
                        <a:ea typeface="Calibri" charset="0"/>
                        <a:cs typeface="Calibri" charset="0"/>
                      </a:endParaRPr>
                    </a:p>
                  </a:txBody>
                  <a:tcPr marL="91440" marR="91440" marT="0" marB="0" anchor="ctr">
                    <a:lnL w="12700" cap="flat" cmpd="sng" algn="ctr">
                      <a:solidFill>
                        <a:srgbClr val="E4E6F0"/>
                      </a:solidFill>
                      <a:prstDash val="solid"/>
                      <a:round/>
                      <a:headEnd type="none" w="med" len="med"/>
                      <a:tailEnd type="none" w="med" len="med"/>
                    </a:lnL>
                    <a:lnR w="12700" cap="flat" cmpd="sng" algn="ctr">
                      <a:solidFill>
                        <a:srgbClr val="E4E6F0"/>
                      </a:solidFill>
                      <a:prstDash val="solid"/>
                      <a:round/>
                      <a:headEnd type="none" w="med" len="med"/>
                      <a:tailEnd type="none" w="med" len="med"/>
                    </a:lnR>
                    <a:lnT w="12700" cap="flat" cmpd="sng" algn="ctr">
                      <a:solidFill>
                        <a:srgbClr val="E4E6F0"/>
                      </a:solidFill>
                      <a:prstDash val="solid"/>
                      <a:round/>
                      <a:headEnd type="none" w="med" len="med"/>
                      <a:tailEnd type="none" w="med" len="med"/>
                    </a:lnT>
                    <a:lnB w="12700" cap="flat" cmpd="sng" algn="ctr">
                      <a:solidFill>
                        <a:srgbClr val="E4E6F0"/>
                      </a:solidFill>
                      <a:prstDash val="solid"/>
                      <a:round/>
                      <a:headEnd type="none" w="med" len="med"/>
                      <a:tailEnd type="none" w="med" len="med"/>
                    </a:lnB>
                  </a:tcPr>
                </a:tc>
                <a:tc>
                  <a:txBody>
                    <a:bodyPr/>
                    <a:lstStyle/>
                    <a:p>
                      <a:pPr indent="0" marL="0">
                        <a:buNone/>
                      </a:pPr>
                      <a:r>
                        <a:rPr lang="en-US" sz="1300" b="1" dirty="0">
                          <a:solidFill>
                            <a:srgbClr val="14172B"/>
                          </a:solidFill>
                          <a:latin typeface="Calibri" pitchFamily="34" charset="0"/>
                          <a:ea typeface="Calibri" pitchFamily="34" charset="-122"/>
                          <a:cs typeface="Calibri" pitchFamily="34" charset="-120"/>
                        </a:rPr>
                        <a:t>1,055 × 33</a:t>
                      </a:r>
                      <a:endParaRPr lang="en-US" sz="1300" dirty="0">
                        <a:latin typeface="Calibri" charset="0"/>
                        <a:ea typeface="Calibri" charset="0"/>
                        <a:cs typeface="Calibri" charset="0"/>
                      </a:endParaRPr>
                    </a:p>
                  </a:txBody>
                  <a:tcPr marL="91440" marR="91440" marT="0" marB="0" anchor="ctr">
                    <a:lnL w="12700" cap="flat" cmpd="sng" algn="ctr">
                      <a:solidFill>
                        <a:srgbClr val="E4E6F0"/>
                      </a:solidFill>
                      <a:prstDash val="solid"/>
                      <a:round/>
                      <a:headEnd type="none" w="med" len="med"/>
                      <a:tailEnd type="none" w="med" len="med"/>
                    </a:lnL>
                    <a:lnR w="12700" cap="flat" cmpd="sng" algn="ctr">
                      <a:solidFill>
                        <a:srgbClr val="E4E6F0"/>
                      </a:solidFill>
                      <a:prstDash val="solid"/>
                      <a:round/>
                      <a:headEnd type="none" w="med" len="med"/>
                      <a:tailEnd type="none" w="med" len="med"/>
                    </a:lnR>
                    <a:lnT w="12700" cap="flat" cmpd="sng" algn="ctr">
                      <a:solidFill>
                        <a:srgbClr val="E4E6F0"/>
                      </a:solidFill>
                      <a:prstDash val="solid"/>
                      <a:round/>
                      <a:headEnd type="none" w="med" len="med"/>
                      <a:tailEnd type="none" w="med" len="med"/>
                    </a:lnT>
                    <a:lnB w="12700" cap="flat" cmpd="sng" algn="ctr">
                      <a:solidFill>
                        <a:srgbClr val="E4E6F0"/>
                      </a:solidFill>
                      <a:prstDash val="solid"/>
                      <a:round/>
                      <a:headEnd type="none" w="med" len="med"/>
                      <a:tailEnd type="none" w="med" len="med"/>
                    </a:lnB>
                  </a:tcPr>
                </a:tc>
              </a:tr>
              <a:tr h="475488">
                <a:tc>
                  <a:txBody>
                    <a:bodyPr/>
                    <a:lstStyle/>
                    <a:p>
                      <a:pPr indent="0" marL="0">
                        <a:buNone/>
                      </a:pPr>
                      <a:r>
                        <a:rPr lang="en-US" sz="1300" dirty="0">
                          <a:solidFill>
                            <a:srgbClr val="1B1F2A"/>
                          </a:solidFill>
                          <a:latin typeface="Calibri" pitchFamily="34" charset="0"/>
                          <a:ea typeface="Calibri" pitchFamily="34" charset="-122"/>
                          <a:cs typeface="Calibri" pitchFamily="34" charset="-120"/>
                        </a:rPr>
                        <a:t>Date range</a:t>
                      </a:r>
                      <a:endParaRPr lang="en-US" sz="1300" dirty="0">
                        <a:latin typeface="Calibri" charset="0"/>
                        <a:ea typeface="Calibri" charset="0"/>
                        <a:cs typeface="Calibri" charset="0"/>
                      </a:endParaRPr>
                    </a:p>
                  </a:txBody>
                  <a:tcPr marL="91440" marR="91440" marT="0" marB="0" anchor="ctr">
                    <a:lnL w="12700" cap="flat" cmpd="sng" algn="ctr">
                      <a:solidFill>
                        <a:srgbClr val="E4E6F0"/>
                      </a:solidFill>
                      <a:prstDash val="solid"/>
                      <a:round/>
                      <a:headEnd type="none" w="med" len="med"/>
                      <a:tailEnd type="none" w="med" len="med"/>
                    </a:lnL>
                    <a:lnR w="12700" cap="flat" cmpd="sng" algn="ctr">
                      <a:solidFill>
                        <a:srgbClr val="E4E6F0"/>
                      </a:solidFill>
                      <a:prstDash val="solid"/>
                      <a:round/>
                      <a:headEnd type="none" w="med" len="med"/>
                      <a:tailEnd type="none" w="med" len="med"/>
                    </a:lnR>
                    <a:lnT w="12700" cap="flat" cmpd="sng" algn="ctr">
                      <a:solidFill>
                        <a:srgbClr val="E4E6F0"/>
                      </a:solidFill>
                      <a:prstDash val="solid"/>
                      <a:round/>
                      <a:headEnd type="none" w="med" len="med"/>
                      <a:tailEnd type="none" w="med" len="med"/>
                    </a:lnT>
                    <a:lnB w="12700" cap="flat" cmpd="sng" algn="ctr">
                      <a:solidFill>
                        <a:srgbClr val="E4E6F0"/>
                      </a:solidFill>
                      <a:prstDash val="solid"/>
                      <a:round/>
                      <a:headEnd type="none" w="med" len="med"/>
                      <a:tailEnd type="none" w="med" len="med"/>
                    </a:lnB>
                  </a:tcPr>
                </a:tc>
                <a:tc>
                  <a:txBody>
                    <a:bodyPr/>
                    <a:lstStyle/>
                    <a:p>
                      <a:pPr indent="0" marL="0">
                        <a:buNone/>
                      </a:pPr>
                      <a:r>
                        <a:rPr lang="en-US" sz="1300" b="1" dirty="0">
                          <a:solidFill>
                            <a:srgbClr val="14172B"/>
                          </a:solidFill>
                          <a:latin typeface="Calibri" pitchFamily="34" charset="0"/>
                          <a:ea typeface="Calibri" pitchFamily="34" charset="-122"/>
                          <a:cs typeface="Calibri" pitchFamily="34" charset="-120"/>
                        </a:rPr>
                        <a:t>2021-01-01 → 2026-10-10</a:t>
                      </a:r>
                      <a:endParaRPr lang="en-US" sz="1300" dirty="0">
                        <a:latin typeface="Calibri" charset="0"/>
                        <a:ea typeface="Calibri" charset="0"/>
                        <a:cs typeface="Calibri" charset="0"/>
                      </a:endParaRPr>
                    </a:p>
                  </a:txBody>
                  <a:tcPr marL="91440" marR="91440" marT="0" marB="0" anchor="ctr">
                    <a:lnL w="12700" cap="flat" cmpd="sng" algn="ctr">
                      <a:solidFill>
                        <a:srgbClr val="E4E6F0"/>
                      </a:solidFill>
                      <a:prstDash val="solid"/>
                      <a:round/>
                      <a:headEnd type="none" w="med" len="med"/>
                      <a:tailEnd type="none" w="med" len="med"/>
                    </a:lnL>
                    <a:lnR w="12700" cap="flat" cmpd="sng" algn="ctr">
                      <a:solidFill>
                        <a:srgbClr val="E4E6F0"/>
                      </a:solidFill>
                      <a:prstDash val="solid"/>
                      <a:round/>
                      <a:headEnd type="none" w="med" len="med"/>
                      <a:tailEnd type="none" w="med" len="med"/>
                    </a:lnR>
                    <a:lnT w="12700" cap="flat" cmpd="sng" algn="ctr">
                      <a:solidFill>
                        <a:srgbClr val="E4E6F0"/>
                      </a:solidFill>
                      <a:prstDash val="solid"/>
                      <a:round/>
                      <a:headEnd type="none" w="med" len="med"/>
                      <a:tailEnd type="none" w="med" len="med"/>
                    </a:lnT>
                    <a:lnB w="12700" cap="flat" cmpd="sng" algn="ctr">
                      <a:solidFill>
                        <a:srgbClr val="E4E6F0"/>
                      </a:solidFill>
                      <a:prstDash val="solid"/>
                      <a:round/>
                      <a:headEnd type="none" w="med" len="med"/>
                      <a:tailEnd type="none" w="med" len="med"/>
                    </a:lnB>
                  </a:tcPr>
                </a:tc>
              </a:tr>
              <a:tr h="475488">
                <a:tc>
                  <a:txBody>
                    <a:bodyPr/>
                    <a:lstStyle/>
                    <a:p>
                      <a:pPr indent="0" marL="0">
                        <a:buNone/>
                      </a:pPr>
                      <a:r>
                        <a:rPr lang="en-US" sz="1300" dirty="0">
                          <a:solidFill>
                            <a:srgbClr val="1B1F2A"/>
                          </a:solidFill>
                          <a:latin typeface="Calibri" pitchFamily="34" charset="0"/>
                          <a:ea typeface="Calibri" pitchFamily="34" charset="-122"/>
                          <a:cs typeface="Calibri" pitchFamily="34" charset="-120"/>
                        </a:rPr>
                        <a:t>Time step (1,054 intervals)</a:t>
                      </a:r>
                      <a:endParaRPr lang="en-US" sz="1300" dirty="0">
                        <a:latin typeface="Calibri" charset="0"/>
                        <a:ea typeface="Calibri" charset="0"/>
                        <a:cs typeface="Calibri" charset="0"/>
                      </a:endParaRPr>
                    </a:p>
                  </a:txBody>
                  <a:tcPr marL="91440" marR="91440" marT="0" marB="0" anchor="ctr">
                    <a:lnL w="12700" cap="flat" cmpd="sng" algn="ctr">
                      <a:solidFill>
                        <a:srgbClr val="E4E6F0"/>
                      </a:solidFill>
                      <a:prstDash val="solid"/>
                      <a:round/>
                      <a:headEnd type="none" w="med" len="med"/>
                      <a:tailEnd type="none" w="med" len="med"/>
                    </a:lnL>
                    <a:lnR w="12700" cap="flat" cmpd="sng" algn="ctr">
                      <a:solidFill>
                        <a:srgbClr val="E4E6F0"/>
                      </a:solidFill>
                      <a:prstDash val="solid"/>
                      <a:round/>
                      <a:headEnd type="none" w="med" len="med"/>
                      <a:tailEnd type="none" w="med" len="med"/>
                    </a:lnR>
                    <a:lnT w="12700" cap="flat" cmpd="sng" algn="ctr">
                      <a:solidFill>
                        <a:srgbClr val="E4E6F0"/>
                      </a:solidFill>
                      <a:prstDash val="solid"/>
                      <a:round/>
                      <a:headEnd type="none" w="med" len="med"/>
                      <a:tailEnd type="none" w="med" len="med"/>
                    </a:lnT>
                    <a:lnB w="12700" cap="flat" cmpd="sng" algn="ctr">
                      <a:solidFill>
                        <a:srgbClr val="E4E6F0"/>
                      </a:solidFill>
                      <a:prstDash val="solid"/>
                      <a:round/>
                      <a:headEnd type="none" w="med" len="med"/>
                      <a:tailEnd type="none" w="med" len="med"/>
                    </a:lnB>
                  </a:tcPr>
                </a:tc>
                <a:tc>
                  <a:txBody>
                    <a:bodyPr/>
                    <a:lstStyle/>
                    <a:p>
                      <a:pPr indent="0" marL="0">
                        <a:buNone/>
                      </a:pPr>
                      <a:r>
                        <a:rPr lang="en-US" sz="1300" b="1" dirty="0">
                          <a:solidFill>
                            <a:srgbClr val="14172B"/>
                          </a:solidFill>
                          <a:latin typeface="Calibri" pitchFamily="34" charset="0"/>
                          <a:ea typeface="Calibri" pitchFamily="34" charset="-122"/>
                          <a:cs typeface="Calibri" pitchFamily="34" charset="-120"/>
                        </a:rPr>
                        <a:t>2 days, every interval</a:t>
                      </a:r>
                      <a:endParaRPr lang="en-US" sz="1300" dirty="0">
                        <a:latin typeface="Calibri" charset="0"/>
                        <a:ea typeface="Calibri" charset="0"/>
                        <a:cs typeface="Calibri" charset="0"/>
                      </a:endParaRPr>
                    </a:p>
                  </a:txBody>
                  <a:tcPr marL="91440" marR="91440" marT="0" marB="0" anchor="ctr">
                    <a:lnL w="12700" cap="flat" cmpd="sng" algn="ctr">
                      <a:solidFill>
                        <a:srgbClr val="E4E6F0"/>
                      </a:solidFill>
                      <a:prstDash val="solid"/>
                      <a:round/>
                      <a:headEnd type="none" w="med" len="med"/>
                      <a:tailEnd type="none" w="med" len="med"/>
                    </a:lnL>
                    <a:lnR w="12700" cap="flat" cmpd="sng" algn="ctr">
                      <a:solidFill>
                        <a:srgbClr val="E4E6F0"/>
                      </a:solidFill>
                      <a:prstDash val="solid"/>
                      <a:round/>
                      <a:headEnd type="none" w="med" len="med"/>
                      <a:tailEnd type="none" w="med" len="med"/>
                    </a:lnR>
                    <a:lnT w="12700" cap="flat" cmpd="sng" algn="ctr">
                      <a:solidFill>
                        <a:srgbClr val="E4E6F0"/>
                      </a:solidFill>
                      <a:prstDash val="solid"/>
                      <a:round/>
                      <a:headEnd type="none" w="med" len="med"/>
                      <a:tailEnd type="none" w="med" len="med"/>
                    </a:lnT>
                    <a:lnB w="12700" cap="flat" cmpd="sng" algn="ctr">
                      <a:solidFill>
                        <a:srgbClr val="E4E6F0"/>
                      </a:solidFill>
                      <a:prstDash val="solid"/>
                      <a:round/>
                      <a:headEnd type="none" w="med" len="med"/>
                      <a:tailEnd type="none" w="med" len="med"/>
                    </a:lnB>
                  </a:tcPr>
                </a:tc>
              </a:tr>
              <a:tr h="475488">
                <a:tc>
                  <a:txBody>
                    <a:bodyPr/>
                    <a:lstStyle/>
                    <a:p>
                      <a:pPr indent="0" marL="0">
                        <a:buNone/>
                      </a:pPr>
                      <a:r>
                        <a:rPr lang="en-US" sz="1300" dirty="0">
                          <a:solidFill>
                            <a:srgbClr val="1B1F2A"/>
                          </a:solidFill>
                          <a:latin typeface="Calibri" pitchFamily="34" charset="0"/>
                          <a:ea typeface="Calibri" pitchFamily="34" charset="-122"/>
                          <a:cs typeface="Calibri" pitchFamily="34" charset="-120"/>
                        </a:rPr>
                        <a:t>Duplicate dates</a:t>
                      </a:r>
                      <a:endParaRPr lang="en-US" sz="1300" dirty="0">
                        <a:latin typeface="Calibri" charset="0"/>
                        <a:ea typeface="Calibri" charset="0"/>
                        <a:cs typeface="Calibri" charset="0"/>
                      </a:endParaRPr>
                    </a:p>
                  </a:txBody>
                  <a:tcPr marL="91440" marR="91440" marT="0" marB="0" anchor="ctr">
                    <a:lnL w="12700" cap="flat" cmpd="sng" algn="ctr">
                      <a:solidFill>
                        <a:srgbClr val="E4E6F0"/>
                      </a:solidFill>
                      <a:prstDash val="solid"/>
                      <a:round/>
                      <a:headEnd type="none" w="med" len="med"/>
                      <a:tailEnd type="none" w="med" len="med"/>
                    </a:lnL>
                    <a:lnR w="12700" cap="flat" cmpd="sng" algn="ctr">
                      <a:solidFill>
                        <a:srgbClr val="E4E6F0"/>
                      </a:solidFill>
                      <a:prstDash val="solid"/>
                      <a:round/>
                      <a:headEnd type="none" w="med" len="med"/>
                      <a:tailEnd type="none" w="med" len="med"/>
                    </a:lnR>
                    <a:lnT w="12700" cap="flat" cmpd="sng" algn="ctr">
                      <a:solidFill>
                        <a:srgbClr val="E4E6F0"/>
                      </a:solidFill>
                      <a:prstDash val="solid"/>
                      <a:round/>
                      <a:headEnd type="none" w="med" len="med"/>
                      <a:tailEnd type="none" w="med" len="med"/>
                    </a:lnT>
                    <a:lnB w="12700" cap="flat" cmpd="sng" algn="ctr">
                      <a:solidFill>
                        <a:srgbClr val="E4E6F0"/>
                      </a:solidFill>
                      <a:prstDash val="solid"/>
                      <a:round/>
                      <a:headEnd type="none" w="med" len="med"/>
                      <a:tailEnd type="none" w="med" len="med"/>
                    </a:lnB>
                  </a:tcPr>
                </a:tc>
                <a:tc>
                  <a:txBody>
                    <a:bodyPr/>
                    <a:lstStyle/>
                    <a:p>
                      <a:pPr indent="0" marL="0">
                        <a:buNone/>
                      </a:pPr>
                      <a:r>
                        <a:rPr lang="en-US" sz="1300" b="1" dirty="0">
                          <a:solidFill>
                            <a:srgbClr val="14172B"/>
                          </a:solidFill>
                          <a:latin typeface="Calibri" pitchFamily="34" charset="0"/>
                          <a:ea typeface="Calibri" pitchFamily="34" charset="-122"/>
                          <a:cs typeface="Calibri" pitchFamily="34" charset="-120"/>
                        </a:rPr>
                        <a:t>0</a:t>
                      </a:r>
                      <a:endParaRPr lang="en-US" sz="1300" dirty="0">
                        <a:latin typeface="Calibri" charset="0"/>
                        <a:ea typeface="Calibri" charset="0"/>
                        <a:cs typeface="Calibri" charset="0"/>
                      </a:endParaRPr>
                    </a:p>
                  </a:txBody>
                  <a:tcPr marL="91440" marR="91440" marT="0" marB="0" anchor="ctr">
                    <a:lnL w="12700" cap="flat" cmpd="sng" algn="ctr">
                      <a:solidFill>
                        <a:srgbClr val="E4E6F0"/>
                      </a:solidFill>
                      <a:prstDash val="solid"/>
                      <a:round/>
                      <a:headEnd type="none" w="med" len="med"/>
                      <a:tailEnd type="none" w="med" len="med"/>
                    </a:lnL>
                    <a:lnR w="12700" cap="flat" cmpd="sng" algn="ctr">
                      <a:solidFill>
                        <a:srgbClr val="E4E6F0"/>
                      </a:solidFill>
                      <a:prstDash val="solid"/>
                      <a:round/>
                      <a:headEnd type="none" w="med" len="med"/>
                      <a:tailEnd type="none" w="med" len="med"/>
                    </a:lnR>
                    <a:lnT w="12700" cap="flat" cmpd="sng" algn="ctr">
                      <a:solidFill>
                        <a:srgbClr val="E4E6F0"/>
                      </a:solidFill>
                      <a:prstDash val="solid"/>
                      <a:round/>
                      <a:headEnd type="none" w="med" len="med"/>
                      <a:tailEnd type="none" w="med" len="med"/>
                    </a:lnT>
                    <a:lnB w="12700" cap="flat" cmpd="sng" algn="ctr">
                      <a:solidFill>
                        <a:srgbClr val="E4E6F0"/>
                      </a:solidFill>
                      <a:prstDash val="solid"/>
                      <a:round/>
                      <a:headEnd type="none" w="med" len="med"/>
                      <a:tailEnd type="none" w="med" len="med"/>
                    </a:lnB>
                  </a:tcPr>
                </a:tc>
              </a:tr>
              <a:tr h="475488">
                <a:tc>
                  <a:txBody>
                    <a:bodyPr/>
                    <a:lstStyle/>
                    <a:p>
                      <a:pPr indent="0" marL="0">
                        <a:buNone/>
                      </a:pPr>
                      <a:r>
                        <a:rPr lang="en-US" sz="1300" dirty="0">
                          <a:solidFill>
                            <a:srgbClr val="1B1F2A"/>
                          </a:solidFill>
                          <a:latin typeface="Calibri" pitchFamily="34" charset="0"/>
                          <a:ea typeface="Calibri" pitchFamily="34" charset="-122"/>
                          <a:cs typeface="Calibri" pitchFamily="34" charset="-120"/>
                        </a:rPr>
                        <a:t>Index</a:t>
                      </a:r>
                      <a:endParaRPr lang="en-US" sz="1300" dirty="0">
                        <a:latin typeface="Calibri" charset="0"/>
                        <a:ea typeface="Calibri" charset="0"/>
                        <a:cs typeface="Calibri" charset="0"/>
                      </a:endParaRPr>
                    </a:p>
                  </a:txBody>
                  <a:tcPr marL="91440" marR="91440" marT="0" marB="0" anchor="ctr">
                    <a:lnL w="12700" cap="flat" cmpd="sng" algn="ctr">
                      <a:solidFill>
                        <a:srgbClr val="E4E6F0"/>
                      </a:solidFill>
                      <a:prstDash val="solid"/>
                      <a:round/>
                      <a:headEnd type="none" w="med" len="med"/>
                      <a:tailEnd type="none" w="med" len="med"/>
                    </a:lnL>
                    <a:lnR w="12700" cap="flat" cmpd="sng" algn="ctr">
                      <a:solidFill>
                        <a:srgbClr val="E4E6F0"/>
                      </a:solidFill>
                      <a:prstDash val="solid"/>
                      <a:round/>
                      <a:headEnd type="none" w="med" len="med"/>
                      <a:tailEnd type="none" w="med" len="med"/>
                    </a:lnR>
                    <a:lnT w="12700" cap="flat" cmpd="sng" algn="ctr">
                      <a:solidFill>
                        <a:srgbClr val="E4E6F0"/>
                      </a:solidFill>
                      <a:prstDash val="solid"/>
                      <a:round/>
                      <a:headEnd type="none" w="med" len="med"/>
                      <a:tailEnd type="none" w="med" len="med"/>
                    </a:lnT>
                    <a:lnB w="12700" cap="flat" cmpd="sng" algn="ctr">
                      <a:solidFill>
                        <a:srgbClr val="E4E6F0"/>
                      </a:solidFill>
                      <a:prstDash val="solid"/>
                      <a:round/>
                      <a:headEnd type="none" w="med" len="med"/>
                      <a:tailEnd type="none" w="med" len="med"/>
                    </a:lnB>
                  </a:tcPr>
                </a:tc>
                <a:tc>
                  <a:txBody>
                    <a:bodyPr/>
                    <a:lstStyle/>
                    <a:p>
                      <a:pPr indent="0" marL="0">
                        <a:buNone/>
                      </a:pPr>
                      <a:r>
                        <a:rPr lang="en-US" sz="1300" b="1" dirty="0">
                          <a:solidFill>
                            <a:srgbClr val="14172B"/>
                          </a:solidFill>
                          <a:latin typeface="Calibri" pitchFamily="34" charset="0"/>
                          <a:ea typeface="Calibri" pitchFamily="34" charset="-122"/>
                          <a:cs typeface="Calibri" pitchFamily="34" charset="-120"/>
                        </a:rPr>
                        <a:t>datetime, sorted</a:t>
                      </a:r>
                      <a:endParaRPr lang="en-US" sz="1300" dirty="0">
                        <a:latin typeface="Calibri" charset="0"/>
                        <a:ea typeface="Calibri" charset="0"/>
                        <a:cs typeface="Calibri" charset="0"/>
                      </a:endParaRPr>
                    </a:p>
                  </a:txBody>
                  <a:tcPr marL="91440" marR="91440" marT="0" marB="0" anchor="ctr">
                    <a:lnL w="12700" cap="flat" cmpd="sng" algn="ctr">
                      <a:solidFill>
                        <a:srgbClr val="E4E6F0"/>
                      </a:solidFill>
                      <a:prstDash val="solid"/>
                      <a:round/>
                      <a:headEnd type="none" w="med" len="med"/>
                      <a:tailEnd type="none" w="med" len="med"/>
                    </a:lnL>
                    <a:lnR w="12700" cap="flat" cmpd="sng" algn="ctr">
                      <a:solidFill>
                        <a:srgbClr val="E4E6F0"/>
                      </a:solidFill>
                      <a:prstDash val="solid"/>
                      <a:round/>
                      <a:headEnd type="none" w="med" len="med"/>
                      <a:tailEnd type="none" w="med" len="med"/>
                    </a:lnR>
                    <a:lnT w="12700" cap="flat" cmpd="sng" algn="ctr">
                      <a:solidFill>
                        <a:srgbClr val="E4E6F0"/>
                      </a:solidFill>
                      <a:prstDash val="solid"/>
                      <a:round/>
                      <a:headEnd type="none" w="med" len="med"/>
                      <a:tailEnd type="none" w="med" len="med"/>
                    </a:lnT>
                    <a:lnB w="12700" cap="flat" cmpd="sng" algn="ctr">
                      <a:solidFill>
                        <a:srgbClr val="E4E6F0"/>
                      </a:solidFill>
                      <a:prstDash val="solid"/>
                      <a:round/>
                      <a:headEnd type="none" w="med" len="med"/>
                      <a:tailEnd type="none" w="med" len="med"/>
                    </a:lnB>
                  </a:tcPr>
                </a:tc>
              </a:tr>
            </a:tbl>
          </a:graphicData>
        </a:graphic>
      </p:graphicFrame>
      <p:sp>
        <p:nvSpPr>
          <p:cNvPr id="8" name="Text 5"/>
          <p:cNvSpPr txBox="1"/>
          <p:nvPr/>
        </p:nvSpPr>
        <p:spPr>
          <a:xfrm>
            <a:off x="731520" y="5120640"/>
            <a:ext cx="4800600" cy="228600"/>
          </a:xfrm>
          <a:prstGeom prst="rect">
            <a:avLst/>
          </a:prstGeom>
          <a:noFill/>
          <a:ln/>
        </p:spPr>
        <p:txBody>
          <a:bodyPr wrap="square" lIns="0" tIns="0" rIns="0" bIns="0" rtlCol="0" anchor="t"/>
          <a:lstStyle/>
          <a:p>
            <a:pPr indent="0" marL="0">
              <a:buNone/>
            </a:pPr>
            <a:r>
              <a:rPr lang="en-US" sz="1100" b="1" spc="150" kern="0" dirty="0">
                <a:solidFill>
                  <a:schemeClr val="accent3"/>
                </a:solidFill>
              </a:rPr>
              <a:t>REGULAR SAMPLING</a:t>
            </a:r>
            <a:endParaRPr lang="en-US" sz="1100" dirty="0"/>
          </a:p>
        </p:txBody>
      </p:sp>
      <p:sp>
        <p:nvSpPr>
          <p:cNvPr id="9" name="Ruler line"/>
          <p:cNvSpPr/>
          <p:nvPr/>
        </p:nvSpPr>
        <p:spPr>
          <a:xfrm>
            <a:off x="960120" y="5715000"/>
            <a:ext cx="4343400" cy="0"/>
          </a:xfrm>
          <a:prstGeom prst="line">
            <a:avLst/>
          </a:prstGeom>
          <a:noFill/>
          <a:ln w="19050">
            <a:solidFill>
              <a:srgbClr val="6B7086"/>
            </a:solidFill>
            <a:prstDash val="solid"/>
          </a:ln>
        </p:spPr>
      </p:sp>
      <p:sp>
        <p:nvSpPr>
          <p:cNvPr id="10" name="Ruler dot"/>
          <p:cNvSpPr/>
          <p:nvPr/>
        </p:nvSpPr>
        <p:spPr>
          <a:xfrm>
            <a:off x="877824" y="5632704"/>
            <a:ext cx="164592" cy="164592"/>
          </a:xfrm>
          <a:prstGeom prst="ellipse">
            <a:avLst/>
          </a:prstGeom>
          <a:solidFill>
            <a:schemeClr val="accent1"/>
          </a:solidFill>
          <a:ln/>
        </p:spPr>
      </p:sp>
      <p:sp>
        <p:nvSpPr>
          <p:cNvPr id="11" name="Ruler dot"/>
          <p:cNvSpPr/>
          <p:nvPr/>
        </p:nvSpPr>
        <p:spPr>
          <a:xfrm>
            <a:off x="1360424" y="5632704"/>
            <a:ext cx="164592" cy="164592"/>
          </a:xfrm>
          <a:prstGeom prst="ellipse">
            <a:avLst/>
          </a:prstGeom>
          <a:solidFill>
            <a:schemeClr val="accent1"/>
          </a:solidFill>
          <a:ln/>
        </p:spPr>
      </p:sp>
      <p:sp>
        <p:nvSpPr>
          <p:cNvPr id="12" name="Ruler dot"/>
          <p:cNvSpPr/>
          <p:nvPr/>
        </p:nvSpPr>
        <p:spPr>
          <a:xfrm>
            <a:off x="1843024" y="5632704"/>
            <a:ext cx="164592" cy="164592"/>
          </a:xfrm>
          <a:prstGeom prst="ellipse">
            <a:avLst/>
          </a:prstGeom>
          <a:solidFill>
            <a:schemeClr val="tx2"/>
          </a:solidFill>
          <a:ln/>
        </p:spPr>
      </p:sp>
      <p:sp>
        <p:nvSpPr>
          <p:cNvPr id="13" name="Ruler dot"/>
          <p:cNvSpPr/>
          <p:nvPr/>
        </p:nvSpPr>
        <p:spPr>
          <a:xfrm>
            <a:off x="2325624" y="5632704"/>
            <a:ext cx="164592" cy="164592"/>
          </a:xfrm>
          <a:prstGeom prst="ellipse">
            <a:avLst/>
          </a:prstGeom>
          <a:solidFill>
            <a:schemeClr val="tx2"/>
          </a:solidFill>
          <a:ln/>
        </p:spPr>
      </p:sp>
      <p:sp>
        <p:nvSpPr>
          <p:cNvPr id="14" name="Ruler dot"/>
          <p:cNvSpPr/>
          <p:nvPr/>
        </p:nvSpPr>
        <p:spPr>
          <a:xfrm>
            <a:off x="2808224" y="5632704"/>
            <a:ext cx="164592" cy="164592"/>
          </a:xfrm>
          <a:prstGeom prst="ellipse">
            <a:avLst/>
          </a:prstGeom>
          <a:solidFill>
            <a:schemeClr val="tx2"/>
          </a:solidFill>
          <a:ln/>
        </p:spPr>
      </p:sp>
      <p:sp>
        <p:nvSpPr>
          <p:cNvPr id="15" name="Ruler dot"/>
          <p:cNvSpPr/>
          <p:nvPr/>
        </p:nvSpPr>
        <p:spPr>
          <a:xfrm>
            <a:off x="3290824" y="5632704"/>
            <a:ext cx="164592" cy="164592"/>
          </a:xfrm>
          <a:prstGeom prst="ellipse">
            <a:avLst/>
          </a:prstGeom>
          <a:solidFill>
            <a:schemeClr val="tx2"/>
          </a:solidFill>
          <a:ln/>
        </p:spPr>
      </p:sp>
      <p:sp>
        <p:nvSpPr>
          <p:cNvPr id="16" name="Ruler dot"/>
          <p:cNvSpPr/>
          <p:nvPr/>
        </p:nvSpPr>
        <p:spPr>
          <a:xfrm>
            <a:off x="3773424" y="5632704"/>
            <a:ext cx="164592" cy="164592"/>
          </a:xfrm>
          <a:prstGeom prst="ellipse">
            <a:avLst/>
          </a:prstGeom>
          <a:solidFill>
            <a:schemeClr val="tx2"/>
          </a:solidFill>
          <a:ln/>
        </p:spPr>
      </p:sp>
      <p:sp>
        <p:nvSpPr>
          <p:cNvPr id="17" name="Ruler dot"/>
          <p:cNvSpPr/>
          <p:nvPr/>
        </p:nvSpPr>
        <p:spPr>
          <a:xfrm>
            <a:off x="4256024" y="5632704"/>
            <a:ext cx="164592" cy="164592"/>
          </a:xfrm>
          <a:prstGeom prst="ellipse">
            <a:avLst/>
          </a:prstGeom>
          <a:solidFill>
            <a:schemeClr val="tx2"/>
          </a:solidFill>
          <a:ln/>
        </p:spPr>
      </p:sp>
      <p:sp>
        <p:nvSpPr>
          <p:cNvPr id="18" name="Ruler dot"/>
          <p:cNvSpPr/>
          <p:nvPr/>
        </p:nvSpPr>
        <p:spPr>
          <a:xfrm>
            <a:off x="4738624" y="5632704"/>
            <a:ext cx="164592" cy="164592"/>
          </a:xfrm>
          <a:prstGeom prst="ellipse">
            <a:avLst/>
          </a:prstGeom>
          <a:solidFill>
            <a:schemeClr val="tx2"/>
          </a:solidFill>
          <a:ln/>
        </p:spPr>
      </p:sp>
      <p:sp>
        <p:nvSpPr>
          <p:cNvPr id="19" name="Ruler dot"/>
          <p:cNvSpPr/>
          <p:nvPr/>
        </p:nvSpPr>
        <p:spPr>
          <a:xfrm>
            <a:off x="5221224" y="5632704"/>
            <a:ext cx="164592" cy="164592"/>
          </a:xfrm>
          <a:prstGeom prst="ellipse">
            <a:avLst/>
          </a:prstGeom>
          <a:solidFill>
            <a:schemeClr val="tx2"/>
          </a:solidFill>
          <a:ln/>
        </p:spPr>
      </p:sp>
      <p:sp>
        <p:nvSpPr>
          <p:cNvPr id="20" name="Text 17"/>
          <p:cNvSpPr txBox="1"/>
          <p:nvPr/>
        </p:nvSpPr>
        <p:spPr>
          <a:xfrm>
            <a:off x="960120" y="5879592"/>
            <a:ext cx="482600" cy="228600"/>
          </a:xfrm>
          <a:prstGeom prst="rect">
            <a:avLst/>
          </a:prstGeom>
          <a:noFill/>
          <a:ln/>
        </p:spPr>
        <p:txBody>
          <a:bodyPr wrap="square" lIns="0" tIns="0" rIns="0" bIns="0" rtlCol="0" anchor="t"/>
          <a:lstStyle/>
          <a:p>
            <a:pPr algn="ctr" indent="0" marL="0">
              <a:buNone/>
            </a:pPr>
            <a:r>
              <a:rPr lang="en-US" sz="1000" dirty="0">
                <a:solidFill>
                  <a:schemeClr val="accent3"/>
                </a:solidFill>
              </a:rPr>
              <a:t>2 days</a:t>
            </a:r>
            <a:endParaRPr lang="en-US" sz="1000" dirty="0"/>
          </a:p>
        </p:txBody>
      </p:sp>
      <p:sp>
        <p:nvSpPr>
          <p:cNvPr id="21" name="Stat callout"/>
          <p:cNvSpPr/>
          <p:nvPr/>
        </p:nvSpPr>
        <p:spPr>
          <a:xfrm>
            <a:off x="6355080" y="1417320"/>
            <a:ext cx="5349240" cy="1051560"/>
          </a:xfrm>
          <a:prstGeom prst="roundRect">
            <a:avLst>
              <a:gd name="adj" fmla="val 6957"/>
            </a:avLst>
          </a:prstGeom>
          <a:solidFill>
            <a:schemeClr val="tx2"/>
          </a:solidFill>
          <a:ln/>
        </p:spPr>
      </p:sp>
      <p:sp>
        <p:nvSpPr>
          <p:cNvPr id="22" name="Text 19"/>
          <p:cNvSpPr txBox="1"/>
          <p:nvPr/>
        </p:nvSpPr>
        <p:spPr>
          <a:xfrm>
            <a:off x="6583680" y="1508760"/>
            <a:ext cx="2240280" cy="868680"/>
          </a:xfrm>
          <a:prstGeom prst="rect">
            <a:avLst/>
          </a:prstGeom>
          <a:noFill/>
          <a:ln/>
        </p:spPr>
        <p:txBody>
          <a:bodyPr wrap="square" lIns="0" tIns="0" rIns="0" bIns="0" rtlCol="0" anchor="ctr"/>
          <a:lstStyle/>
          <a:p>
            <a:pPr indent="0" marL="0">
              <a:buNone/>
            </a:pPr>
            <a:r>
              <a:rPr lang="en-US" sz="2800" b="1" dirty="0">
                <a:solidFill>
                  <a:schemeClr val="accent1"/>
                </a:solidFill>
                <a:latin typeface="+mj-lt" pitchFamily="34" charset="0"/>
                <a:ea typeface="+mj-lt" pitchFamily="34" charset="-122"/>
                <a:cs typeface="+mj-lt" pitchFamily="34" charset="-120"/>
              </a:rPr>
              <a:t>100%</a:t>
            </a:r>
            <a:endParaRPr lang="en-US" sz="2800" dirty="0"/>
          </a:p>
        </p:txBody>
      </p:sp>
      <p:sp>
        <p:nvSpPr>
          <p:cNvPr id="23" name="Text 20"/>
          <p:cNvSpPr txBox="1"/>
          <p:nvPr/>
        </p:nvSpPr>
        <p:spPr>
          <a:xfrm>
            <a:off x="8915400" y="1508760"/>
            <a:ext cx="2606040" cy="868680"/>
          </a:xfrm>
          <a:prstGeom prst="rect">
            <a:avLst/>
          </a:prstGeom>
          <a:noFill/>
          <a:ln/>
        </p:spPr>
        <p:txBody>
          <a:bodyPr wrap="square" lIns="0" tIns="0" rIns="0" bIns="0" rtlCol="0" anchor="ctr"/>
          <a:lstStyle/>
          <a:p>
            <a:pPr indent="0" marL="0">
              <a:buNone/>
            </a:pPr>
            <a:r>
              <a:rPr lang="en-US" sz="1200" dirty="0">
                <a:solidFill>
                  <a:schemeClr val="bg1"/>
                </a:solidFill>
              </a:rPr>
              <a:t>of the 1,054 time steps are exactly 2 days: no gaps, no duplicate dates</a:t>
            </a:r>
            <a:endParaRPr lang="en-US" sz="1200" dirty="0"/>
          </a:p>
        </p:txBody>
      </p:sp>
      <p:sp>
        <p:nvSpPr>
          <p:cNvPr id="24" name="Text 21"/>
          <p:cNvSpPr txBox="1"/>
          <p:nvPr/>
        </p:nvSpPr>
        <p:spPr>
          <a:xfrm>
            <a:off x="6355080" y="2697480"/>
            <a:ext cx="5349240" cy="228600"/>
          </a:xfrm>
          <a:prstGeom prst="rect">
            <a:avLst/>
          </a:prstGeom>
          <a:noFill/>
          <a:ln/>
        </p:spPr>
        <p:txBody>
          <a:bodyPr wrap="square" lIns="0" tIns="0" rIns="0" bIns="0" rtlCol="0" anchor="t"/>
          <a:lstStyle/>
          <a:p>
            <a:pPr indent="0" marL="0">
              <a:buNone/>
            </a:pPr>
            <a:r>
              <a:rPr lang="en-US" sz="1100" b="1" spc="150" kern="0" dirty="0">
                <a:solidFill>
                  <a:schemeClr val="accent3"/>
                </a:solidFill>
              </a:rPr>
              <a:t>WHY THIS PLOT</a:t>
            </a:r>
            <a:endParaRPr lang="en-US" sz="1100" dirty="0"/>
          </a:p>
        </p:txBody>
      </p:sp>
      <p:sp>
        <p:nvSpPr>
          <p:cNvPr id="25" name="Text 22"/>
          <p:cNvSpPr txBox="1"/>
          <p:nvPr/>
        </p:nvSpPr>
        <p:spPr>
          <a:xfrm>
            <a:off x="6355080" y="2944368"/>
            <a:ext cx="5349240" cy="777240"/>
          </a:xfrm>
          <a:prstGeom prst="rect">
            <a:avLst/>
          </a:prstGeom>
          <a:noFill/>
          <a:ln/>
        </p:spPr>
        <p:txBody>
          <a:bodyPr wrap="square" lIns="0" tIns="0" rIns="0" bIns="0" rtlCol="0" anchor="t"/>
          <a:lstStyle/>
          <a:p>
            <a:pPr indent="0" marL="0">
              <a:buNone/>
            </a:pPr>
            <a:r>
              <a:rPr lang="en-US" sz="1200" i="1" dirty="0">
                <a:solidFill>
                  <a:schemeClr val="accent3"/>
                </a:solidFill>
              </a:rPr>
              <a:t>A summary table suits this check: ordering, spacing and duplicates are counts, not shapes. The ruler below shows what regular sampling looks like.</a:t>
            </a:r>
            <a:endParaRPr lang="en-US" sz="1200" dirty="0"/>
          </a:p>
        </p:txBody>
      </p:sp>
      <p:sp>
        <p:nvSpPr>
          <p:cNvPr id="26" name="Text 23"/>
          <p:cNvSpPr txBox="1"/>
          <p:nvPr/>
        </p:nvSpPr>
        <p:spPr>
          <a:xfrm>
            <a:off x="6355080" y="3794760"/>
            <a:ext cx="5349240" cy="228600"/>
          </a:xfrm>
          <a:prstGeom prst="rect">
            <a:avLst/>
          </a:prstGeom>
          <a:noFill/>
          <a:ln/>
        </p:spPr>
        <p:txBody>
          <a:bodyPr wrap="square" lIns="0" tIns="0" rIns="0" bIns="0" rtlCol="0" anchor="t"/>
          <a:lstStyle/>
          <a:p>
            <a:pPr indent="0" marL="0">
              <a:buNone/>
            </a:pPr>
            <a:r>
              <a:rPr lang="en-US" sz="1100" b="1" spc="150" kern="0" dirty="0">
                <a:solidFill>
                  <a:schemeClr val="accent3"/>
                </a:solidFill>
              </a:rPr>
              <a:t>WHAT THE DATA SAYS</a:t>
            </a:r>
            <a:endParaRPr lang="en-US" sz="1100" dirty="0"/>
          </a:p>
        </p:txBody>
      </p:sp>
      <p:sp>
        <p:nvSpPr>
          <p:cNvPr id="27" name="Text 24"/>
          <p:cNvSpPr txBox="1"/>
          <p:nvPr/>
        </p:nvSpPr>
        <p:spPr>
          <a:xfrm>
            <a:off x="6355080" y="4069080"/>
            <a:ext cx="5349240" cy="2286000"/>
          </a:xfrm>
          <a:prstGeom prst="rect">
            <a:avLst/>
          </a:prstGeom>
          <a:noFill/>
          <a:ln/>
        </p:spPr>
        <p:txBody>
          <a:bodyPr wrap="square" lIns="0" tIns="0" rIns="0" bIns="0" rtlCol="0" anchor="t"/>
          <a:lstStyle/>
          <a:p>
            <a:pPr indent="0" marL="0">
              <a:lnSpc>
                <a:spcPts val="1900"/>
              </a:lnSpc>
              <a:buNone/>
            </a:pPr>
            <a:r>
              <a:rPr lang="en-US" sz="1400" dirty="0">
                <a:solidFill>
                  <a:schemeClr val="tx1"/>
                </a:solidFill>
              </a:rPr>
              <a:t>The file holds 1,055 rows × 33 columns from 2021-01-01 to 2026-10-10, sorted by date. Every interval between neighbouring rows is exactly 2 days and no date appears twice, so the series can be indexed by date and treated as a regular time series — which ACF / PACF, STL and lag features all require.</a:t>
            </a:r>
            <a:endParaRPr lang="en-US" sz="1400" dirty="0"/>
          </a:p>
        </p:txBody>
      </p:sp>
      <p:sp>
        <p:nvSpPr>
          <p:cNvPr id="25" name="Slide Number Placeholder 0"/>
          <p:cNvSpPr>
            <a:spLocks noGrp="1"/>
          </p:cNvSpPr>
          <p:nvPr>
            <p:ph type="sldNum" sz="quarter" idx="4294967295"/>
          </p:nvPr>
        </p:nvSpPr>
        <p:spPr>
          <a:xfrm>
            <a:off x="11064240" y="6446520"/>
            <a:ext cx="66751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086"/>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1207008" y="457200"/>
            <a:ext cx="4754880" cy="777240"/>
          </a:xfrm>
          <a:prstGeom prst="rect">
            <a:avLst/>
          </a:prstGeom>
          <a:noFill/>
          <a:ln/>
        </p:spPr>
        <p:txBody>
          <a:bodyPr wrap="square" lIns="0" tIns="0" rIns="0" bIns="0" rtlCol="0" anchor="ctr"/>
          <a:lstStyle/>
          <a:p>
            <a:pPr algn="l" indent="0" marL="0">
              <a:buNone/>
            </a:pPr>
            <a:r>
              <a:rPr lang="en-US" sz="2000" b="1" dirty="0">
                <a:solidFill>
                  <a:schemeClr val="tx1"/>
                </a:solidFill>
              </a:rPr>
              <a:t>How should missing values and anomalies be handled?</a:t>
            </a:r>
            <a:endParaRPr lang="en-US" sz="2000" dirty="0"/>
          </a:p>
        </p:txBody>
      </p:sp>
      <p:sp>
        <p:nvSpPr>
          <p:cNvPr id="3" name="Badge Q2"/>
          <p:cNvSpPr/>
          <p:nvPr/>
        </p:nvSpPr>
        <p:spPr>
          <a:xfrm>
            <a:off x="457200" y="502920"/>
            <a:ext cx="566928" cy="566928"/>
          </a:xfrm>
          <a:prstGeom prst="ellipse">
            <a:avLst/>
          </a:prstGeom>
          <a:solidFill>
            <a:schemeClr val="tx2"/>
          </a:solidFill>
          <a:ln/>
        </p:spPr>
      </p:sp>
      <p:sp>
        <p:nvSpPr>
          <p:cNvPr id="4" name="Text 2"/>
          <p:cNvSpPr txBox="1"/>
          <p:nvPr/>
        </p:nvSpPr>
        <p:spPr>
          <a:xfrm>
            <a:off x="457200" y="502920"/>
            <a:ext cx="566928" cy="566928"/>
          </a:xfrm>
          <a:prstGeom prst="rect">
            <a:avLst/>
          </a:prstGeom>
          <a:noFill/>
          <a:ln/>
        </p:spPr>
        <p:txBody>
          <a:bodyPr wrap="square" lIns="0" tIns="0" rIns="0" bIns="0" rtlCol="0" anchor="ctr"/>
          <a:lstStyle/>
          <a:p>
            <a:pPr algn="ctr" indent="0" marL="0">
              <a:buNone/>
            </a:pPr>
            <a:r>
              <a:rPr lang="en-US" sz="1900" b="1" dirty="0">
                <a:solidFill>
                  <a:schemeClr val="accent1"/>
                </a:solidFill>
                <a:latin typeface="+mj-lt" pitchFamily="34" charset="0"/>
                <a:ea typeface="+mj-lt" pitchFamily="34" charset="-122"/>
                <a:cs typeface="+mj-lt" pitchFamily="34" charset="-120"/>
              </a:rPr>
              <a:t>Q2</a:t>
            </a:r>
            <a:endParaRPr lang="en-US" sz="1900" dirty="0"/>
          </a:p>
        </p:txBody>
      </p:sp>
      <p:sp>
        <p:nvSpPr>
          <p:cNvPr id="5" name="Visual card"/>
          <p:cNvSpPr/>
          <p:nvPr/>
        </p:nvSpPr>
        <p:spPr>
          <a:xfrm>
            <a:off x="6355080" y="1417320"/>
            <a:ext cx="5349240" cy="4937760"/>
          </a:xfrm>
          <a:prstGeom prst="roundRect">
            <a:avLst>
              <a:gd name="adj" fmla="val 1481"/>
            </a:avLst>
          </a:prstGeom>
          <a:solidFill>
            <a:schemeClr val="bg1"/>
          </a:solidFill>
          <a:ln w="12700">
            <a:solidFill>
              <a:srgbClr val="DEDFE8"/>
            </a:solidFill>
            <a:prstDash val="solid"/>
          </a:ln>
          <a:effectLst>
            <a:outerShdw sx="100000" sy="100000" kx="0" ky="0" algn="bl" rotWithShape="0" blurRad="101600" dist="38100" dir="5400000">
              <a:srgbClr val="1B1F2A">
                <a:alpha val="16000"/>
              </a:srgbClr>
            </a:outerShdw>
          </a:effectLst>
        </p:spPr>
      </p:sp>
      <p:graphicFrame>
        <p:nvGraphicFramePr>
          <p:cNvPr id="6" name="Chart 0" descr=""/>
          <p:cNvGraphicFramePr/>
          <p:nvPr/>
        </p:nvGraphicFramePr>
        <p:xfrm>
          <a:off x="6537960" y="1600200"/>
          <a:ext cx="4983480" cy="4023360"/>
        </p:xfrm>
        <a:graphic xmlns:a="http://schemas.openxmlformats.org/drawingml/2006/main">
          <a:graphicData uri="http://schemas.openxmlformats.org/drawingml/2006/chart">
            <c:chart xmlns:c="http://schemas.openxmlformats.org/drawingml/2006/chart" r:id="rId1"/>
          </a:graphicData>
        </a:graphic>
      </p:graphicFrame>
      <p:sp>
        <p:nvSpPr>
          <p:cNvPr id="7" name="Text 4"/>
          <p:cNvSpPr txBox="1"/>
          <p:nvPr/>
        </p:nvSpPr>
        <p:spPr>
          <a:xfrm>
            <a:off x="6629400" y="5806440"/>
            <a:ext cx="4800600" cy="274320"/>
          </a:xfrm>
          <a:prstGeom prst="rect">
            <a:avLst/>
          </a:prstGeom>
          <a:noFill/>
          <a:ln/>
        </p:spPr>
        <p:txBody>
          <a:bodyPr wrap="square" lIns="0" tIns="0" rIns="0" bIns="0" rtlCol="0" anchor="t"/>
          <a:lstStyle/>
          <a:p>
            <a:pPr algn="ctr" indent="0" marL="0">
              <a:buNone/>
            </a:pPr>
            <a:r>
              <a:rPr lang="en-US" sz="1200" i="1" dirty="0">
                <a:solidFill>
                  <a:schemeClr val="accent3"/>
                </a:solidFill>
              </a:rPr>
              <a:t>The other 30 columns have no missing values.</a:t>
            </a:r>
            <a:endParaRPr lang="en-US" sz="1200" dirty="0"/>
          </a:p>
        </p:txBody>
      </p:sp>
      <p:sp>
        <p:nvSpPr>
          <p:cNvPr id="8" name="Stat callout"/>
          <p:cNvSpPr/>
          <p:nvPr/>
        </p:nvSpPr>
        <p:spPr>
          <a:xfrm>
            <a:off x="457200" y="1417320"/>
            <a:ext cx="5349240" cy="1051560"/>
          </a:xfrm>
          <a:prstGeom prst="roundRect">
            <a:avLst>
              <a:gd name="adj" fmla="val 6957"/>
            </a:avLst>
          </a:prstGeom>
          <a:solidFill>
            <a:schemeClr val="tx2"/>
          </a:solidFill>
          <a:ln/>
        </p:spPr>
      </p:sp>
      <p:sp>
        <p:nvSpPr>
          <p:cNvPr id="9" name="Text 6"/>
          <p:cNvSpPr txBox="1"/>
          <p:nvPr/>
        </p:nvSpPr>
        <p:spPr>
          <a:xfrm>
            <a:off x="685800" y="1508760"/>
            <a:ext cx="2240280" cy="868680"/>
          </a:xfrm>
          <a:prstGeom prst="rect">
            <a:avLst/>
          </a:prstGeom>
          <a:noFill/>
          <a:ln/>
        </p:spPr>
        <p:txBody>
          <a:bodyPr wrap="square" lIns="0" tIns="0" rIns="0" bIns="0" rtlCol="0" anchor="ctr"/>
          <a:lstStyle/>
          <a:p>
            <a:pPr indent="0" marL="0">
              <a:buNone/>
            </a:pPr>
            <a:r>
              <a:rPr lang="en-US" sz="2800" b="1" dirty="0">
                <a:solidFill>
                  <a:schemeClr val="accent1"/>
                </a:solidFill>
                <a:latin typeface="+mj-lt" pitchFamily="34" charset="0"/>
                <a:ea typeface="+mj-lt" pitchFamily="34" charset="-122"/>
                <a:cs typeface="+mj-lt" pitchFamily="34" charset="-120"/>
              </a:rPr>
              <a:t>108 → 102</a:t>
            </a:r>
            <a:endParaRPr lang="en-US" sz="2800" dirty="0"/>
          </a:p>
        </p:txBody>
      </p:sp>
      <p:sp>
        <p:nvSpPr>
          <p:cNvPr id="10" name="Text 7"/>
          <p:cNvSpPr txBox="1"/>
          <p:nvPr/>
        </p:nvSpPr>
        <p:spPr>
          <a:xfrm>
            <a:off x="3017520" y="1508760"/>
            <a:ext cx="2606040" cy="868680"/>
          </a:xfrm>
          <a:prstGeom prst="rect">
            <a:avLst/>
          </a:prstGeom>
          <a:noFill/>
          <a:ln/>
        </p:spPr>
        <p:txBody>
          <a:bodyPr wrap="square" lIns="0" tIns="0" rIns="0" bIns="0" rtlCol="0" anchor="ctr"/>
          <a:lstStyle/>
          <a:p>
            <a:pPr indent="0" marL="0">
              <a:buNone/>
            </a:pPr>
            <a:r>
              <a:rPr lang="en-US" sz="1200" dirty="0">
                <a:solidFill>
                  <a:schemeClr val="bg1"/>
                </a:solidFill>
              </a:rPr>
              <a:t>missing numeric cells before → after interpolation (gaps of up to 2 steps)</a:t>
            </a:r>
            <a:endParaRPr lang="en-US" sz="1200" dirty="0"/>
          </a:p>
        </p:txBody>
      </p:sp>
      <p:sp>
        <p:nvSpPr>
          <p:cNvPr id="11" name="Text 8"/>
          <p:cNvSpPr txBox="1"/>
          <p:nvPr/>
        </p:nvSpPr>
        <p:spPr>
          <a:xfrm>
            <a:off x="457200" y="2697480"/>
            <a:ext cx="5349240" cy="228600"/>
          </a:xfrm>
          <a:prstGeom prst="rect">
            <a:avLst/>
          </a:prstGeom>
          <a:noFill/>
          <a:ln/>
        </p:spPr>
        <p:txBody>
          <a:bodyPr wrap="square" lIns="0" tIns="0" rIns="0" bIns="0" rtlCol="0" anchor="t"/>
          <a:lstStyle/>
          <a:p>
            <a:pPr indent="0" marL="0">
              <a:buNone/>
            </a:pPr>
            <a:r>
              <a:rPr lang="en-US" sz="1100" b="1" spc="150" kern="0" dirty="0">
                <a:solidFill>
                  <a:schemeClr val="accent3"/>
                </a:solidFill>
              </a:rPr>
              <a:t>WHY THIS PLOT</a:t>
            </a:r>
            <a:endParaRPr lang="en-US" sz="1100" dirty="0"/>
          </a:p>
        </p:txBody>
      </p:sp>
      <p:sp>
        <p:nvSpPr>
          <p:cNvPr id="12" name="Text 9"/>
          <p:cNvSpPr txBox="1"/>
          <p:nvPr/>
        </p:nvSpPr>
        <p:spPr>
          <a:xfrm>
            <a:off x="457200" y="2944368"/>
            <a:ext cx="5349240" cy="777240"/>
          </a:xfrm>
          <a:prstGeom prst="rect">
            <a:avLst/>
          </a:prstGeom>
          <a:noFill/>
          <a:ln/>
        </p:spPr>
        <p:txBody>
          <a:bodyPr wrap="square" lIns="0" tIns="0" rIns="0" bIns="0" rtlCol="0" anchor="t"/>
          <a:lstStyle/>
          <a:p>
            <a:pPr indent="0" marL="0">
              <a:buNone/>
            </a:pPr>
            <a:r>
              <a:rPr lang="en-US" sz="1200" i="1" dirty="0">
                <a:solidFill>
                  <a:schemeClr val="accent3"/>
                </a:solidFill>
              </a:rPr>
              <a:t>A bar chart ranks the columns by missing count at a glance. The physical-range checks are simple counts that should all be zero.</a:t>
            </a:r>
            <a:endParaRPr lang="en-US" sz="1200" dirty="0"/>
          </a:p>
        </p:txBody>
      </p:sp>
      <p:sp>
        <p:nvSpPr>
          <p:cNvPr id="13" name="Text 10"/>
          <p:cNvSpPr txBox="1"/>
          <p:nvPr/>
        </p:nvSpPr>
        <p:spPr>
          <a:xfrm>
            <a:off x="457200" y="3794760"/>
            <a:ext cx="5349240" cy="228600"/>
          </a:xfrm>
          <a:prstGeom prst="rect">
            <a:avLst/>
          </a:prstGeom>
          <a:noFill/>
          <a:ln/>
        </p:spPr>
        <p:txBody>
          <a:bodyPr wrap="square" lIns="0" tIns="0" rIns="0" bIns="0" rtlCol="0" anchor="t"/>
          <a:lstStyle/>
          <a:p>
            <a:pPr indent="0" marL="0">
              <a:buNone/>
            </a:pPr>
            <a:r>
              <a:rPr lang="en-US" sz="1100" b="1" spc="150" kern="0" dirty="0">
                <a:solidFill>
                  <a:schemeClr val="accent3"/>
                </a:solidFill>
              </a:rPr>
              <a:t>WHAT THE DATA SAYS</a:t>
            </a:r>
            <a:endParaRPr lang="en-US" sz="1100" dirty="0"/>
          </a:p>
        </p:txBody>
      </p:sp>
      <p:sp>
        <p:nvSpPr>
          <p:cNvPr id="14" name="Text 11"/>
          <p:cNvSpPr txBox="1"/>
          <p:nvPr/>
        </p:nvSpPr>
        <p:spPr>
          <a:xfrm>
            <a:off x="457200" y="4069080"/>
            <a:ext cx="5349240" cy="2286000"/>
          </a:xfrm>
          <a:prstGeom prst="rect">
            <a:avLst/>
          </a:prstGeom>
          <a:noFill/>
          <a:ln/>
        </p:spPr>
        <p:txBody>
          <a:bodyPr wrap="square" lIns="0" tIns="0" rIns="0" bIns="0" rtlCol="0" anchor="t"/>
          <a:lstStyle/>
          <a:p>
            <a:pPr indent="0" marL="0">
              <a:lnSpc>
                <a:spcPts val="1900"/>
              </a:lnSpc>
              <a:buNone/>
            </a:pPr>
            <a:r>
              <a:rPr lang="en-US" sz="1400" dirty="0">
                <a:solidFill>
                  <a:schemeClr val="tx1"/>
                </a:solidFill>
              </a:rPr>
              <a:t>Only the three radiation columns have gaps: 36 values each, all in the newest data (2026-08-01 to 2026-10-10). Interpolation fills only gaps of up to 2 steps; the rest stay missing instead of invented. The target is never fabricated: 2026-10-12 returned the fill value (−999) and was excluded. Four physical checks (negative rain, humidity outside 0–100%, negative wind, Tmin above Tmax) all returned 0.</a:t>
            </a:r>
            <a:endParaRPr lang="en-US" sz="1400" dirty="0"/>
          </a:p>
        </p:txBody>
      </p:sp>
      <p:sp>
        <p:nvSpPr>
          <p:cNvPr id="25" name="Slide Number Placeholder 0"/>
          <p:cNvSpPr>
            <a:spLocks noGrp="1"/>
          </p:cNvSpPr>
          <p:nvPr>
            <p:ph type="sldNum" sz="quarter" idx="4294967295"/>
          </p:nvPr>
        </p:nvSpPr>
        <p:spPr>
          <a:xfrm>
            <a:off x="11064240" y="6446520"/>
            <a:ext cx="66751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086"/>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7104888" y="457200"/>
            <a:ext cx="4626864" cy="777240"/>
          </a:xfrm>
          <a:prstGeom prst="rect">
            <a:avLst/>
          </a:prstGeom>
          <a:noFill/>
          <a:ln/>
        </p:spPr>
        <p:txBody>
          <a:bodyPr wrap="square" lIns="0" tIns="0" rIns="0" bIns="0" rtlCol="0" anchor="ctr"/>
          <a:lstStyle/>
          <a:p>
            <a:pPr algn="l" indent="0" marL="0">
              <a:buNone/>
            </a:pPr>
            <a:r>
              <a:rPr lang="en-US" sz="2000" b="1" dirty="0">
                <a:solidFill>
                  <a:schemeClr val="tx1"/>
                </a:solidFill>
              </a:rPr>
              <a:t>What is the overall distribution of Cairo's temperature?</a:t>
            </a:r>
            <a:endParaRPr lang="en-US" sz="2000" dirty="0"/>
          </a:p>
        </p:txBody>
      </p:sp>
      <p:sp>
        <p:nvSpPr>
          <p:cNvPr id="3" name="Badge Q3"/>
          <p:cNvSpPr/>
          <p:nvPr/>
        </p:nvSpPr>
        <p:spPr>
          <a:xfrm>
            <a:off x="6355080" y="502920"/>
            <a:ext cx="566928" cy="566928"/>
          </a:xfrm>
          <a:prstGeom prst="ellipse">
            <a:avLst/>
          </a:prstGeom>
          <a:solidFill>
            <a:schemeClr val="tx2"/>
          </a:solidFill>
          <a:ln/>
        </p:spPr>
      </p:sp>
      <p:sp>
        <p:nvSpPr>
          <p:cNvPr id="4" name="Text 2"/>
          <p:cNvSpPr txBox="1"/>
          <p:nvPr/>
        </p:nvSpPr>
        <p:spPr>
          <a:xfrm>
            <a:off x="6355080" y="502920"/>
            <a:ext cx="566928" cy="566928"/>
          </a:xfrm>
          <a:prstGeom prst="rect">
            <a:avLst/>
          </a:prstGeom>
          <a:noFill/>
          <a:ln/>
        </p:spPr>
        <p:txBody>
          <a:bodyPr wrap="square" lIns="0" tIns="0" rIns="0" bIns="0" rtlCol="0" anchor="ctr"/>
          <a:lstStyle/>
          <a:p>
            <a:pPr algn="ctr" indent="0" marL="0">
              <a:buNone/>
            </a:pPr>
            <a:r>
              <a:rPr lang="en-US" sz="1900" b="1" dirty="0">
                <a:solidFill>
                  <a:schemeClr val="accent1"/>
                </a:solidFill>
                <a:latin typeface="+mj-lt" pitchFamily="34" charset="0"/>
                <a:ea typeface="+mj-lt" pitchFamily="34" charset="-122"/>
                <a:cs typeface="+mj-lt" pitchFamily="34" charset="-120"/>
              </a:rPr>
              <a:t>Q3</a:t>
            </a:r>
            <a:endParaRPr lang="en-US" sz="1900" dirty="0"/>
          </a:p>
        </p:txBody>
      </p:sp>
      <p:sp>
        <p:nvSpPr>
          <p:cNvPr id="5" name="Chart card"/>
          <p:cNvSpPr/>
          <p:nvPr/>
        </p:nvSpPr>
        <p:spPr>
          <a:xfrm>
            <a:off x="457200" y="2118382"/>
            <a:ext cx="5349240" cy="3535636"/>
          </a:xfrm>
          <a:prstGeom prst="roundRect">
            <a:avLst>
              <a:gd name="adj" fmla="val 2069"/>
            </a:avLst>
          </a:prstGeom>
          <a:solidFill>
            <a:schemeClr val="bg1"/>
          </a:solidFill>
          <a:ln w="12700">
            <a:solidFill>
              <a:srgbClr val="DEDFE8"/>
            </a:solidFill>
            <a:prstDash val="solid"/>
          </a:ln>
          <a:effectLst>
            <a:outerShdw sx="100000" sy="100000" kx="0" ky="0" algn="bl" rotWithShape="0" blurRad="101600" dist="38100" dir="5400000">
              <a:srgbClr val="1B1F2A">
                <a:alpha val="16000"/>
              </a:srgbClr>
            </a:outerShdw>
          </a:effectLst>
        </p:spPr>
      </p:sp>
      <p:pic>
        <p:nvPicPr>
          <p:cNvPr id="6" name="Chart image" descr="Histograms of temperature, precipitation, log precipitation and relative humidity">    </p:cNvPr>
          <p:cNvPicPr>
            <a:picLocks noChangeAspect="1"/>
          </p:cNvPicPr>
          <p:nvPr/>
        </p:nvPicPr>
        <p:blipFill>
          <a:blip r:embed="rId1"/>
          <a:stretch>
            <a:fillRect/>
          </a:stretch>
        </p:blipFill>
        <p:spPr>
          <a:xfrm>
            <a:off x="621792" y="2282974"/>
            <a:ext cx="5020056" cy="3206452"/>
          </a:xfrm>
          <a:prstGeom prst="rect">
            <a:avLst/>
          </a:prstGeom>
        </p:spPr>
      </p:pic>
      <p:sp>
        <p:nvSpPr>
          <p:cNvPr id="7" name="Stat callout"/>
          <p:cNvSpPr/>
          <p:nvPr/>
        </p:nvSpPr>
        <p:spPr>
          <a:xfrm>
            <a:off x="6355080" y="1417320"/>
            <a:ext cx="5349240" cy="1051560"/>
          </a:xfrm>
          <a:prstGeom prst="roundRect">
            <a:avLst>
              <a:gd name="adj" fmla="val 6957"/>
            </a:avLst>
          </a:prstGeom>
          <a:solidFill>
            <a:schemeClr val="tx2"/>
          </a:solidFill>
          <a:ln/>
        </p:spPr>
      </p:sp>
      <p:sp>
        <p:nvSpPr>
          <p:cNvPr id="8" name="Text 5"/>
          <p:cNvSpPr txBox="1"/>
          <p:nvPr/>
        </p:nvSpPr>
        <p:spPr>
          <a:xfrm>
            <a:off x="6583680" y="1508760"/>
            <a:ext cx="2240280" cy="868680"/>
          </a:xfrm>
          <a:prstGeom prst="rect">
            <a:avLst/>
          </a:prstGeom>
          <a:noFill/>
          <a:ln/>
        </p:spPr>
        <p:txBody>
          <a:bodyPr wrap="square" lIns="0" tIns="0" rIns="0" bIns="0" rtlCol="0" anchor="ctr"/>
          <a:lstStyle/>
          <a:p>
            <a:pPr indent="0" marL="0">
              <a:buNone/>
            </a:pPr>
            <a:r>
              <a:rPr lang="en-US" sz="2800" b="1" dirty="0">
                <a:solidFill>
                  <a:schemeClr val="accent1"/>
                </a:solidFill>
                <a:latin typeface="+mj-lt" pitchFamily="34" charset="0"/>
                <a:ea typeface="+mj-lt" pitchFamily="34" charset="-122"/>
                <a:cs typeface="+mj-lt" pitchFamily="34" charset="-120"/>
              </a:rPr>
              <a:t>22.5 °C</a:t>
            </a:r>
            <a:endParaRPr lang="en-US" sz="2800" dirty="0"/>
          </a:p>
        </p:txBody>
      </p:sp>
      <p:sp>
        <p:nvSpPr>
          <p:cNvPr id="9" name="Text 6"/>
          <p:cNvSpPr txBox="1"/>
          <p:nvPr/>
        </p:nvSpPr>
        <p:spPr>
          <a:xfrm>
            <a:off x="8915400" y="1508760"/>
            <a:ext cx="2606040" cy="868680"/>
          </a:xfrm>
          <a:prstGeom prst="rect">
            <a:avLst/>
          </a:prstGeom>
          <a:noFill/>
          <a:ln/>
        </p:spPr>
        <p:txBody>
          <a:bodyPr wrap="square" lIns="0" tIns="0" rIns="0" bIns="0" rtlCol="0" anchor="ctr"/>
          <a:lstStyle/>
          <a:p>
            <a:pPr indent="0" marL="0">
              <a:buNone/>
            </a:pPr>
            <a:r>
              <a:rPr lang="en-US" sz="1200" dirty="0">
                <a:solidFill>
                  <a:schemeClr val="bg1"/>
                </a:solidFill>
              </a:rPr>
              <a:t>mean temperature (median 23.2, std 6.9, range 6.6 – 35.0 °C)</a:t>
            </a:r>
            <a:endParaRPr lang="en-US" sz="1200" dirty="0"/>
          </a:p>
        </p:txBody>
      </p:sp>
      <p:sp>
        <p:nvSpPr>
          <p:cNvPr id="10" name="Text 7"/>
          <p:cNvSpPr txBox="1"/>
          <p:nvPr/>
        </p:nvSpPr>
        <p:spPr>
          <a:xfrm>
            <a:off x="6355080" y="2697480"/>
            <a:ext cx="5349240" cy="228600"/>
          </a:xfrm>
          <a:prstGeom prst="rect">
            <a:avLst/>
          </a:prstGeom>
          <a:noFill/>
          <a:ln/>
        </p:spPr>
        <p:txBody>
          <a:bodyPr wrap="square" lIns="0" tIns="0" rIns="0" bIns="0" rtlCol="0" anchor="t"/>
          <a:lstStyle/>
          <a:p>
            <a:pPr indent="0" marL="0">
              <a:buNone/>
            </a:pPr>
            <a:r>
              <a:rPr lang="en-US" sz="1100" b="1" spc="150" kern="0" dirty="0">
                <a:solidFill>
                  <a:schemeClr val="accent3"/>
                </a:solidFill>
              </a:rPr>
              <a:t>WHY THIS PLOT</a:t>
            </a:r>
            <a:endParaRPr lang="en-US" sz="1100" dirty="0"/>
          </a:p>
        </p:txBody>
      </p:sp>
      <p:sp>
        <p:nvSpPr>
          <p:cNvPr id="11" name="Text 8"/>
          <p:cNvSpPr txBox="1"/>
          <p:nvPr/>
        </p:nvSpPr>
        <p:spPr>
          <a:xfrm>
            <a:off x="6355080" y="2944368"/>
            <a:ext cx="5349240" cy="777240"/>
          </a:xfrm>
          <a:prstGeom prst="rect">
            <a:avLst/>
          </a:prstGeom>
          <a:noFill/>
          <a:ln/>
        </p:spPr>
        <p:txBody>
          <a:bodyPr wrap="square" lIns="0" tIns="0" rIns="0" bIns="0" rtlCol="0" anchor="t"/>
          <a:lstStyle/>
          <a:p>
            <a:pPr indent="0" marL="0">
              <a:buNone/>
            </a:pPr>
            <a:r>
              <a:rPr lang="en-US" sz="1200" i="1" dirty="0">
                <a:solidFill>
                  <a:schemeClr val="accent3"/>
                </a:solidFill>
              </a:rPr>
              <a:t>A histogram with a KDE curve shows the shape of one variable. Rainfall also gets a log(1 + x) view because its distribution is extremely skewed.</a:t>
            </a:r>
            <a:endParaRPr lang="en-US" sz="1200" dirty="0"/>
          </a:p>
        </p:txBody>
      </p:sp>
      <p:sp>
        <p:nvSpPr>
          <p:cNvPr id="12" name="Text 9"/>
          <p:cNvSpPr txBox="1"/>
          <p:nvPr/>
        </p:nvSpPr>
        <p:spPr>
          <a:xfrm>
            <a:off x="6355080" y="3794760"/>
            <a:ext cx="5349240" cy="228600"/>
          </a:xfrm>
          <a:prstGeom prst="rect">
            <a:avLst/>
          </a:prstGeom>
          <a:noFill/>
          <a:ln/>
        </p:spPr>
        <p:txBody>
          <a:bodyPr wrap="square" lIns="0" tIns="0" rIns="0" bIns="0" rtlCol="0" anchor="t"/>
          <a:lstStyle/>
          <a:p>
            <a:pPr indent="0" marL="0">
              <a:buNone/>
            </a:pPr>
            <a:r>
              <a:rPr lang="en-US" sz="1100" b="1" spc="150" kern="0" dirty="0">
                <a:solidFill>
                  <a:schemeClr val="accent3"/>
                </a:solidFill>
              </a:rPr>
              <a:t>WHAT THE DATA SAYS</a:t>
            </a:r>
            <a:endParaRPr lang="en-US" sz="1100" dirty="0"/>
          </a:p>
        </p:txBody>
      </p:sp>
      <p:sp>
        <p:nvSpPr>
          <p:cNvPr id="13" name="Text 10"/>
          <p:cNvSpPr txBox="1"/>
          <p:nvPr/>
        </p:nvSpPr>
        <p:spPr>
          <a:xfrm>
            <a:off x="6355080" y="4069080"/>
            <a:ext cx="5349240" cy="2286000"/>
          </a:xfrm>
          <a:prstGeom prst="rect">
            <a:avLst/>
          </a:prstGeom>
          <a:noFill/>
          <a:ln/>
        </p:spPr>
        <p:txBody>
          <a:bodyPr wrap="square" lIns="0" tIns="0" rIns="0" bIns="0" rtlCol="0" anchor="t"/>
          <a:lstStyle/>
          <a:p>
            <a:pPr indent="0" marL="0">
              <a:lnSpc>
                <a:spcPts val="1900"/>
              </a:lnSpc>
              <a:buNone/>
            </a:pPr>
            <a:r>
              <a:rPr lang="en-US" sz="1400" dirty="0">
                <a:solidFill>
                  <a:schemeClr val="tx1"/>
                </a:solidFill>
              </a:rPr>
              <a:t>Temperature is bimodal: one peak near 15 °C (winter) and one near 30 °C (summer), so the mean sits in a valley where few observations fall. Rainfall is the opposite: 74% of observations are exactly 0 mm, and just 10 observations hold 52% of all rain (maximum 26 mm). Humidity is roughly symmetric around 51%.</a:t>
            </a:r>
            <a:endParaRPr lang="en-US" sz="1400" dirty="0"/>
          </a:p>
        </p:txBody>
      </p:sp>
      <p:sp>
        <p:nvSpPr>
          <p:cNvPr id="25" name="Slide Number Placeholder 0"/>
          <p:cNvSpPr>
            <a:spLocks noGrp="1"/>
          </p:cNvSpPr>
          <p:nvPr>
            <p:ph type="sldNum" sz="quarter" idx="4294967295"/>
          </p:nvPr>
        </p:nvSpPr>
        <p:spPr>
          <a:xfrm>
            <a:off x="11064240" y="6446520"/>
            <a:ext cx="66751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086"/>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1207008" y="457200"/>
            <a:ext cx="10515600" cy="777240"/>
          </a:xfrm>
          <a:prstGeom prst="rect">
            <a:avLst/>
          </a:prstGeom>
          <a:noFill/>
          <a:ln/>
        </p:spPr>
        <p:txBody>
          <a:bodyPr wrap="square" lIns="0" tIns="0" rIns="0" bIns="0" rtlCol="0" anchor="ctr"/>
          <a:lstStyle/>
          <a:p>
            <a:pPr algn="l" indent="0" marL="0">
              <a:buNone/>
            </a:pPr>
            <a:r>
              <a:rPr lang="en-US" sz="2000" b="1" dirty="0">
                <a:solidFill>
                  <a:schemeClr val="tx1"/>
                </a:solidFill>
              </a:rPr>
              <a:t>Does Cairo's temperature have a long-term trend?</a:t>
            </a:r>
            <a:endParaRPr lang="en-US" sz="2000" dirty="0"/>
          </a:p>
        </p:txBody>
      </p:sp>
      <p:sp>
        <p:nvSpPr>
          <p:cNvPr id="3" name="Badge Q4"/>
          <p:cNvSpPr/>
          <p:nvPr/>
        </p:nvSpPr>
        <p:spPr>
          <a:xfrm>
            <a:off x="457200" y="502920"/>
            <a:ext cx="566928" cy="566928"/>
          </a:xfrm>
          <a:prstGeom prst="ellipse">
            <a:avLst/>
          </a:prstGeom>
          <a:solidFill>
            <a:schemeClr val="tx2"/>
          </a:solidFill>
          <a:ln/>
        </p:spPr>
      </p:sp>
      <p:sp>
        <p:nvSpPr>
          <p:cNvPr id="4" name="Text 2"/>
          <p:cNvSpPr txBox="1"/>
          <p:nvPr/>
        </p:nvSpPr>
        <p:spPr>
          <a:xfrm>
            <a:off x="457200" y="502920"/>
            <a:ext cx="566928" cy="566928"/>
          </a:xfrm>
          <a:prstGeom prst="rect">
            <a:avLst/>
          </a:prstGeom>
          <a:noFill/>
          <a:ln/>
        </p:spPr>
        <p:txBody>
          <a:bodyPr wrap="square" lIns="0" tIns="0" rIns="0" bIns="0" rtlCol="0" anchor="ctr"/>
          <a:lstStyle/>
          <a:p>
            <a:pPr algn="ctr" indent="0" marL="0">
              <a:buNone/>
            </a:pPr>
            <a:r>
              <a:rPr lang="en-US" sz="1900" b="1" dirty="0">
                <a:solidFill>
                  <a:schemeClr val="accent1"/>
                </a:solidFill>
                <a:latin typeface="+mj-lt" pitchFamily="34" charset="0"/>
                <a:ea typeface="+mj-lt" pitchFamily="34" charset="-122"/>
                <a:cs typeface="+mj-lt" pitchFamily="34" charset="-120"/>
              </a:rPr>
              <a:t>Q4</a:t>
            </a:r>
            <a:endParaRPr lang="en-US" sz="1900" dirty="0"/>
          </a:p>
        </p:txBody>
      </p:sp>
      <p:sp>
        <p:nvSpPr>
          <p:cNvPr id="5" name="Chart card"/>
          <p:cNvSpPr/>
          <p:nvPr/>
        </p:nvSpPr>
        <p:spPr>
          <a:xfrm>
            <a:off x="457200" y="1371600"/>
            <a:ext cx="11274552" cy="3017520"/>
          </a:xfrm>
          <a:prstGeom prst="roundRect">
            <a:avLst>
              <a:gd name="adj" fmla="val 2424"/>
            </a:avLst>
          </a:prstGeom>
          <a:solidFill>
            <a:schemeClr val="bg1"/>
          </a:solidFill>
          <a:ln w="12700">
            <a:solidFill>
              <a:srgbClr val="DEDFE8"/>
            </a:solidFill>
            <a:prstDash val="solid"/>
          </a:ln>
          <a:effectLst>
            <a:outerShdw sx="100000" sy="100000" kx="0" ky="0" algn="bl" rotWithShape="0" blurRad="101600" dist="38100" dir="5400000">
              <a:srgbClr val="1B1F2A">
                <a:alpha val="16000"/>
              </a:srgbClr>
            </a:outerShdw>
          </a:effectLst>
        </p:spPr>
      </p:sp>
      <p:pic>
        <p:nvPicPr>
          <p:cNvPr id="6" name="Chart image" descr="Temperature over time with 30-day rolling mean and linear trend line">    </p:cNvPr>
          <p:cNvPicPr>
            <a:picLocks noChangeAspect="1"/>
          </p:cNvPicPr>
          <p:nvPr/>
        </p:nvPicPr>
        <p:blipFill>
          <a:blip r:embed="rId1"/>
          <a:stretch>
            <a:fillRect/>
          </a:stretch>
        </p:blipFill>
        <p:spPr>
          <a:xfrm>
            <a:off x="1599813" y="1536192"/>
            <a:ext cx="8989327" cy="2688336"/>
          </a:xfrm>
          <a:prstGeom prst="rect">
            <a:avLst/>
          </a:prstGeom>
        </p:spPr>
      </p:pic>
      <p:sp>
        <p:nvSpPr>
          <p:cNvPr id="7" name="Stat callout"/>
          <p:cNvSpPr/>
          <p:nvPr/>
        </p:nvSpPr>
        <p:spPr>
          <a:xfrm>
            <a:off x="457200" y="4617720"/>
            <a:ext cx="3383280" cy="1737360"/>
          </a:xfrm>
          <a:prstGeom prst="roundRect">
            <a:avLst>
              <a:gd name="adj" fmla="val 4211"/>
            </a:avLst>
          </a:prstGeom>
          <a:solidFill>
            <a:schemeClr val="tx2"/>
          </a:solidFill>
          <a:ln/>
        </p:spPr>
      </p:sp>
      <p:sp>
        <p:nvSpPr>
          <p:cNvPr id="8" name="Text 5"/>
          <p:cNvSpPr txBox="1"/>
          <p:nvPr/>
        </p:nvSpPr>
        <p:spPr>
          <a:xfrm>
            <a:off x="731520" y="4818888"/>
            <a:ext cx="2834640" cy="640080"/>
          </a:xfrm>
          <a:prstGeom prst="rect">
            <a:avLst/>
          </a:prstGeom>
          <a:noFill/>
          <a:ln/>
        </p:spPr>
        <p:txBody>
          <a:bodyPr wrap="square" lIns="0" tIns="0" rIns="0" bIns="0" rtlCol="0" anchor="ctr"/>
          <a:lstStyle/>
          <a:p>
            <a:pPr indent="0" marL="0">
              <a:buNone/>
            </a:pPr>
            <a:r>
              <a:rPr lang="en-US" sz="3200" b="1" dirty="0">
                <a:solidFill>
                  <a:schemeClr val="accent1"/>
                </a:solidFill>
                <a:latin typeface="+mj-lt" pitchFamily="34" charset="0"/>
                <a:ea typeface="+mj-lt" pitchFamily="34" charset="-122"/>
                <a:cs typeface="+mj-lt" pitchFamily="34" charset="-120"/>
              </a:rPr>
              <a:t>+0.49 °C/yr</a:t>
            </a:r>
            <a:endParaRPr lang="en-US" sz="3200" dirty="0"/>
          </a:p>
        </p:txBody>
      </p:sp>
      <p:sp>
        <p:nvSpPr>
          <p:cNvPr id="9" name="Text 6"/>
          <p:cNvSpPr txBox="1"/>
          <p:nvPr/>
        </p:nvSpPr>
        <p:spPr>
          <a:xfrm>
            <a:off x="731520" y="5486400"/>
            <a:ext cx="2834640" cy="731520"/>
          </a:xfrm>
          <a:prstGeom prst="rect">
            <a:avLst/>
          </a:prstGeom>
          <a:noFill/>
          <a:ln/>
        </p:spPr>
        <p:txBody>
          <a:bodyPr wrap="square" lIns="0" tIns="0" rIns="0" bIns="0" rtlCol="0" anchor="t"/>
          <a:lstStyle/>
          <a:p>
            <a:pPr indent="0" marL="0">
              <a:buNone/>
            </a:pPr>
            <a:r>
              <a:rPr lang="en-US" sz="1300" dirty="0">
                <a:solidFill>
                  <a:schemeClr val="bg1"/>
                </a:solidFill>
              </a:rPr>
              <a:t>slope of the raw series (p = 0.0001), inflated: see the caveat</a:t>
            </a:r>
            <a:endParaRPr lang="en-US" sz="1300" dirty="0"/>
          </a:p>
        </p:txBody>
      </p:sp>
      <p:sp>
        <p:nvSpPr>
          <p:cNvPr id="10" name="Text 7"/>
          <p:cNvSpPr txBox="1"/>
          <p:nvPr/>
        </p:nvSpPr>
        <p:spPr>
          <a:xfrm>
            <a:off x="4160520" y="4617720"/>
            <a:ext cx="7571232" cy="228600"/>
          </a:xfrm>
          <a:prstGeom prst="rect">
            <a:avLst/>
          </a:prstGeom>
          <a:noFill/>
          <a:ln/>
        </p:spPr>
        <p:txBody>
          <a:bodyPr wrap="square" lIns="0" tIns="0" rIns="0" bIns="0" rtlCol="0" anchor="t"/>
          <a:lstStyle/>
          <a:p>
            <a:pPr indent="0" marL="0">
              <a:buNone/>
            </a:pPr>
            <a:r>
              <a:rPr lang="en-US" sz="1100" b="1" spc="150" kern="0" dirty="0">
                <a:solidFill>
                  <a:schemeClr val="accent3"/>
                </a:solidFill>
              </a:rPr>
              <a:t>WHY THIS PLOT</a:t>
            </a:r>
            <a:endParaRPr lang="en-US" sz="1100" dirty="0"/>
          </a:p>
        </p:txBody>
      </p:sp>
      <p:sp>
        <p:nvSpPr>
          <p:cNvPr id="11" name="Text 8"/>
          <p:cNvSpPr txBox="1"/>
          <p:nvPr/>
        </p:nvSpPr>
        <p:spPr>
          <a:xfrm>
            <a:off x="4160520" y="4864608"/>
            <a:ext cx="7571232" cy="457200"/>
          </a:xfrm>
          <a:prstGeom prst="rect">
            <a:avLst/>
          </a:prstGeom>
          <a:noFill/>
          <a:ln/>
        </p:spPr>
        <p:txBody>
          <a:bodyPr wrap="square" lIns="0" tIns="0" rIns="0" bIns="0" rtlCol="0" anchor="t"/>
          <a:lstStyle/>
          <a:p>
            <a:pPr indent="0" marL="0">
              <a:buNone/>
            </a:pPr>
            <a:r>
              <a:rPr lang="en-US" sz="1200" i="1" dirty="0">
                <a:solidFill>
                  <a:schemeClr val="accent3"/>
                </a:solidFill>
              </a:rPr>
              <a:t>A line plot over time with a 30-day rolling mean (smooths the noise) and a straight-line fit (tests for drift).</a:t>
            </a:r>
            <a:endParaRPr lang="en-US" sz="1200" dirty="0"/>
          </a:p>
        </p:txBody>
      </p:sp>
      <p:sp>
        <p:nvSpPr>
          <p:cNvPr id="12" name="Text 9"/>
          <p:cNvSpPr txBox="1"/>
          <p:nvPr/>
        </p:nvSpPr>
        <p:spPr>
          <a:xfrm>
            <a:off x="4160520" y="5349240"/>
            <a:ext cx="7571232" cy="1005840"/>
          </a:xfrm>
          <a:prstGeom prst="rect">
            <a:avLst/>
          </a:prstGeom>
          <a:noFill/>
          <a:ln/>
        </p:spPr>
        <p:txBody>
          <a:bodyPr wrap="square" lIns="0" tIns="0" rIns="0" bIns="0" rtlCol="0" anchor="t"/>
          <a:lstStyle/>
          <a:p>
            <a:pPr indent="0" marL="0">
              <a:lnSpc>
                <a:spcPts val="1800"/>
              </a:lnSpc>
              <a:buNone/>
            </a:pPr>
            <a:r>
              <a:rPr lang="en-US" sz="1400" dirty="0">
                <a:solidFill>
                  <a:schemeClr val="tx1"/>
                </a:solidFill>
              </a:rPr>
              <a:t>The rolling mean swings between 9.7 °C and 32.2 °C every year, dwarfing the fitted line. The raw slope is inflated because the series starts in cold January and ends in October, and 2026 lacks its cool Nov–Dec. On full years 2021–2025 the slope is +0.16 °C/yr (p = 0.30); on seasonally adjusted data it is +0.12 ± 0.09 °C/yr.</a:t>
            </a:r>
            <a:endParaRPr lang="en-US" sz="1400" dirty="0"/>
          </a:p>
        </p:txBody>
      </p:sp>
      <p:sp>
        <p:nvSpPr>
          <p:cNvPr id="25" name="Slide Number Placeholder 0"/>
          <p:cNvSpPr>
            <a:spLocks noGrp="1"/>
          </p:cNvSpPr>
          <p:nvPr>
            <p:ph type="sldNum" sz="quarter" idx="4294967295"/>
          </p:nvPr>
        </p:nvSpPr>
        <p:spPr>
          <a:xfrm>
            <a:off x="11064240" y="6446520"/>
            <a:ext cx="66751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086"/>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1207008" y="457200"/>
            <a:ext cx="10515600" cy="777240"/>
          </a:xfrm>
          <a:prstGeom prst="rect">
            <a:avLst/>
          </a:prstGeom>
          <a:noFill/>
          <a:ln/>
        </p:spPr>
        <p:txBody>
          <a:bodyPr wrap="square" lIns="0" tIns="0" rIns="0" bIns="0" rtlCol="0" anchor="ctr"/>
          <a:lstStyle/>
          <a:p>
            <a:pPr algn="l" indent="0" marL="0">
              <a:buNone/>
            </a:pPr>
            <a:r>
              <a:rPr lang="en-US" sz="2000" b="1" dirty="0">
                <a:solidFill>
                  <a:schemeClr val="tx1"/>
                </a:solidFill>
              </a:rPr>
              <a:t>When is Cairo hottest? The monthly and seasonal cycle</a:t>
            </a:r>
            <a:endParaRPr lang="en-US" sz="2000" dirty="0"/>
          </a:p>
        </p:txBody>
      </p:sp>
      <p:sp>
        <p:nvSpPr>
          <p:cNvPr id="3" name="Badge Q5"/>
          <p:cNvSpPr/>
          <p:nvPr/>
        </p:nvSpPr>
        <p:spPr>
          <a:xfrm>
            <a:off x="457200" y="502920"/>
            <a:ext cx="566928" cy="566928"/>
          </a:xfrm>
          <a:prstGeom prst="ellipse">
            <a:avLst/>
          </a:prstGeom>
          <a:solidFill>
            <a:schemeClr val="tx2"/>
          </a:solidFill>
          <a:ln/>
        </p:spPr>
      </p:sp>
      <p:sp>
        <p:nvSpPr>
          <p:cNvPr id="4" name="Text 2"/>
          <p:cNvSpPr txBox="1"/>
          <p:nvPr/>
        </p:nvSpPr>
        <p:spPr>
          <a:xfrm>
            <a:off x="457200" y="502920"/>
            <a:ext cx="566928" cy="566928"/>
          </a:xfrm>
          <a:prstGeom prst="rect">
            <a:avLst/>
          </a:prstGeom>
          <a:noFill/>
          <a:ln/>
        </p:spPr>
        <p:txBody>
          <a:bodyPr wrap="square" lIns="0" tIns="0" rIns="0" bIns="0" rtlCol="0" anchor="ctr"/>
          <a:lstStyle/>
          <a:p>
            <a:pPr algn="ctr" indent="0" marL="0">
              <a:buNone/>
            </a:pPr>
            <a:r>
              <a:rPr lang="en-US" sz="1900" b="1" dirty="0">
                <a:solidFill>
                  <a:schemeClr val="accent1"/>
                </a:solidFill>
                <a:latin typeface="+mj-lt" pitchFamily="34" charset="0"/>
                <a:ea typeface="+mj-lt" pitchFamily="34" charset="-122"/>
                <a:cs typeface="+mj-lt" pitchFamily="34" charset="-120"/>
              </a:rPr>
              <a:t>Q5</a:t>
            </a:r>
            <a:endParaRPr lang="en-US" sz="1900" dirty="0"/>
          </a:p>
        </p:txBody>
      </p:sp>
      <p:sp>
        <p:nvSpPr>
          <p:cNvPr id="5" name="Chart card"/>
          <p:cNvSpPr/>
          <p:nvPr/>
        </p:nvSpPr>
        <p:spPr>
          <a:xfrm>
            <a:off x="457200" y="1371600"/>
            <a:ext cx="11274552" cy="3017520"/>
          </a:xfrm>
          <a:prstGeom prst="roundRect">
            <a:avLst>
              <a:gd name="adj" fmla="val 2424"/>
            </a:avLst>
          </a:prstGeom>
          <a:solidFill>
            <a:schemeClr val="bg1"/>
          </a:solidFill>
          <a:ln w="12700">
            <a:solidFill>
              <a:srgbClr val="DEDFE8"/>
            </a:solidFill>
            <a:prstDash val="solid"/>
          </a:ln>
          <a:effectLst>
            <a:outerShdw sx="100000" sy="100000" kx="0" ky="0" algn="bl" rotWithShape="0" blurRad="101600" dist="38100" dir="5400000">
              <a:srgbClr val="1B1F2A">
                <a:alpha val="16000"/>
              </a:srgbClr>
            </a:outerShdw>
          </a:effectLst>
        </p:spPr>
      </p:sp>
      <p:pic>
        <p:nvPicPr>
          <p:cNvPr id="6" name="Chart image" descr="Boxplot and bar chart of temperature by month">    </p:cNvPr>
          <p:cNvPicPr>
            <a:picLocks noChangeAspect="1"/>
          </p:cNvPicPr>
          <p:nvPr/>
        </p:nvPicPr>
        <p:blipFill>
          <a:blip r:embed="rId1"/>
          <a:stretch>
            <a:fillRect/>
          </a:stretch>
        </p:blipFill>
        <p:spPr>
          <a:xfrm>
            <a:off x="1973101" y="1536192"/>
            <a:ext cx="8242749" cy="2688336"/>
          </a:xfrm>
          <a:prstGeom prst="rect">
            <a:avLst/>
          </a:prstGeom>
        </p:spPr>
      </p:pic>
      <p:sp>
        <p:nvSpPr>
          <p:cNvPr id="7" name="Stat callout"/>
          <p:cNvSpPr/>
          <p:nvPr/>
        </p:nvSpPr>
        <p:spPr>
          <a:xfrm>
            <a:off x="457200" y="4617720"/>
            <a:ext cx="3383280" cy="1737360"/>
          </a:xfrm>
          <a:prstGeom prst="roundRect">
            <a:avLst>
              <a:gd name="adj" fmla="val 4211"/>
            </a:avLst>
          </a:prstGeom>
          <a:solidFill>
            <a:schemeClr val="tx2"/>
          </a:solidFill>
          <a:ln/>
        </p:spPr>
      </p:sp>
      <p:sp>
        <p:nvSpPr>
          <p:cNvPr id="8" name="Text 5"/>
          <p:cNvSpPr txBox="1"/>
          <p:nvPr/>
        </p:nvSpPr>
        <p:spPr>
          <a:xfrm>
            <a:off x="731520" y="4818888"/>
            <a:ext cx="2834640" cy="640080"/>
          </a:xfrm>
          <a:prstGeom prst="rect">
            <a:avLst/>
          </a:prstGeom>
          <a:noFill/>
          <a:ln/>
        </p:spPr>
        <p:txBody>
          <a:bodyPr wrap="square" lIns="0" tIns="0" rIns="0" bIns="0" rtlCol="0" anchor="ctr"/>
          <a:lstStyle/>
          <a:p>
            <a:pPr indent="0" marL="0">
              <a:buNone/>
            </a:pPr>
            <a:r>
              <a:rPr lang="en-US" sz="3200" b="1" dirty="0">
                <a:solidFill>
                  <a:schemeClr val="accent1"/>
                </a:solidFill>
                <a:latin typeface="+mj-lt" pitchFamily="34" charset="0"/>
                <a:ea typeface="+mj-lt" pitchFamily="34" charset="-122"/>
                <a:cs typeface="+mj-lt" pitchFamily="34" charset="-120"/>
              </a:rPr>
              <a:t>30.9 °C</a:t>
            </a:r>
            <a:endParaRPr lang="en-US" sz="3200" dirty="0"/>
          </a:p>
        </p:txBody>
      </p:sp>
      <p:sp>
        <p:nvSpPr>
          <p:cNvPr id="9" name="Text 6"/>
          <p:cNvSpPr txBox="1"/>
          <p:nvPr/>
        </p:nvSpPr>
        <p:spPr>
          <a:xfrm>
            <a:off x="731520" y="5486400"/>
            <a:ext cx="2834640" cy="731520"/>
          </a:xfrm>
          <a:prstGeom prst="rect">
            <a:avLst/>
          </a:prstGeom>
          <a:noFill/>
          <a:ln/>
        </p:spPr>
        <p:txBody>
          <a:bodyPr wrap="square" lIns="0" tIns="0" rIns="0" bIns="0" rtlCol="0" anchor="t"/>
          <a:lstStyle/>
          <a:p>
            <a:pPr indent="0" marL="0">
              <a:buNone/>
            </a:pPr>
            <a:r>
              <a:rPr lang="en-US" sz="1300" dirty="0">
                <a:solidFill>
                  <a:schemeClr val="bg1"/>
                </a:solidFill>
              </a:rPr>
              <a:t>mean temperature in July, the hottest month (January is coldest at 13.3 °C)</a:t>
            </a:r>
            <a:endParaRPr lang="en-US" sz="1300" dirty="0"/>
          </a:p>
        </p:txBody>
      </p:sp>
      <p:sp>
        <p:nvSpPr>
          <p:cNvPr id="10" name="Text 7"/>
          <p:cNvSpPr txBox="1"/>
          <p:nvPr/>
        </p:nvSpPr>
        <p:spPr>
          <a:xfrm>
            <a:off x="4160520" y="4617720"/>
            <a:ext cx="7571232" cy="228600"/>
          </a:xfrm>
          <a:prstGeom prst="rect">
            <a:avLst/>
          </a:prstGeom>
          <a:noFill/>
          <a:ln/>
        </p:spPr>
        <p:txBody>
          <a:bodyPr wrap="square" lIns="0" tIns="0" rIns="0" bIns="0" rtlCol="0" anchor="t"/>
          <a:lstStyle/>
          <a:p>
            <a:pPr indent="0" marL="0">
              <a:buNone/>
            </a:pPr>
            <a:r>
              <a:rPr lang="en-US" sz="1100" b="1" spc="150" kern="0" dirty="0">
                <a:solidFill>
                  <a:schemeClr val="accent3"/>
                </a:solidFill>
              </a:rPr>
              <a:t>WHY THIS PLOT</a:t>
            </a:r>
            <a:endParaRPr lang="en-US" sz="1100" dirty="0"/>
          </a:p>
        </p:txBody>
      </p:sp>
      <p:sp>
        <p:nvSpPr>
          <p:cNvPr id="11" name="Text 8"/>
          <p:cNvSpPr txBox="1"/>
          <p:nvPr/>
        </p:nvSpPr>
        <p:spPr>
          <a:xfrm>
            <a:off x="4160520" y="4864608"/>
            <a:ext cx="7571232" cy="457200"/>
          </a:xfrm>
          <a:prstGeom prst="rect">
            <a:avLst/>
          </a:prstGeom>
          <a:noFill/>
          <a:ln/>
        </p:spPr>
        <p:txBody>
          <a:bodyPr wrap="square" lIns="0" tIns="0" rIns="0" bIns="0" rtlCol="0" anchor="t"/>
          <a:lstStyle/>
          <a:p>
            <a:pPr indent="0" marL="0">
              <a:buNone/>
            </a:pPr>
            <a:r>
              <a:rPr lang="en-US" sz="1200" i="1" dirty="0">
                <a:solidFill>
                  <a:schemeClr val="accent3"/>
                </a:solidFill>
              </a:rPr>
              <a:t>A boxplot per calendar month shows each month's centre and spread across all years; the bar chart adds the monthly mean.</a:t>
            </a:r>
            <a:endParaRPr lang="en-US" sz="1200" dirty="0"/>
          </a:p>
        </p:txBody>
      </p:sp>
      <p:sp>
        <p:nvSpPr>
          <p:cNvPr id="12" name="Text 9"/>
          <p:cNvSpPr txBox="1"/>
          <p:nvPr/>
        </p:nvSpPr>
        <p:spPr>
          <a:xfrm>
            <a:off x="4160520" y="5349240"/>
            <a:ext cx="7571232" cy="1005840"/>
          </a:xfrm>
          <a:prstGeom prst="rect">
            <a:avLst/>
          </a:prstGeom>
          <a:noFill/>
          <a:ln/>
        </p:spPr>
        <p:txBody>
          <a:bodyPr wrap="square" lIns="0" tIns="0" rIns="0" bIns="0" rtlCol="0" anchor="t"/>
          <a:lstStyle/>
          <a:p>
            <a:pPr indent="0" marL="0">
              <a:lnSpc>
                <a:spcPts val="1800"/>
              </a:lnSpc>
              <a:buNone/>
            </a:pPr>
            <a:r>
              <a:rPr lang="en-US" sz="1400" dirty="0">
                <a:solidFill>
                  <a:schemeClr val="tx1"/>
                </a:solidFill>
              </a:rPr>
              <a:t>A smooth annual hill: July (30.9 °C) and August (30.8 °C) peak, January (13.3 °C) and February (13.4 °C) are lowest, a 17.6 °C gap. Summer is the steadiest season (std 1.8 °C); spring is the most variable (std 5.0 °C) as it climbs from 16.2 °C in March to 25.5 °C in May. This cycle is why the raw series is not a featureless signal.</a:t>
            </a:r>
            <a:endParaRPr lang="en-US" sz="1400" dirty="0"/>
          </a:p>
        </p:txBody>
      </p:sp>
      <p:sp>
        <p:nvSpPr>
          <p:cNvPr id="25" name="Slide Number Placeholder 0"/>
          <p:cNvSpPr>
            <a:spLocks noGrp="1"/>
          </p:cNvSpPr>
          <p:nvPr>
            <p:ph type="sldNum" sz="quarter" idx="4294967295"/>
          </p:nvPr>
        </p:nvSpPr>
        <p:spPr>
          <a:xfrm>
            <a:off x="11064240" y="6446520"/>
            <a:ext cx="66751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086"/>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1207008" y="457200"/>
            <a:ext cx="10515600" cy="777240"/>
          </a:xfrm>
          <a:prstGeom prst="rect">
            <a:avLst/>
          </a:prstGeom>
          <a:noFill/>
          <a:ln/>
        </p:spPr>
        <p:txBody>
          <a:bodyPr wrap="square" lIns="0" tIns="0" rIns="0" bIns="0" rtlCol="0" anchor="ctr"/>
          <a:lstStyle/>
          <a:p>
            <a:pPr algn="l" indent="0" marL="0">
              <a:buNone/>
            </a:pPr>
            <a:r>
              <a:rPr lang="en-US" sz="2000" b="1" dirty="0">
                <a:solidFill>
                  <a:schemeClr val="tx1"/>
                </a:solidFill>
              </a:rPr>
              <a:t>Does local variability change over time?</a:t>
            </a:r>
            <a:endParaRPr lang="en-US" sz="2000" dirty="0"/>
          </a:p>
        </p:txBody>
      </p:sp>
      <p:sp>
        <p:nvSpPr>
          <p:cNvPr id="3" name="Badge Q6"/>
          <p:cNvSpPr/>
          <p:nvPr/>
        </p:nvSpPr>
        <p:spPr>
          <a:xfrm>
            <a:off x="457200" y="502920"/>
            <a:ext cx="566928" cy="566928"/>
          </a:xfrm>
          <a:prstGeom prst="ellipse">
            <a:avLst/>
          </a:prstGeom>
          <a:solidFill>
            <a:schemeClr val="tx2"/>
          </a:solidFill>
          <a:ln/>
        </p:spPr>
      </p:sp>
      <p:sp>
        <p:nvSpPr>
          <p:cNvPr id="4" name="Text 2"/>
          <p:cNvSpPr txBox="1"/>
          <p:nvPr/>
        </p:nvSpPr>
        <p:spPr>
          <a:xfrm>
            <a:off x="457200" y="502920"/>
            <a:ext cx="566928" cy="566928"/>
          </a:xfrm>
          <a:prstGeom prst="rect">
            <a:avLst/>
          </a:prstGeom>
          <a:noFill/>
          <a:ln/>
        </p:spPr>
        <p:txBody>
          <a:bodyPr wrap="square" lIns="0" tIns="0" rIns="0" bIns="0" rtlCol="0" anchor="ctr"/>
          <a:lstStyle/>
          <a:p>
            <a:pPr algn="ctr" indent="0" marL="0">
              <a:buNone/>
            </a:pPr>
            <a:r>
              <a:rPr lang="en-US" sz="1900" b="1" dirty="0">
                <a:solidFill>
                  <a:schemeClr val="accent1"/>
                </a:solidFill>
                <a:latin typeface="+mj-lt" pitchFamily="34" charset="0"/>
                <a:ea typeface="+mj-lt" pitchFamily="34" charset="-122"/>
                <a:cs typeface="+mj-lt" pitchFamily="34" charset="-120"/>
              </a:rPr>
              <a:t>Q6</a:t>
            </a:r>
            <a:endParaRPr lang="en-US" sz="1900" dirty="0"/>
          </a:p>
        </p:txBody>
      </p:sp>
      <p:sp>
        <p:nvSpPr>
          <p:cNvPr id="5" name="Chart card"/>
          <p:cNvSpPr/>
          <p:nvPr/>
        </p:nvSpPr>
        <p:spPr>
          <a:xfrm>
            <a:off x="457200" y="1371600"/>
            <a:ext cx="11274552" cy="3017520"/>
          </a:xfrm>
          <a:prstGeom prst="roundRect">
            <a:avLst>
              <a:gd name="adj" fmla="val 2424"/>
            </a:avLst>
          </a:prstGeom>
          <a:solidFill>
            <a:schemeClr val="bg1"/>
          </a:solidFill>
          <a:ln w="12700">
            <a:solidFill>
              <a:srgbClr val="DEDFE8"/>
            </a:solidFill>
            <a:prstDash val="solid"/>
          </a:ln>
          <a:effectLst>
            <a:outerShdw sx="100000" sy="100000" kx="0" ky="0" algn="bl" rotWithShape="0" blurRad="101600" dist="38100" dir="5400000">
              <a:srgbClr val="1B1F2A">
                <a:alpha val="16000"/>
              </a:srgbClr>
            </a:outerShdw>
          </a:effectLst>
        </p:spPr>
      </p:sp>
      <p:pic>
        <p:nvPicPr>
          <p:cNvPr id="6" name="Chart image" descr="30-day rolling standard deviation of temperature">    </p:cNvPr>
          <p:cNvPicPr>
            <a:picLocks noChangeAspect="1"/>
          </p:cNvPicPr>
          <p:nvPr/>
        </p:nvPicPr>
        <p:blipFill>
          <a:blip r:embed="rId1"/>
          <a:stretch>
            <a:fillRect/>
          </a:stretch>
        </p:blipFill>
        <p:spPr>
          <a:xfrm>
            <a:off x="2093838" y="1536192"/>
            <a:ext cx="8001276" cy="2688336"/>
          </a:xfrm>
          <a:prstGeom prst="rect">
            <a:avLst/>
          </a:prstGeom>
        </p:spPr>
      </p:pic>
      <p:sp>
        <p:nvSpPr>
          <p:cNvPr id="7" name="Stat callout"/>
          <p:cNvSpPr/>
          <p:nvPr/>
        </p:nvSpPr>
        <p:spPr>
          <a:xfrm>
            <a:off x="457200" y="4617720"/>
            <a:ext cx="3383280" cy="1737360"/>
          </a:xfrm>
          <a:prstGeom prst="roundRect">
            <a:avLst>
              <a:gd name="adj" fmla="val 4211"/>
            </a:avLst>
          </a:prstGeom>
          <a:solidFill>
            <a:schemeClr val="tx2"/>
          </a:solidFill>
          <a:ln/>
        </p:spPr>
      </p:sp>
      <p:sp>
        <p:nvSpPr>
          <p:cNvPr id="8" name="Text 5"/>
          <p:cNvSpPr txBox="1"/>
          <p:nvPr/>
        </p:nvSpPr>
        <p:spPr>
          <a:xfrm>
            <a:off x="731520" y="4818888"/>
            <a:ext cx="2834640" cy="640080"/>
          </a:xfrm>
          <a:prstGeom prst="rect">
            <a:avLst/>
          </a:prstGeom>
          <a:noFill/>
          <a:ln/>
        </p:spPr>
        <p:txBody>
          <a:bodyPr wrap="square" lIns="0" tIns="0" rIns="0" bIns="0" rtlCol="0" anchor="ctr"/>
          <a:lstStyle/>
          <a:p>
            <a:pPr indent="0" marL="0">
              <a:buNone/>
            </a:pPr>
            <a:r>
              <a:rPr lang="en-US" sz="3200" b="1" dirty="0">
                <a:solidFill>
                  <a:schemeClr val="accent1"/>
                </a:solidFill>
                <a:latin typeface="+mj-lt" pitchFamily="34" charset="0"/>
                <a:ea typeface="+mj-lt" pitchFamily="34" charset="-122"/>
                <a:cs typeface="+mj-lt" pitchFamily="34" charset="-120"/>
              </a:rPr>
              <a:t>3.0 °C</a:t>
            </a:r>
            <a:endParaRPr lang="en-US" sz="3200" dirty="0"/>
          </a:p>
        </p:txBody>
      </p:sp>
      <p:sp>
        <p:nvSpPr>
          <p:cNvPr id="9" name="Text 6"/>
          <p:cNvSpPr txBox="1"/>
          <p:nvPr/>
        </p:nvSpPr>
        <p:spPr>
          <a:xfrm>
            <a:off x="731520" y="5486400"/>
            <a:ext cx="2834640" cy="731520"/>
          </a:xfrm>
          <a:prstGeom prst="rect">
            <a:avLst/>
          </a:prstGeom>
          <a:noFill/>
          <a:ln/>
        </p:spPr>
        <p:txBody>
          <a:bodyPr wrap="square" lIns="0" tIns="0" rIns="0" bIns="0" rtlCol="0" anchor="t"/>
          <a:lstStyle/>
          <a:p>
            <a:pPr indent="0" marL="0">
              <a:buNone/>
            </a:pPr>
            <a:r>
              <a:rPr lang="en-US" sz="1300" dirty="0">
                <a:solidFill>
                  <a:schemeClr val="bg1"/>
                </a:solidFill>
              </a:rPr>
              <a:t>average rolling std in spring, versus 1.7 – 1.9 °C in every other season</a:t>
            </a:r>
            <a:endParaRPr lang="en-US" sz="1300" dirty="0"/>
          </a:p>
        </p:txBody>
      </p:sp>
      <p:sp>
        <p:nvSpPr>
          <p:cNvPr id="10" name="Text 7"/>
          <p:cNvSpPr txBox="1"/>
          <p:nvPr/>
        </p:nvSpPr>
        <p:spPr>
          <a:xfrm>
            <a:off x="4160520" y="4617720"/>
            <a:ext cx="7571232" cy="228600"/>
          </a:xfrm>
          <a:prstGeom prst="rect">
            <a:avLst/>
          </a:prstGeom>
          <a:noFill/>
          <a:ln/>
        </p:spPr>
        <p:txBody>
          <a:bodyPr wrap="square" lIns="0" tIns="0" rIns="0" bIns="0" rtlCol="0" anchor="t"/>
          <a:lstStyle/>
          <a:p>
            <a:pPr indent="0" marL="0">
              <a:buNone/>
            </a:pPr>
            <a:r>
              <a:rPr lang="en-US" sz="1100" b="1" spc="150" kern="0" dirty="0">
                <a:solidFill>
                  <a:schemeClr val="accent3"/>
                </a:solidFill>
              </a:rPr>
              <a:t>WHY THIS PLOT</a:t>
            </a:r>
            <a:endParaRPr lang="en-US" sz="1100" dirty="0"/>
          </a:p>
        </p:txBody>
      </p:sp>
      <p:sp>
        <p:nvSpPr>
          <p:cNvPr id="11" name="Text 8"/>
          <p:cNvSpPr txBox="1"/>
          <p:nvPr/>
        </p:nvSpPr>
        <p:spPr>
          <a:xfrm>
            <a:off x="4160520" y="4864608"/>
            <a:ext cx="7571232" cy="457200"/>
          </a:xfrm>
          <a:prstGeom prst="rect">
            <a:avLst/>
          </a:prstGeom>
          <a:noFill/>
          <a:ln/>
        </p:spPr>
        <p:txBody>
          <a:bodyPr wrap="square" lIns="0" tIns="0" rIns="0" bIns="0" rtlCol="0" anchor="t"/>
          <a:lstStyle/>
          <a:p>
            <a:pPr indent="0" marL="0">
              <a:buNone/>
            </a:pPr>
            <a:r>
              <a:rPr lang="en-US" sz="1200" i="1" dirty="0">
                <a:solidFill>
                  <a:schemeClr val="accent3"/>
                </a:solidFill>
              </a:rPr>
              <a:t>A rolling standard deviation (15 observations ≈ 30 days) shows how volatility itself changes over time.</a:t>
            </a:r>
            <a:endParaRPr lang="en-US" sz="1200" dirty="0"/>
          </a:p>
        </p:txBody>
      </p:sp>
      <p:sp>
        <p:nvSpPr>
          <p:cNvPr id="12" name="Text 9"/>
          <p:cNvSpPr txBox="1"/>
          <p:nvPr/>
        </p:nvSpPr>
        <p:spPr>
          <a:xfrm>
            <a:off x="4160520" y="5349240"/>
            <a:ext cx="7571232" cy="1005840"/>
          </a:xfrm>
          <a:prstGeom prst="rect">
            <a:avLst/>
          </a:prstGeom>
          <a:noFill/>
          <a:ln/>
        </p:spPr>
        <p:txBody>
          <a:bodyPr wrap="square" lIns="0" tIns="0" rIns="0" bIns="0" rtlCol="0" anchor="t"/>
          <a:lstStyle/>
          <a:p>
            <a:pPr indent="0" marL="0">
              <a:lnSpc>
                <a:spcPts val="1800"/>
              </a:lnSpc>
              <a:buNone/>
            </a:pPr>
            <a:r>
              <a:rPr lang="en-US" sz="1400" dirty="0">
                <a:solidFill>
                  <a:schemeClr val="tx1"/>
                </a:solidFill>
              </a:rPr>
              <a:t>Volatility is not constant: it spikes every spring (above 4 °C in March–May of 2021, 2022, 2023 and 2025, peaking at 5.5 °C on 2022-04-10) and is lowest in August (1.3 °C). Part of this is the steep seasonal climb inside each window; the rest is real day-to-day swings. Expect larger forecast errors in spring.</a:t>
            </a:r>
            <a:endParaRPr lang="en-US" sz="1400" dirty="0"/>
          </a:p>
        </p:txBody>
      </p:sp>
      <p:sp>
        <p:nvSpPr>
          <p:cNvPr id="25" name="Slide Number Placeholder 0"/>
          <p:cNvSpPr>
            <a:spLocks noGrp="1"/>
          </p:cNvSpPr>
          <p:nvPr>
            <p:ph type="sldNum" sz="quarter" idx="4294967295"/>
          </p:nvPr>
        </p:nvSpPr>
        <p:spPr>
          <a:xfrm>
            <a:off x="11064240" y="6446520"/>
            <a:ext cx="66751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086"/>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1207008" y="457200"/>
            <a:ext cx="4754880" cy="777240"/>
          </a:xfrm>
          <a:prstGeom prst="rect">
            <a:avLst/>
          </a:prstGeom>
          <a:noFill/>
          <a:ln/>
        </p:spPr>
        <p:txBody>
          <a:bodyPr wrap="square" lIns="0" tIns="0" rIns="0" bIns="0" rtlCol="0" anchor="ctr"/>
          <a:lstStyle/>
          <a:p>
            <a:pPr algn="l" indent="0" marL="0">
              <a:buNone/>
            </a:pPr>
            <a:r>
              <a:rPr lang="en-US" sz="2000" b="1" dirty="0">
                <a:solidFill>
                  <a:schemeClr val="tx1"/>
                </a:solidFill>
              </a:rPr>
              <a:t>What are the trend, seasonal and residual components?</a:t>
            </a:r>
            <a:endParaRPr lang="en-US" sz="2000" dirty="0"/>
          </a:p>
        </p:txBody>
      </p:sp>
      <p:sp>
        <p:nvSpPr>
          <p:cNvPr id="3" name="Badge Q7"/>
          <p:cNvSpPr/>
          <p:nvPr/>
        </p:nvSpPr>
        <p:spPr>
          <a:xfrm>
            <a:off x="457200" y="502920"/>
            <a:ext cx="566928" cy="566928"/>
          </a:xfrm>
          <a:prstGeom prst="ellipse">
            <a:avLst/>
          </a:prstGeom>
          <a:solidFill>
            <a:schemeClr val="tx2"/>
          </a:solidFill>
          <a:ln/>
        </p:spPr>
      </p:sp>
      <p:sp>
        <p:nvSpPr>
          <p:cNvPr id="4" name="Text 2"/>
          <p:cNvSpPr txBox="1"/>
          <p:nvPr/>
        </p:nvSpPr>
        <p:spPr>
          <a:xfrm>
            <a:off x="457200" y="502920"/>
            <a:ext cx="566928" cy="566928"/>
          </a:xfrm>
          <a:prstGeom prst="rect">
            <a:avLst/>
          </a:prstGeom>
          <a:noFill/>
          <a:ln/>
        </p:spPr>
        <p:txBody>
          <a:bodyPr wrap="square" lIns="0" tIns="0" rIns="0" bIns="0" rtlCol="0" anchor="ctr"/>
          <a:lstStyle/>
          <a:p>
            <a:pPr algn="ctr" indent="0" marL="0">
              <a:buNone/>
            </a:pPr>
            <a:r>
              <a:rPr lang="en-US" sz="1900" b="1" dirty="0">
                <a:solidFill>
                  <a:schemeClr val="accent1"/>
                </a:solidFill>
                <a:latin typeface="+mj-lt" pitchFamily="34" charset="0"/>
                <a:ea typeface="+mj-lt" pitchFamily="34" charset="-122"/>
                <a:cs typeface="+mj-lt" pitchFamily="34" charset="-120"/>
              </a:rPr>
              <a:t>Q7</a:t>
            </a:r>
            <a:endParaRPr lang="en-US" sz="1900" dirty="0"/>
          </a:p>
        </p:txBody>
      </p:sp>
      <p:sp>
        <p:nvSpPr>
          <p:cNvPr id="5" name="Chart card"/>
          <p:cNvSpPr/>
          <p:nvPr/>
        </p:nvSpPr>
        <p:spPr>
          <a:xfrm>
            <a:off x="6355080" y="2054906"/>
            <a:ext cx="5349240" cy="3662588"/>
          </a:xfrm>
          <a:prstGeom prst="roundRect">
            <a:avLst>
              <a:gd name="adj" fmla="val 1997"/>
            </a:avLst>
          </a:prstGeom>
          <a:solidFill>
            <a:schemeClr val="bg1"/>
          </a:solidFill>
          <a:ln w="12700">
            <a:solidFill>
              <a:srgbClr val="DEDFE8"/>
            </a:solidFill>
            <a:prstDash val="solid"/>
          </a:ln>
          <a:effectLst>
            <a:outerShdw sx="100000" sy="100000" kx="0" ky="0" algn="bl" rotWithShape="0" blurRad="101600" dist="38100" dir="5400000">
              <a:srgbClr val="1B1F2A">
                <a:alpha val="16000"/>
              </a:srgbClr>
            </a:outerShdw>
          </a:effectLst>
        </p:spPr>
      </p:sp>
      <p:pic>
        <p:nvPicPr>
          <p:cNvPr id="6" name="Chart image" descr="STL decomposition: observed, trend, seasonal and residual">    </p:cNvPr>
          <p:cNvPicPr>
            <a:picLocks noChangeAspect="1"/>
          </p:cNvPicPr>
          <p:nvPr/>
        </p:nvPicPr>
        <p:blipFill>
          <a:blip r:embed="rId1"/>
          <a:stretch>
            <a:fillRect/>
          </a:stretch>
        </p:blipFill>
        <p:spPr>
          <a:xfrm>
            <a:off x="6519672" y="2219498"/>
            <a:ext cx="5020056" cy="3333404"/>
          </a:xfrm>
          <a:prstGeom prst="rect">
            <a:avLst/>
          </a:prstGeom>
        </p:spPr>
      </p:pic>
      <p:sp>
        <p:nvSpPr>
          <p:cNvPr id="7" name="Stat callout"/>
          <p:cNvSpPr/>
          <p:nvPr/>
        </p:nvSpPr>
        <p:spPr>
          <a:xfrm>
            <a:off x="457200" y="1417320"/>
            <a:ext cx="5349240" cy="1051560"/>
          </a:xfrm>
          <a:prstGeom prst="roundRect">
            <a:avLst>
              <a:gd name="adj" fmla="val 6957"/>
            </a:avLst>
          </a:prstGeom>
          <a:solidFill>
            <a:schemeClr val="tx2"/>
          </a:solidFill>
          <a:ln/>
        </p:spPr>
      </p:sp>
      <p:sp>
        <p:nvSpPr>
          <p:cNvPr id="8" name="Text 5"/>
          <p:cNvSpPr txBox="1"/>
          <p:nvPr/>
        </p:nvSpPr>
        <p:spPr>
          <a:xfrm>
            <a:off x="685800" y="1508760"/>
            <a:ext cx="2240280" cy="868680"/>
          </a:xfrm>
          <a:prstGeom prst="rect">
            <a:avLst/>
          </a:prstGeom>
          <a:noFill/>
          <a:ln/>
        </p:spPr>
        <p:txBody>
          <a:bodyPr wrap="square" lIns="0" tIns="0" rIns="0" bIns="0" rtlCol="0" anchor="ctr"/>
          <a:lstStyle/>
          <a:p>
            <a:pPr indent="0" marL="0">
              <a:buNone/>
            </a:pPr>
            <a:r>
              <a:rPr lang="en-US" sz="2800" b="1" dirty="0">
                <a:solidFill>
                  <a:schemeClr val="accent1"/>
                </a:solidFill>
                <a:latin typeface="+mj-lt" pitchFamily="34" charset="0"/>
                <a:ea typeface="+mj-lt" pitchFamily="34" charset="-122"/>
                <a:cs typeface="+mj-lt" pitchFamily="34" charset="-120"/>
              </a:rPr>
              <a:t>92%</a:t>
            </a:r>
            <a:endParaRPr lang="en-US" sz="2800" dirty="0"/>
          </a:p>
        </p:txBody>
      </p:sp>
      <p:sp>
        <p:nvSpPr>
          <p:cNvPr id="9" name="Text 6"/>
          <p:cNvSpPr txBox="1"/>
          <p:nvPr/>
        </p:nvSpPr>
        <p:spPr>
          <a:xfrm>
            <a:off x="3017520" y="1508760"/>
            <a:ext cx="2606040" cy="868680"/>
          </a:xfrm>
          <a:prstGeom prst="rect">
            <a:avLst/>
          </a:prstGeom>
          <a:noFill/>
          <a:ln/>
        </p:spPr>
        <p:txBody>
          <a:bodyPr wrap="square" lIns="0" tIns="0" rIns="0" bIns="0" rtlCol="0" anchor="ctr"/>
          <a:lstStyle/>
          <a:p>
            <a:pPr indent="0" marL="0">
              <a:buNone/>
            </a:pPr>
            <a:r>
              <a:rPr lang="en-US" sz="1200" dirty="0">
                <a:solidFill>
                  <a:schemeClr val="bg1"/>
                </a:solidFill>
              </a:rPr>
              <a:t>of the variance is the seasonal component (trend 0.2%, residual 7%)</a:t>
            </a:r>
            <a:endParaRPr lang="en-US" sz="1200" dirty="0"/>
          </a:p>
        </p:txBody>
      </p:sp>
      <p:sp>
        <p:nvSpPr>
          <p:cNvPr id="10" name="Text 7"/>
          <p:cNvSpPr txBox="1"/>
          <p:nvPr/>
        </p:nvSpPr>
        <p:spPr>
          <a:xfrm>
            <a:off x="457200" y="2697480"/>
            <a:ext cx="5349240" cy="228600"/>
          </a:xfrm>
          <a:prstGeom prst="rect">
            <a:avLst/>
          </a:prstGeom>
          <a:noFill/>
          <a:ln/>
        </p:spPr>
        <p:txBody>
          <a:bodyPr wrap="square" lIns="0" tIns="0" rIns="0" bIns="0" rtlCol="0" anchor="t"/>
          <a:lstStyle/>
          <a:p>
            <a:pPr indent="0" marL="0">
              <a:buNone/>
            </a:pPr>
            <a:r>
              <a:rPr lang="en-US" sz="1100" b="1" spc="150" kern="0" dirty="0">
                <a:solidFill>
                  <a:schemeClr val="accent3"/>
                </a:solidFill>
              </a:rPr>
              <a:t>WHY THIS PLOT</a:t>
            </a:r>
            <a:endParaRPr lang="en-US" sz="1100" dirty="0"/>
          </a:p>
        </p:txBody>
      </p:sp>
      <p:sp>
        <p:nvSpPr>
          <p:cNvPr id="11" name="Text 8"/>
          <p:cNvSpPr txBox="1"/>
          <p:nvPr/>
        </p:nvSpPr>
        <p:spPr>
          <a:xfrm>
            <a:off x="457200" y="2944368"/>
            <a:ext cx="5349240" cy="777240"/>
          </a:xfrm>
          <a:prstGeom prst="rect">
            <a:avLst/>
          </a:prstGeom>
          <a:noFill/>
          <a:ln/>
        </p:spPr>
        <p:txBody>
          <a:bodyPr wrap="square" lIns="0" tIns="0" rIns="0" bIns="0" rtlCol="0" anchor="t"/>
          <a:lstStyle/>
          <a:p>
            <a:pPr indent="0" marL="0">
              <a:buNone/>
            </a:pPr>
            <a:r>
              <a:rPr lang="en-US" sz="1200" i="1" dirty="0">
                <a:solidFill>
                  <a:schemeClr val="accent3"/>
                </a:solidFill>
              </a:rPr>
              <a:t>STL splits a series into trend + seasonal + residual; the robust option stops isolated extremes distorting the seasonal shape. Annual period = 182 observations.</a:t>
            </a:r>
            <a:endParaRPr lang="en-US" sz="1200" dirty="0"/>
          </a:p>
        </p:txBody>
      </p:sp>
      <p:sp>
        <p:nvSpPr>
          <p:cNvPr id="12" name="Text 9"/>
          <p:cNvSpPr txBox="1"/>
          <p:nvPr/>
        </p:nvSpPr>
        <p:spPr>
          <a:xfrm>
            <a:off x="457200" y="3794760"/>
            <a:ext cx="5349240" cy="228600"/>
          </a:xfrm>
          <a:prstGeom prst="rect">
            <a:avLst/>
          </a:prstGeom>
          <a:noFill/>
          <a:ln/>
        </p:spPr>
        <p:txBody>
          <a:bodyPr wrap="square" lIns="0" tIns="0" rIns="0" bIns="0" rtlCol="0" anchor="t"/>
          <a:lstStyle/>
          <a:p>
            <a:pPr indent="0" marL="0">
              <a:buNone/>
            </a:pPr>
            <a:r>
              <a:rPr lang="en-US" sz="1100" b="1" spc="150" kern="0" dirty="0">
                <a:solidFill>
                  <a:schemeClr val="accent3"/>
                </a:solidFill>
              </a:rPr>
              <a:t>WHAT THE DATA SAYS</a:t>
            </a:r>
            <a:endParaRPr lang="en-US" sz="1100" dirty="0"/>
          </a:p>
        </p:txBody>
      </p:sp>
      <p:sp>
        <p:nvSpPr>
          <p:cNvPr id="13" name="Text 10"/>
          <p:cNvSpPr txBox="1"/>
          <p:nvPr/>
        </p:nvSpPr>
        <p:spPr>
          <a:xfrm>
            <a:off x="457200" y="4069080"/>
            <a:ext cx="5349240" cy="2286000"/>
          </a:xfrm>
          <a:prstGeom prst="rect">
            <a:avLst/>
          </a:prstGeom>
          <a:noFill/>
          <a:ln/>
        </p:spPr>
        <p:txBody>
          <a:bodyPr wrap="square" lIns="0" tIns="0" rIns="0" bIns="0" rtlCol="0" anchor="t"/>
          <a:lstStyle/>
          <a:p>
            <a:pPr indent="0" marL="0">
              <a:lnSpc>
                <a:spcPts val="1900"/>
              </a:lnSpc>
              <a:buNone/>
            </a:pPr>
            <a:r>
              <a:rPr lang="en-US" sz="1400" dirty="0">
                <a:solidFill>
                  <a:schemeClr val="tx1"/>
                </a:solidFill>
              </a:rPr>
              <a:t>Seasonal swings of about ±12 °C explain 44.1 of the series' 48.1 units of variance. The trend only moves between 21.7 and 23.0 °C and is not steadily rising: it falls until mid-2022, climbs to 2024, dips in 2025, then rises again. The residual (std 1.9 °C) is everyday noise; 54% of its largest values fall in March–May.</a:t>
            </a:r>
            <a:endParaRPr lang="en-US" sz="1400" dirty="0"/>
          </a:p>
        </p:txBody>
      </p:sp>
      <p:sp>
        <p:nvSpPr>
          <p:cNvPr id="25" name="Slide Number Placeholder 0"/>
          <p:cNvSpPr>
            <a:spLocks noGrp="1"/>
          </p:cNvSpPr>
          <p:nvPr>
            <p:ph type="sldNum" sz="quarter" idx="4294967295"/>
          </p:nvPr>
        </p:nvSpPr>
        <p:spPr>
          <a:xfrm>
            <a:off x="11064240" y="6446520"/>
            <a:ext cx="66751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086"/>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1207008" y="457200"/>
            <a:ext cx="10515600" cy="777240"/>
          </a:xfrm>
          <a:prstGeom prst="rect">
            <a:avLst/>
          </a:prstGeom>
          <a:noFill/>
          <a:ln/>
        </p:spPr>
        <p:txBody>
          <a:bodyPr wrap="square" lIns="0" tIns="0" rIns="0" bIns="0" rtlCol="0" anchor="ctr"/>
          <a:lstStyle/>
          <a:p>
            <a:pPr algn="l" indent="0" marL="0">
              <a:buNone/>
            </a:pPr>
            <a:r>
              <a:rPr lang="en-US" sz="2000" b="1" dirty="0">
                <a:solidFill>
                  <a:schemeClr val="tx1"/>
                </a:solidFill>
              </a:rPr>
              <a:t>Does temperature depend on previous observations?</a:t>
            </a:r>
            <a:endParaRPr lang="en-US" sz="2000" dirty="0"/>
          </a:p>
        </p:txBody>
      </p:sp>
      <p:sp>
        <p:nvSpPr>
          <p:cNvPr id="3" name="Badge Q8"/>
          <p:cNvSpPr/>
          <p:nvPr/>
        </p:nvSpPr>
        <p:spPr>
          <a:xfrm>
            <a:off x="457200" y="502920"/>
            <a:ext cx="566928" cy="566928"/>
          </a:xfrm>
          <a:prstGeom prst="ellipse">
            <a:avLst/>
          </a:prstGeom>
          <a:solidFill>
            <a:schemeClr val="tx2"/>
          </a:solidFill>
          <a:ln/>
        </p:spPr>
      </p:sp>
      <p:sp>
        <p:nvSpPr>
          <p:cNvPr id="4" name="Text 2"/>
          <p:cNvSpPr txBox="1"/>
          <p:nvPr/>
        </p:nvSpPr>
        <p:spPr>
          <a:xfrm>
            <a:off x="457200" y="502920"/>
            <a:ext cx="566928" cy="566928"/>
          </a:xfrm>
          <a:prstGeom prst="rect">
            <a:avLst/>
          </a:prstGeom>
          <a:noFill/>
          <a:ln/>
        </p:spPr>
        <p:txBody>
          <a:bodyPr wrap="square" lIns="0" tIns="0" rIns="0" bIns="0" rtlCol="0" anchor="ctr"/>
          <a:lstStyle/>
          <a:p>
            <a:pPr algn="ctr" indent="0" marL="0">
              <a:buNone/>
            </a:pPr>
            <a:r>
              <a:rPr lang="en-US" sz="1900" b="1" dirty="0">
                <a:solidFill>
                  <a:schemeClr val="accent1"/>
                </a:solidFill>
                <a:latin typeface="+mj-lt" pitchFamily="34" charset="0"/>
                <a:ea typeface="+mj-lt" pitchFamily="34" charset="-122"/>
                <a:cs typeface="+mj-lt" pitchFamily="34" charset="-120"/>
              </a:rPr>
              <a:t>Q8</a:t>
            </a:r>
            <a:endParaRPr lang="en-US" sz="1900" dirty="0"/>
          </a:p>
        </p:txBody>
      </p:sp>
      <p:sp>
        <p:nvSpPr>
          <p:cNvPr id="5" name="Chart card"/>
          <p:cNvSpPr/>
          <p:nvPr/>
        </p:nvSpPr>
        <p:spPr>
          <a:xfrm>
            <a:off x="457200" y="1371600"/>
            <a:ext cx="11274552" cy="3017520"/>
          </a:xfrm>
          <a:prstGeom prst="roundRect">
            <a:avLst>
              <a:gd name="adj" fmla="val 2424"/>
            </a:avLst>
          </a:prstGeom>
          <a:solidFill>
            <a:schemeClr val="bg1"/>
          </a:solidFill>
          <a:ln w="12700">
            <a:solidFill>
              <a:srgbClr val="DEDFE8"/>
            </a:solidFill>
            <a:prstDash val="solid"/>
          </a:ln>
          <a:effectLst>
            <a:outerShdw sx="100000" sy="100000" kx="0" ky="0" algn="bl" rotWithShape="0" blurRad="101600" dist="38100" dir="5400000">
              <a:srgbClr val="1B1F2A">
                <a:alpha val="16000"/>
              </a:srgbClr>
            </a:outerShdw>
          </a:effectLst>
        </p:spPr>
      </p:sp>
      <p:pic>
        <p:nvPicPr>
          <p:cNvPr id="6" name="Chart image" descr="ACF and PACF of temperature">    </p:cNvPr>
          <p:cNvPicPr>
            <a:picLocks noChangeAspect="1"/>
          </p:cNvPicPr>
          <p:nvPr/>
        </p:nvPicPr>
        <p:blipFill>
          <a:blip r:embed="rId1"/>
          <a:stretch>
            <a:fillRect/>
          </a:stretch>
        </p:blipFill>
        <p:spPr>
          <a:xfrm>
            <a:off x="1973101" y="1536192"/>
            <a:ext cx="8242749" cy="2688336"/>
          </a:xfrm>
          <a:prstGeom prst="rect">
            <a:avLst/>
          </a:prstGeom>
        </p:spPr>
      </p:pic>
      <p:sp>
        <p:nvSpPr>
          <p:cNvPr id="7" name="Stat callout"/>
          <p:cNvSpPr/>
          <p:nvPr/>
        </p:nvSpPr>
        <p:spPr>
          <a:xfrm>
            <a:off x="457200" y="4617720"/>
            <a:ext cx="3383280" cy="1737360"/>
          </a:xfrm>
          <a:prstGeom prst="roundRect">
            <a:avLst>
              <a:gd name="adj" fmla="val 4211"/>
            </a:avLst>
          </a:prstGeom>
          <a:solidFill>
            <a:schemeClr val="tx2"/>
          </a:solidFill>
          <a:ln/>
        </p:spPr>
      </p:sp>
      <p:sp>
        <p:nvSpPr>
          <p:cNvPr id="8" name="Text 5"/>
          <p:cNvSpPr txBox="1"/>
          <p:nvPr/>
        </p:nvSpPr>
        <p:spPr>
          <a:xfrm>
            <a:off x="731520" y="4818888"/>
            <a:ext cx="2834640" cy="640080"/>
          </a:xfrm>
          <a:prstGeom prst="rect">
            <a:avLst/>
          </a:prstGeom>
          <a:noFill/>
          <a:ln/>
        </p:spPr>
        <p:txBody>
          <a:bodyPr wrap="square" lIns="0" tIns="0" rIns="0" bIns="0" rtlCol="0" anchor="ctr"/>
          <a:lstStyle/>
          <a:p>
            <a:pPr indent="0" marL="0">
              <a:buNone/>
            </a:pPr>
            <a:r>
              <a:rPr lang="en-US" sz="3200" b="1" dirty="0">
                <a:solidFill>
                  <a:schemeClr val="accent1"/>
                </a:solidFill>
                <a:latin typeface="+mj-lt" pitchFamily="34" charset="0"/>
                <a:ea typeface="+mj-lt" pitchFamily="34" charset="-122"/>
                <a:cs typeface="+mj-lt" pitchFamily="34" charset="-120"/>
              </a:rPr>
              <a:t>0.95</a:t>
            </a:r>
            <a:endParaRPr lang="en-US" sz="3200" dirty="0"/>
          </a:p>
        </p:txBody>
      </p:sp>
      <p:sp>
        <p:nvSpPr>
          <p:cNvPr id="9" name="Text 6"/>
          <p:cNvSpPr txBox="1"/>
          <p:nvPr/>
        </p:nvSpPr>
        <p:spPr>
          <a:xfrm>
            <a:off x="731520" y="5486400"/>
            <a:ext cx="2834640" cy="731520"/>
          </a:xfrm>
          <a:prstGeom prst="rect">
            <a:avLst/>
          </a:prstGeom>
          <a:noFill/>
          <a:ln/>
        </p:spPr>
        <p:txBody>
          <a:bodyPr wrap="square" lIns="0" tIns="0" rIns="0" bIns="0" rtlCol="0" anchor="t"/>
          <a:lstStyle/>
          <a:p>
            <a:pPr indent="0" marL="0">
              <a:buNone/>
            </a:pPr>
            <a:r>
              <a:rPr lang="en-US" sz="1300" dirty="0">
                <a:solidFill>
                  <a:schemeClr val="bg1"/>
                </a:solidFill>
              </a:rPr>
              <a:t>lag-1 autocorrelation: the next step (2 days ahead) is almost a copy of today</a:t>
            </a:r>
            <a:endParaRPr lang="en-US" sz="1300" dirty="0"/>
          </a:p>
        </p:txBody>
      </p:sp>
      <p:sp>
        <p:nvSpPr>
          <p:cNvPr id="10" name="Text 7"/>
          <p:cNvSpPr txBox="1"/>
          <p:nvPr/>
        </p:nvSpPr>
        <p:spPr>
          <a:xfrm>
            <a:off x="4160520" y="4617720"/>
            <a:ext cx="7571232" cy="228600"/>
          </a:xfrm>
          <a:prstGeom prst="rect">
            <a:avLst/>
          </a:prstGeom>
          <a:noFill/>
          <a:ln/>
        </p:spPr>
        <p:txBody>
          <a:bodyPr wrap="square" lIns="0" tIns="0" rIns="0" bIns="0" rtlCol="0" anchor="t"/>
          <a:lstStyle/>
          <a:p>
            <a:pPr indent="0" marL="0">
              <a:buNone/>
            </a:pPr>
            <a:r>
              <a:rPr lang="en-US" sz="1100" b="1" spc="150" kern="0" dirty="0">
                <a:solidFill>
                  <a:schemeClr val="accent3"/>
                </a:solidFill>
              </a:rPr>
              <a:t>WHY THIS PLOT</a:t>
            </a:r>
            <a:endParaRPr lang="en-US" sz="1100" dirty="0"/>
          </a:p>
        </p:txBody>
      </p:sp>
      <p:sp>
        <p:nvSpPr>
          <p:cNvPr id="11" name="Text 8"/>
          <p:cNvSpPr txBox="1"/>
          <p:nvPr/>
        </p:nvSpPr>
        <p:spPr>
          <a:xfrm>
            <a:off x="4160520" y="4864608"/>
            <a:ext cx="7571232" cy="457200"/>
          </a:xfrm>
          <a:prstGeom prst="rect">
            <a:avLst/>
          </a:prstGeom>
          <a:noFill/>
          <a:ln/>
        </p:spPr>
        <p:txBody>
          <a:bodyPr wrap="square" lIns="0" tIns="0" rIns="0" bIns="0" rtlCol="0" anchor="t"/>
          <a:lstStyle/>
          <a:p>
            <a:pPr indent="0" marL="0">
              <a:buNone/>
            </a:pPr>
            <a:r>
              <a:rPr lang="en-US" sz="1200" i="1" dirty="0">
                <a:solidFill>
                  <a:schemeClr val="accent3"/>
                </a:solidFill>
              </a:rPr>
              <a:t>ACF shows the total correlation with each past lag; PACF isolates each lag's direct effect after the shorter lags (1 lag = 2 days).</a:t>
            </a:r>
            <a:endParaRPr lang="en-US" sz="1200" dirty="0"/>
          </a:p>
        </p:txBody>
      </p:sp>
      <p:sp>
        <p:nvSpPr>
          <p:cNvPr id="12" name="Text 9"/>
          <p:cNvSpPr txBox="1"/>
          <p:nvPr/>
        </p:nvSpPr>
        <p:spPr>
          <a:xfrm>
            <a:off x="4160520" y="5349240"/>
            <a:ext cx="7571232" cy="1005840"/>
          </a:xfrm>
          <a:prstGeom prst="rect">
            <a:avLst/>
          </a:prstGeom>
          <a:noFill/>
          <a:ln/>
        </p:spPr>
        <p:txBody>
          <a:bodyPr wrap="square" lIns="0" tIns="0" rIns="0" bIns="0" rtlCol="0" anchor="t"/>
          <a:lstStyle/>
          <a:p>
            <a:pPr indent="0" marL="0">
              <a:lnSpc>
                <a:spcPts val="1800"/>
              </a:lnSpc>
              <a:buNone/>
            </a:pPr>
            <a:r>
              <a:rPr lang="en-US" sz="1400" dirty="0">
                <a:solidFill>
                  <a:schemeClr val="tx1"/>
                </a:solidFill>
              </a:rPr>
              <a:t>ACF decays slowly, crosses zero at lag 46 (≈ 3 months) and reaches −0.82 at lag 90 (≈ 6 months, the opposite season): the signature of an annual cycle (the plot stops at half a year). PACF has one dominant spike (0.95); lags 2–5 add smaller direct effects (0.09–0.25), so a few recent lags plus seasonal terms carry most of the information.</a:t>
            </a:r>
            <a:endParaRPr lang="en-US" sz="1400" dirty="0"/>
          </a:p>
        </p:txBody>
      </p:sp>
      <p:sp>
        <p:nvSpPr>
          <p:cNvPr id="25" name="Slide Number Placeholder 0"/>
          <p:cNvSpPr>
            <a:spLocks noGrp="1"/>
          </p:cNvSpPr>
          <p:nvPr>
            <p:ph type="sldNum" sz="quarter" idx="4294967295"/>
          </p:nvPr>
        </p:nvSpPr>
        <p:spPr>
          <a:xfrm>
            <a:off x="11064240" y="6446520"/>
            <a:ext cx="66751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086"/>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7104888" y="457200"/>
            <a:ext cx="4626864" cy="777240"/>
          </a:xfrm>
          <a:prstGeom prst="rect">
            <a:avLst/>
          </a:prstGeom>
          <a:noFill/>
          <a:ln/>
        </p:spPr>
        <p:txBody>
          <a:bodyPr wrap="square" lIns="0" tIns="0" rIns="0" bIns="0" rtlCol="0" anchor="ctr"/>
          <a:lstStyle/>
          <a:p>
            <a:pPr algn="l" indent="0" marL="0">
              <a:buNone/>
            </a:pPr>
            <a:r>
              <a:rPr lang="en-US" sz="2000" b="1" dirty="0">
                <a:solidFill>
                  <a:schemeClr val="tx1"/>
                </a:solidFill>
              </a:rPr>
              <a:t>Is the temperature series stationary?</a:t>
            </a:r>
            <a:endParaRPr lang="en-US" sz="2000" dirty="0"/>
          </a:p>
        </p:txBody>
      </p:sp>
      <p:sp>
        <p:nvSpPr>
          <p:cNvPr id="3" name="Badge Q9"/>
          <p:cNvSpPr/>
          <p:nvPr/>
        </p:nvSpPr>
        <p:spPr>
          <a:xfrm>
            <a:off x="6355080" y="502920"/>
            <a:ext cx="566928" cy="566928"/>
          </a:xfrm>
          <a:prstGeom prst="ellipse">
            <a:avLst/>
          </a:prstGeom>
          <a:solidFill>
            <a:schemeClr val="tx2"/>
          </a:solidFill>
          <a:ln/>
        </p:spPr>
      </p:sp>
      <p:sp>
        <p:nvSpPr>
          <p:cNvPr id="4" name="Text 2"/>
          <p:cNvSpPr txBox="1"/>
          <p:nvPr/>
        </p:nvSpPr>
        <p:spPr>
          <a:xfrm>
            <a:off x="6355080" y="502920"/>
            <a:ext cx="566928" cy="566928"/>
          </a:xfrm>
          <a:prstGeom prst="rect">
            <a:avLst/>
          </a:prstGeom>
          <a:noFill/>
          <a:ln/>
        </p:spPr>
        <p:txBody>
          <a:bodyPr wrap="square" lIns="0" tIns="0" rIns="0" bIns="0" rtlCol="0" anchor="ctr"/>
          <a:lstStyle/>
          <a:p>
            <a:pPr algn="ctr" indent="0" marL="0">
              <a:buNone/>
            </a:pPr>
            <a:r>
              <a:rPr lang="en-US" sz="1900" b="1" dirty="0">
                <a:solidFill>
                  <a:schemeClr val="accent1"/>
                </a:solidFill>
                <a:latin typeface="+mj-lt" pitchFamily="34" charset="0"/>
                <a:ea typeface="+mj-lt" pitchFamily="34" charset="-122"/>
                <a:cs typeface="+mj-lt" pitchFamily="34" charset="-120"/>
              </a:rPr>
              <a:t>Q9</a:t>
            </a:r>
            <a:endParaRPr lang="en-US" sz="1900" dirty="0"/>
          </a:p>
        </p:txBody>
      </p:sp>
      <p:sp>
        <p:nvSpPr>
          <p:cNvPr id="5" name="Visual card"/>
          <p:cNvSpPr/>
          <p:nvPr/>
        </p:nvSpPr>
        <p:spPr>
          <a:xfrm>
            <a:off x="457200" y="1417320"/>
            <a:ext cx="5349240" cy="4937760"/>
          </a:xfrm>
          <a:prstGeom prst="roundRect">
            <a:avLst>
              <a:gd name="adj" fmla="val 1481"/>
            </a:avLst>
          </a:prstGeom>
          <a:solidFill>
            <a:schemeClr val="bg1"/>
          </a:solidFill>
          <a:ln w="12700">
            <a:solidFill>
              <a:srgbClr val="DEDFE8"/>
            </a:solidFill>
            <a:prstDash val="solid"/>
          </a:ln>
          <a:effectLst>
            <a:outerShdw sx="100000" sy="100000" kx="0" ky="0" algn="bl" rotWithShape="0" blurRad="101600" dist="38100" dir="5400000">
              <a:srgbClr val="1B1F2A">
                <a:alpha val="16000"/>
              </a:srgbClr>
            </a:outerShdw>
          </a:effectLst>
        </p:spPr>
      </p:sp>
      <p:sp>
        <p:nvSpPr>
          <p:cNvPr id="6" name="Text 4"/>
          <p:cNvSpPr txBox="1"/>
          <p:nvPr/>
        </p:nvSpPr>
        <p:spPr>
          <a:xfrm>
            <a:off x="731520" y="1645920"/>
            <a:ext cx="4800600" cy="228600"/>
          </a:xfrm>
          <a:prstGeom prst="rect">
            <a:avLst/>
          </a:prstGeom>
          <a:noFill/>
          <a:ln/>
        </p:spPr>
        <p:txBody>
          <a:bodyPr wrap="square" lIns="0" tIns="0" rIns="0" bIns="0" rtlCol="0" anchor="t"/>
          <a:lstStyle/>
          <a:p>
            <a:pPr indent="0" marL="0">
              <a:buNone/>
            </a:pPr>
            <a:r>
              <a:rPr lang="en-US" sz="1100" b="1" spc="150" kern="0" dirty="0">
                <a:solidFill>
                  <a:schemeClr val="accent3"/>
                </a:solidFill>
              </a:rPr>
              <a:t>AUGMENTED DICKEY-FULLER TEST</a:t>
            </a:r>
            <a:endParaRPr lang="en-US" sz="11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731520" y="2011680"/>
          <a:ext cx="4800600" cy="914400"/>
        </p:xfrm>
        <a:graphic>
          <a:graphicData uri="http://schemas.openxmlformats.org/drawingml/2006/table">
            <a:tbl>
              <a:tblPr/>
              <a:tblGrid>
                <a:gridCol w="1783080"/>
                <a:gridCol w="914400"/>
                <a:gridCol w="1005840"/>
                <a:gridCol w="1097280"/>
              </a:tblGrid>
              <a:tr h="457200">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Series</a:t>
                      </a:r>
                      <a:endParaRPr lang="en-US" sz="1200" dirty="0">
                        <a:latin typeface="Calibri" charset="0"/>
                        <a:ea typeface="Calibri" charset="0"/>
                        <a:cs typeface="Calibri" charset="0"/>
                      </a:endParaRPr>
                    </a:p>
                  </a:txBody>
                  <a:tcPr marL="91440" marR="91440" marT="0" marB="0" anchor="ctr">
                    <a:lnL w="12700" cap="flat" cmpd="sng" algn="ctr">
                      <a:solidFill>
                        <a:srgbClr val="E4E6F0"/>
                      </a:solidFill>
                      <a:prstDash val="solid"/>
                      <a:round/>
                      <a:headEnd type="none" w="med" len="med"/>
                      <a:tailEnd type="none" w="med" len="med"/>
                    </a:lnL>
                    <a:lnR w="12700" cap="flat" cmpd="sng" algn="ctr">
                      <a:solidFill>
                        <a:srgbClr val="E4E6F0"/>
                      </a:solidFill>
                      <a:prstDash val="solid"/>
                      <a:round/>
                      <a:headEnd type="none" w="med" len="med"/>
                      <a:tailEnd type="none" w="med" len="med"/>
                    </a:lnR>
                    <a:lnT w="12700" cap="flat" cmpd="sng" algn="ctr">
                      <a:solidFill>
                        <a:srgbClr val="E4E6F0"/>
                      </a:solidFill>
                      <a:prstDash val="solid"/>
                      <a:round/>
                      <a:headEnd type="none" w="med" len="med"/>
                      <a:tailEnd type="none" w="med" len="med"/>
                    </a:lnT>
                    <a:lnB w="12700" cap="flat" cmpd="sng" algn="ctr">
                      <a:solidFill>
                        <a:srgbClr val="E4E6F0"/>
                      </a:solidFill>
                      <a:prstDash val="solid"/>
                      <a:round/>
                      <a:headEnd type="none" w="med" len="med"/>
                      <a:tailEnd type="none" w="med" len="med"/>
                    </a:lnB>
                    <a:solidFill>
                      <a:srgbClr val="14172B"/>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ADF stat</a:t>
                      </a:r>
                      <a:endParaRPr lang="en-US" sz="1200" dirty="0">
                        <a:latin typeface="Calibri" charset="0"/>
                        <a:ea typeface="Calibri" charset="0"/>
                        <a:cs typeface="Calibri" charset="0"/>
                      </a:endParaRPr>
                    </a:p>
                  </a:txBody>
                  <a:tcPr marL="91440" marR="91440" marT="0" marB="0" anchor="ctr">
                    <a:lnL w="12700" cap="flat" cmpd="sng" algn="ctr">
                      <a:solidFill>
                        <a:srgbClr val="E4E6F0"/>
                      </a:solidFill>
                      <a:prstDash val="solid"/>
                      <a:round/>
                      <a:headEnd type="none" w="med" len="med"/>
                      <a:tailEnd type="none" w="med" len="med"/>
                    </a:lnL>
                    <a:lnR w="12700" cap="flat" cmpd="sng" algn="ctr">
                      <a:solidFill>
                        <a:srgbClr val="E4E6F0"/>
                      </a:solidFill>
                      <a:prstDash val="solid"/>
                      <a:round/>
                      <a:headEnd type="none" w="med" len="med"/>
                      <a:tailEnd type="none" w="med" len="med"/>
                    </a:lnR>
                    <a:lnT w="12700" cap="flat" cmpd="sng" algn="ctr">
                      <a:solidFill>
                        <a:srgbClr val="E4E6F0"/>
                      </a:solidFill>
                      <a:prstDash val="solid"/>
                      <a:round/>
                      <a:headEnd type="none" w="med" len="med"/>
                      <a:tailEnd type="none" w="med" len="med"/>
                    </a:lnT>
                    <a:lnB w="12700" cap="flat" cmpd="sng" algn="ctr">
                      <a:solidFill>
                        <a:srgbClr val="E4E6F0"/>
                      </a:solidFill>
                      <a:prstDash val="solid"/>
                      <a:round/>
                      <a:headEnd type="none" w="med" len="med"/>
                      <a:tailEnd type="none" w="med" len="med"/>
                    </a:lnB>
                    <a:solidFill>
                      <a:srgbClr val="14172B"/>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p-value</a:t>
                      </a:r>
                      <a:endParaRPr lang="en-US" sz="1200" dirty="0">
                        <a:latin typeface="Calibri" charset="0"/>
                        <a:ea typeface="Calibri" charset="0"/>
                        <a:cs typeface="Calibri" charset="0"/>
                      </a:endParaRPr>
                    </a:p>
                  </a:txBody>
                  <a:tcPr marL="91440" marR="91440" marT="0" marB="0" anchor="ctr">
                    <a:lnL w="12700" cap="flat" cmpd="sng" algn="ctr">
                      <a:solidFill>
                        <a:srgbClr val="E4E6F0"/>
                      </a:solidFill>
                      <a:prstDash val="solid"/>
                      <a:round/>
                      <a:headEnd type="none" w="med" len="med"/>
                      <a:tailEnd type="none" w="med" len="med"/>
                    </a:lnL>
                    <a:lnR w="12700" cap="flat" cmpd="sng" algn="ctr">
                      <a:solidFill>
                        <a:srgbClr val="E4E6F0"/>
                      </a:solidFill>
                      <a:prstDash val="solid"/>
                      <a:round/>
                      <a:headEnd type="none" w="med" len="med"/>
                      <a:tailEnd type="none" w="med" len="med"/>
                    </a:lnR>
                    <a:lnT w="12700" cap="flat" cmpd="sng" algn="ctr">
                      <a:solidFill>
                        <a:srgbClr val="E4E6F0"/>
                      </a:solidFill>
                      <a:prstDash val="solid"/>
                      <a:round/>
                      <a:headEnd type="none" w="med" len="med"/>
                      <a:tailEnd type="none" w="med" len="med"/>
                    </a:lnT>
                    <a:lnB w="12700" cap="flat" cmpd="sng" algn="ctr">
                      <a:solidFill>
                        <a:srgbClr val="E4E6F0"/>
                      </a:solidFill>
                      <a:prstDash val="solid"/>
                      <a:round/>
                      <a:headEnd type="none" w="med" len="med"/>
                      <a:tailEnd type="none" w="med" len="med"/>
                    </a:lnB>
                    <a:solidFill>
                      <a:srgbClr val="14172B"/>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Verdict</a:t>
                      </a:r>
                      <a:endParaRPr lang="en-US" sz="1200" dirty="0">
                        <a:latin typeface="Calibri" charset="0"/>
                        <a:ea typeface="Calibri" charset="0"/>
                        <a:cs typeface="Calibri" charset="0"/>
                      </a:endParaRPr>
                    </a:p>
                  </a:txBody>
                  <a:tcPr marL="91440" marR="91440" marT="0" marB="0" anchor="ctr">
                    <a:lnL w="12700" cap="flat" cmpd="sng" algn="ctr">
                      <a:solidFill>
                        <a:srgbClr val="E4E6F0"/>
                      </a:solidFill>
                      <a:prstDash val="solid"/>
                      <a:round/>
                      <a:headEnd type="none" w="med" len="med"/>
                      <a:tailEnd type="none" w="med" len="med"/>
                    </a:lnL>
                    <a:lnR w="12700" cap="flat" cmpd="sng" algn="ctr">
                      <a:solidFill>
                        <a:srgbClr val="E4E6F0"/>
                      </a:solidFill>
                      <a:prstDash val="solid"/>
                      <a:round/>
                      <a:headEnd type="none" w="med" len="med"/>
                      <a:tailEnd type="none" w="med" len="med"/>
                    </a:lnR>
                    <a:lnT w="12700" cap="flat" cmpd="sng" algn="ctr">
                      <a:solidFill>
                        <a:srgbClr val="E4E6F0"/>
                      </a:solidFill>
                      <a:prstDash val="solid"/>
                      <a:round/>
                      <a:headEnd type="none" w="med" len="med"/>
                      <a:tailEnd type="none" w="med" len="med"/>
                    </a:lnT>
                    <a:lnB w="12700" cap="flat" cmpd="sng" algn="ctr">
                      <a:solidFill>
                        <a:srgbClr val="E4E6F0"/>
                      </a:solidFill>
                      <a:prstDash val="solid"/>
                      <a:round/>
                      <a:headEnd type="none" w="med" len="med"/>
                      <a:tailEnd type="none" w="med" len="med"/>
                    </a:lnB>
                    <a:solidFill>
                      <a:srgbClr val="14172B"/>
                    </a:solidFill>
                  </a:tcPr>
                </a:tc>
              </a:tr>
              <a:tr h="566928">
                <a:tc>
                  <a:txBody>
                    <a:bodyPr/>
                    <a:lstStyle/>
                    <a:p>
                      <a:pPr indent="0" marL="0">
                        <a:buNone/>
                      </a:pPr>
                      <a:r>
                        <a:rPr lang="en-US" sz="1200" b="1" dirty="0">
                          <a:solidFill>
                            <a:srgbClr val="1B1F2A"/>
                          </a:solidFill>
                          <a:latin typeface="Calibri" pitchFamily="34" charset="0"/>
                          <a:ea typeface="Calibri" pitchFamily="34" charset="-122"/>
                          <a:cs typeface="Calibri" pitchFamily="34" charset="-120"/>
                        </a:rPr>
                        <a:t>Raw target</a:t>
                      </a:r>
                      <a:endParaRPr lang="en-US" sz="1200" dirty="0">
                        <a:latin typeface="Calibri" charset="0"/>
                        <a:ea typeface="Calibri" charset="0"/>
                        <a:cs typeface="Calibri" charset="0"/>
                      </a:endParaRPr>
                    </a:p>
                  </a:txBody>
                  <a:tcPr marL="91440" marR="91440" marT="0" marB="0" anchor="ctr">
                    <a:lnL w="12700" cap="flat" cmpd="sng" algn="ctr">
                      <a:solidFill>
                        <a:srgbClr val="E4E6F0"/>
                      </a:solidFill>
                      <a:prstDash val="solid"/>
                      <a:round/>
                      <a:headEnd type="none" w="med" len="med"/>
                      <a:tailEnd type="none" w="med" len="med"/>
                    </a:lnL>
                    <a:lnR w="12700" cap="flat" cmpd="sng" algn="ctr">
                      <a:solidFill>
                        <a:srgbClr val="E4E6F0"/>
                      </a:solidFill>
                      <a:prstDash val="solid"/>
                      <a:round/>
                      <a:headEnd type="none" w="med" len="med"/>
                      <a:tailEnd type="none" w="med" len="med"/>
                    </a:lnR>
                    <a:lnT w="12700" cap="flat" cmpd="sng" algn="ctr">
                      <a:solidFill>
                        <a:srgbClr val="E4E6F0"/>
                      </a:solidFill>
                      <a:prstDash val="solid"/>
                      <a:round/>
                      <a:headEnd type="none" w="med" len="med"/>
                      <a:tailEnd type="none" w="med" len="med"/>
                    </a:lnT>
                    <a:lnB w="12700" cap="flat" cmpd="sng" algn="ctr">
                      <a:solidFill>
                        <a:srgbClr val="E4E6F0"/>
                      </a:solidFill>
                      <a:prstDash val="solid"/>
                      <a:round/>
                      <a:headEnd type="none" w="med" len="med"/>
                      <a:tailEnd type="none" w="med" len="med"/>
                    </a:lnB>
                  </a:tcPr>
                </a:tc>
                <a:tc>
                  <a:txBody>
                    <a:bodyPr/>
                    <a:lstStyle/>
                    <a:p>
                      <a:pPr indent="0" marL="0">
                        <a:buNone/>
                      </a:pPr>
                      <a:r>
                        <a:rPr lang="en-US" sz="1200" dirty="0">
                          <a:solidFill>
                            <a:srgbClr val="1B1F2A"/>
                          </a:solidFill>
                          <a:latin typeface="Calibri" pitchFamily="34" charset="0"/>
                          <a:ea typeface="Calibri" pitchFamily="34" charset="-122"/>
                          <a:cs typeface="Calibri" pitchFamily="34" charset="-120"/>
                        </a:rPr>
                        <a:t>−4.06</a:t>
                      </a:r>
                      <a:endParaRPr lang="en-US" sz="1200" dirty="0">
                        <a:latin typeface="Calibri" charset="0"/>
                        <a:ea typeface="Calibri" charset="0"/>
                        <a:cs typeface="Calibri" charset="0"/>
                      </a:endParaRPr>
                    </a:p>
                  </a:txBody>
                  <a:tcPr marL="91440" marR="91440" marT="0" marB="0" anchor="ctr">
                    <a:lnL w="12700" cap="flat" cmpd="sng" algn="ctr">
                      <a:solidFill>
                        <a:srgbClr val="E4E6F0"/>
                      </a:solidFill>
                      <a:prstDash val="solid"/>
                      <a:round/>
                      <a:headEnd type="none" w="med" len="med"/>
                      <a:tailEnd type="none" w="med" len="med"/>
                    </a:lnL>
                    <a:lnR w="12700" cap="flat" cmpd="sng" algn="ctr">
                      <a:solidFill>
                        <a:srgbClr val="E4E6F0"/>
                      </a:solidFill>
                      <a:prstDash val="solid"/>
                      <a:round/>
                      <a:headEnd type="none" w="med" len="med"/>
                      <a:tailEnd type="none" w="med" len="med"/>
                    </a:lnR>
                    <a:lnT w="12700" cap="flat" cmpd="sng" algn="ctr">
                      <a:solidFill>
                        <a:srgbClr val="E4E6F0"/>
                      </a:solidFill>
                      <a:prstDash val="solid"/>
                      <a:round/>
                      <a:headEnd type="none" w="med" len="med"/>
                      <a:tailEnd type="none" w="med" len="med"/>
                    </a:lnT>
                    <a:lnB w="12700" cap="flat" cmpd="sng" algn="ctr">
                      <a:solidFill>
                        <a:srgbClr val="E4E6F0"/>
                      </a:solidFill>
                      <a:prstDash val="solid"/>
                      <a:round/>
                      <a:headEnd type="none" w="med" len="med"/>
                      <a:tailEnd type="none" w="med" len="med"/>
                    </a:lnB>
                  </a:tcPr>
                </a:tc>
                <a:tc>
                  <a:txBody>
                    <a:bodyPr/>
                    <a:lstStyle/>
                    <a:p>
                      <a:pPr indent="0" marL="0">
                        <a:buNone/>
                      </a:pPr>
                      <a:r>
                        <a:rPr lang="en-US" sz="1200" dirty="0">
                          <a:solidFill>
                            <a:srgbClr val="1B1F2A"/>
                          </a:solidFill>
                          <a:latin typeface="Calibri" pitchFamily="34" charset="0"/>
                          <a:ea typeface="Calibri" pitchFamily="34" charset="-122"/>
                          <a:cs typeface="Calibri" pitchFamily="34" charset="-120"/>
                        </a:rPr>
                        <a:t>0.0011</a:t>
                      </a:r>
                      <a:endParaRPr lang="en-US" sz="1200" dirty="0">
                        <a:latin typeface="Calibri" charset="0"/>
                        <a:ea typeface="Calibri" charset="0"/>
                        <a:cs typeface="Calibri" charset="0"/>
                      </a:endParaRPr>
                    </a:p>
                  </a:txBody>
                  <a:tcPr marL="91440" marR="91440" marT="0" marB="0" anchor="ctr">
                    <a:lnL w="12700" cap="flat" cmpd="sng" algn="ctr">
                      <a:solidFill>
                        <a:srgbClr val="E4E6F0"/>
                      </a:solidFill>
                      <a:prstDash val="solid"/>
                      <a:round/>
                      <a:headEnd type="none" w="med" len="med"/>
                      <a:tailEnd type="none" w="med" len="med"/>
                    </a:lnL>
                    <a:lnR w="12700" cap="flat" cmpd="sng" algn="ctr">
                      <a:solidFill>
                        <a:srgbClr val="E4E6F0"/>
                      </a:solidFill>
                      <a:prstDash val="solid"/>
                      <a:round/>
                      <a:headEnd type="none" w="med" len="med"/>
                      <a:tailEnd type="none" w="med" len="med"/>
                    </a:lnR>
                    <a:lnT w="12700" cap="flat" cmpd="sng" algn="ctr">
                      <a:solidFill>
                        <a:srgbClr val="E4E6F0"/>
                      </a:solidFill>
                      <a:prstDash val="solid"/>
                      <a:round/>
                      <a:headEnd type="none" w="med" len="med"/>
                      <a:tailEnd type="none" w="med" len="med"/>
                    </a:lnT>
                    <a:lnB w="12700" cap="flat" cmpd="sng" algn="ctr">
                      <a:solidFill>
                        <a:srgbClr val="E4E6F0"/>
                      </a:solidFill>
                      <a:prstDash val="solid"/>
                      <a:round/>
                      <a:headEnd type="none" w="med" len="med"/>
                      <a:tailEnd type="none" w="med" len="med"/>
                    </a:lnB>
                  </a:tcPr>
                </a:tc>
                <a:tc>
                  <a:txBody>
                    <a:bodyPr/>
                    <a:lstStyle/>
                    <a:p>
                      <a:pPr indent="0" marL="0">
                        <a:buNone/>
                      </a:pPr>
                      <a:r>
                        <a:rPr lang="en-US" sz="1200" b="1" dirty="0">
                          <a:solidFill>
                            <a:srgbClr val="1F9D55"/>
                          </a:solidFill>
                          <a:latin typeface="Calibri" pitchFamily="34" charset="0"/>
                          <a:ea typeface="Calibri" pitchFamily="34" charset="-122"/>
                          <a:cs typeface="Calibri" pitchFamily="34" charset="-120"/>
                        </a:rPr>
                        <a:t>Stationary</a:t>
                      </a:r>
                      <a:endParaRPr lang="en-US" sz="1200" dirty="0">
                        <a:latin typeface="Calibri" charset="0"/>
                        <a:ea typeface="Calibri" charset="0"/>
                        <a:cs typeface="Calibri" charset="0"/>
                      </a:endParaRPr>
                    </a:p>
                  </a:txBody>
                  <a:tcPr marL="91440" marR="91440" marT="0" marB="0" anchor="ctr">
                    <a:lnL w="12700" cap="flat" cmpd="sng" algn="ctr">
                      <a:solidFill>
                        <a:srgbClr val="E4E6F0"/>
                      </a:solidFill>
                      <a:prstDash val="solid"/>
                      <a:round/>
                      <a:headEnd type="none" w="med" len="med"/>
                      <a:tailEnd type="none" w="med" len="med"/>
                    </a:lnL>
                    <a:lnR w="12700" cap="flat" cmpd="sng" algn="ctr">
                      <a:solidFill>
                        <a:srgbClr val="E4E6F0"/>
                      </a:solidFill>
                      <a:prstDash val="solid"/>
                      <a:round/>
                      <a:headEnd type="none" w="med" len="med"/>
                      <a:tailEnd type="none" w="med" len="med"/>
                    </a:lnR>
                    <a:lnT w="12700" cap="flat" cmpd="sng" algn="ctr">
                      <a:solidFill>
                        <a:srgbClr val="E4E6F0"/>
                      </a:solidFill>
                      <a:prstDash val="solid"/>
                      <a:round/>
                      <a:headEnd type="none" w="med" len="med"/>
                      <a:tailEnd type="none" w="med" len="med"/>
                    </a:lnT>
                    <a:lnB w="12700" cap="flat" cmpd="sng" algn="ctr">
                      <a:solidFill>
                        <a:srgbClr val="E4E6F0"/>
                      </a:solidFill>
                      <a:prstDash val="solid"/>
                      <a:round/>
                      <a:headEnd type="none" w="med" len="med"/>
                      <a:tailEnd type="none" w="med" len="med"/>
                    </a:lnB>
                  </a:tcPr>
                </a:tc>
              </a:tr>
              <a:tr h="566928">
                <a:tc>
                  <a:txBody>
                    <a:bodyPr/>
                    <a:lstStyle/>
                    <a:p>
                      <a:pPr indent="0" marL="0">
                        <a:buNone/>
                      </a:pPr>
                      <a:r>
                        <a:rPr lang="en-US" sz="1200" b="1" dirty="0">
                          <a:solidFill>
                            <a:srgbClr val="1B1F2A"/>
                          </a:solidFill>
                          <a:latin typeface="Calibri" pitchFamily="34" charset="0"/>
                          <a:ea typeface="Calibri" pitchFamily="34" charset="-122"/>
                          <a:cs typeface="Calibri" pitchFamily="34" charset="-120"/>
                        </a:rPr>
                        <a:t>First difference</a:t>
                      </a:r>
                      <a:endParaRPr lang="en-US" sz="1200" dirty="0">
                        <a:latin typeface="Calibri" charset="0"/>
                        <a:ea typeface="Calibri" charset="0"/>
                        <a:cs typeface="Calibri" charset="0"/>
                      </a:endParaRPr>
                    </a:p>
                  </a:txBody>
                  <a:tcPr marL="91440" marR="91440" marT="0" marB="0" anchor="ctr">
                    <a:lnL w="12700" cap="flat" cmpd="sng" algn="ctr">
                      <a:solidFill>
                        <a:srgbClr val="E4E6F0"/>
                      </a:solidFill>
                      <a:prstDash val="solid"/>
                      <a:round/>
                      <a:headEnd type="none" w="med" len="med"/>
                      <a:tailEnd type="none" w="med" len="med"/>
                    </a:lnL>
                    <a:lnR w="12700" cap="flat" cmpd="sng" algn="ctr">
                      <a:solidFill>
                        <a:srgbClr val="E4E6F0"/>
                      </a:solidFill>
                      <a:prstDash val="solid"/>
                      <a:round/>
                      <a:headEnd type="none" w="med" len="med"/>
                      <a:tailEnd type="none" w="med" len="med"/>
                    </a:lnR>
                    <a:lnT w="12700" cap="flat" cmpd="sng" algn="ctr">
                      <a:solidFill>
                        <a:srgbClr val="E4E6F0"/>
                      </a:solidFill>
                      <a:prstDash val="solid"/>
                      <a:round/>
                      <a:headEnd type="none" w="med" len="med"/>
                      <a:tailEnd type="none" w="med" len="med"/>
                    </a:lnT>
                    <a:lnB w="12700" cap="flat" cmpd="sng" algn="ctr">
                      <a:solidFill>
                        <a:srgbClr val="E4E6F0"/>
                      </a:solidFill>
                      <a:prstDash val="solid"/>
                      <a:round/>
                      <a:headEnd type="none" w="med" len="med"/>
                      <a:tailEnd type="none" w="med" len="med"/>
                    </a:lnB>
                  </a:tcPr>
                </a:tc>
                <a:tc>
                  <a:txBody>
                    <a:bodyPr/>
                    <a:lstStyle/>
                    <a:p>
                      <a:pPr indent="0" marL="0">
                        <a:buNone/>
                      </a:pPr>
                      <a:r>
                        <a:rPr lang="en-US" sz="1200" dirty="0">
                          <a:solidFill>
                            <a:srgbClr val="1B1F2A"/>
                          </a:solidFill>
                          <a:latin typeface="Calibri" pitchFamily="34" charset="0"/>
                          <a:ea typeface="Calibri" pitchFamily="34" charset="-122"/>
                          <a:cs typeface="Calibri" pitchFamily="34" charset="-120"/>
                        </a:rPr>
                        <a:t>−7.96</a:t>
                      </a:r>
                      <a:endParaRPr lang="en-US" sz="1200" dirty="0">
                        <a:latin typeface="Calibri" charset="0"/>
                        <a:ea typeface="Calibri" charset="0"/>
                        <a:cs typeface="Calibri" charset="0"/>
                      </a:endParaRPr>
                    </a:p>
                  </a:txBody>
                  <a:tcPr marL="91440" marR="91440" marT="0" marB="0" anchor="ctr">
                    <a:lnL w="12700" cap="flat" cmpd="sng" algn="ctr">
                      <a:solidFill>
                        <a:srgbClr val="E4E6F0"/>
                      </a:solidFill>
                      <a:prstDash val="solid"/>
                      <a:round/>
                      <a:headEnd type="none" w="med" len="med"/>
                      <a:tailEnd type="none" w="med" len="med"/>
                    </a:lnL>
                    <a:lnR w="12700" cap="flat" cmpd="sng" algn="ctr">
                      <a:solidFill>
                        <a:srgbClr val="E4E6F0"/>
                      </a:solidFill>
                      <a:prstDash val="solid"/>
                      <a:round/>
                      <a:headEnd type="none" w="med" len="med"/>
                      <a:tailEnd type="none" w="med" len="med"/>
                    </a:lnR>
                    <a:lnT w="12700" cap="flat" cmpd="sng" algn="ctr">
                      <a:solidFill>
                        <a:srgbClr val="E4E6F0"/>
                      </a:solidFill>
                      <a:prstDash val="solid"/>
                      <a:round/>
                      <a:headEnd type="none" w="med" len="med"/>
                      <a:tailEnd type="none" w="med" len="med"/>
                    </a:lnT>
                    <a:lnB w="12700" cap="flat" cmpd="sng" algn="ctr">
                      <a:solidFill>
                        <a:srgbClr val="E4E6F0"/>
                      </a:solidFill>
                      <a:prstDash val="solid"/>
                      <a:round/>
                      <a:headEnd type="none" w="med" len="med"/>
                      <a:tailEnd type="none" w="med" len="med"/>
                    </a:lnB>
                  </a:tcPr>
                </a:tc>
                <a:tc>
                  <a:txBody>
                    <a:bodyPr/>
                    <a:lstStyle/>
                    <a:p>
                      <a:pPr indent="0" marL="0">
                        <a:buNone/>
                      </a:pPr>
                      <a:r>
                        <a:rPr lang="en-US" sz="1200" dirty="0">
                          <a:solidFill>
                            <a:srgbClr val="1B1F2A"/>
                          </a:solidFill>
                          <a:latin typeface="Calibri" pitchFamily="34" charset="0"/>
                          <a:ea typeface="Calibri" pitchFamily="34" charset="-122"/>
                          <a:cs typeface="Calibri" pitchFamily="34" charset="-120"/>
                        </a:rPr>
                        <a:t>&lt; 0.0001</a:t>
                      </a:r>
                      <a:endParaRPr lang="en-US" sz="1200" dirty="0">
                        <a:latin typeface="Calibri" charset="0"/>
                        <a:ea typeface="Calibri" charset="0"/>
                        <a:cs typeface="Calibri" charset="0"/>
                      </a:endParaRPr>
                    </a:p>
                  </a:txBody>
                  <a:tcPr marL="91440" marR="91440" marT="0" marB="0" anchor="ctr">
                    <a:lnL w="12700" cap="flat" cmpd="sng" algn="ctr">
                      <a:solidFill>
                        <a:srgbClr val="E4E6F0"/>
                      </a:solidFill>
                      <a:prstDash val="solid"/>
                      <a:round/>
                      <a:headEnd type="none" w="med" len="med"/>
                      <a:tailEnd type="none" w="med" len="med"/>
                    </a:lnL>
                    <a:lnR w="12700" cap="flat" cmpd="sng" algn="ctr">
                      <a:solidFill>
                        <a:srgbClr val="E4E6F0"/>
                      </a:solidFill>
                      <a:prstDash val="solid"/>
                      <a:round/>
                      <a:headEnd type="none" w="med" len="med"/>
                      <a:tailEnd type="none" w="med" len="med"/>
                    </a:lnR>
                    <a:lnT w="12700" cap="flat" cmpd="sng" algn="ctr">
                      <a:solidFill>
                        <a:srgbClr val="E4E6F0"/>
                      </a:solidFill>
                      <a:prstDash val="solid"/>
                      <a:round/>
                      <a:headEnd type="none" w="med" len="med"/>
                      <a:tailEnd type="none" w="med" len="med"/>
                    </a:lnT>
                    <a:lnB w="12700" cap="flat" cmpd="sng" algn="ctr">
                      <a:solidFill>
                        <a:srgbClr val="E4E6F0"/>
                      </a:solidFill>
                      <a:prstDash val="solid"/>
                      <a:round/>
                      <a:headEnd type="none" w="med" len="med"/>
                      <a:tailEnd type="none" w="med" len="med"/>
                    </a:lnB>
                  </a:tcPr>
                </a:tc>
                <a:tc>
                  <a:txBody>
                    <a:bodyPr/>
                    <a:lstStyle/>
                    <a:p>
                      <a:pPr indent="0" marL="0">
                        <a:buNone/>
                      </a:pPr>
                      <a:r>
                        <a:rPr lang="en-US" sz="1200" b="1" dirty="0">
                          <a:solidFill>
                            <a:srgbClr val="1F9D55"/>
                          </a:solidFill>
                          <a:latin typeface="Calibri" pitchFamily="34" charset="0"/>
                          <a:ea typeface="Calibri" pitchFamily="34" charset="-122"/>
                          <a:cs typeface="Calibri" pitchFamily="34" charset="-120"/>
                        </a:rPr>
                        <a:t>Stationary</a:t>
                      </a:r>
                      <a:endParaRPr lang="en-US" sz="1200" dirty="0">
                        <a:latin typeface="Calibri" charset="0"/>
                        <a:ea typeface="Calibri" charset="0"/>
                        <a:cs typeface="Calibri" charset="0"/>
                      </a:endParaRPr>
                    </a:p>
                  </a:txBody>
                  <a:tcPr marL="91440" marR="91440" marT="0" marB="0" anchor="ctr">
                    <a:lnL w="12700" cap="flat" cmpd="sng" algn="ctr">
                      <a:solidFill>
                        <a:srgbClr val="E4E6F0"/>
                      </a:solidFill>
                      <a:prstDash val="solid"/>
                      <a:round/>
                      <a:headEnd type="none" w="med" len="med"/>
                      <a:tailEnd type="none" w="med" len="med"/>
                    </a:lnL>
                    <a:lnR w="12700" cap="flat" cmpd="sng" algn="ctr">
                      <a:solidFill>
                        <a:srgbClr val="E4E6F0"/>
                      </a:solidFill>
                      <a:prstDash val="solid"/>
                      <a:round/>
                      <a:headEnd type="none" w="med" len="med"/>
                      <a:tailEnd type="none" w="med" len="med"/>
                    </a:lnR>
                    <a:lnT w="12700" cap="flat" cmpd="sng" algn="ctr">
                      <a:solidFill>
                        <a:srgbClr val="E4E6F0"/>
                      </a:solidFill>
                      <a:prstDash val="solid"/>
                      <a:round/>
                      <a:headEnd type="none" w="med" len="med"/>
                      <a:tailEnd type="none" w="med" len="med"/>
                    </a:lnT>
                    <a:lnB w="12700" cap="flat" cmpd="sng" algn="ctr">
                      <a:solidFill>
                        <a:srgbClr val="E4E6F0"/>
                      </a:solidFill>
                      <a:prstDash val="solid"/>
                      <a:round/>
                      <a:headEnd type="none" w="med" len="med"/>
                      <a:tailEnd type="none" w="med" len="med"/>
                    </a:lnB>
                  </a:tcPr>
                </a:tc>
              </a:tr>
              <a:tr h="777240">
                <a:tc>
                  <a:txBody>
                    <a:bodyPr/>
                    <a:lstStyle/>
                    <a:p>
                      <a:pPr indent="0" marL="0">
                        <a:buNone/>
                      </a:pPr>
                      <a:r>
                        <a:rPr lang="en-US" sz="1200" b="1" dirty="0">
                          <a:solidFill>
                            <a:srgbClr val="1B1F2A"/>
                          </a:solidFill>
                          <a:latin typeface="Calibri" pitchFamily="34" charset="0"/>
                          <a:ea typeface="Calibri" pitchFamily="34" charset="-122"/>
                          <a:cs typeface="Calibri" pitchFamily="34" charset="-120"/>
                        </a:rPr>
                        <a:t>Seasonal difference (182 obs ≈ 1 year)</a:t>
                      </a:r>
                      <a:endParaRPr lang="en-US" sz="1200" dirty="0">
                        <a:latin typeface="Calibri" charset="0"/>
                        <a:ea typeface="Calibri" charset="0"/>
                        <a:cs typeface="Calibri" charset="0"/>
                      </a:endParaRPr>
                    </a:p>
                  </a:txBody>
                  <a:tcPr marL="91440" marR="91440" marT="0" marB="0" anchor="ctr">
                    <a:lnL w="12700" cap="flat" cmpd="sng" algn="ctr">
                      <a:solidFill>
                        <a:srgbClr val="E4E6F0"/>
                      </a:solidFill>
                      <a:prstDash val="solid"/>
                      <a:round/>
                      <a:headEnd type="none" w="med" len="med"/>
                      <a:tailEnd type="none" w="med" len="med"/>
                    </a:lnL>
                    <a:lnR w="12700" cap="flat" cmpd="sng" algn="ctr">
                      <a:solidFill>
                        <a:srgbClr val="E4E6F0"/>
                      </a:solidFill>
                      <a:prstDash val="solid"/>
                      <a:round/>
                      <a:headEnd type="none" w="med" len="med"/>
                      <a:tailEnd type="none" w="med" len="med"/>
                    </a:lnR>
                    <a:lnT w="12700" cap="flat" cmpd="sng" algn="ctr">
                      <a:solidFill>
                        <a:srgbClr val="E4E6F0"/>
                      </a:solidFill>
                      <a:prstDash val="solid"/>
                      <a:round/>
                      <a:headEnd type="none" w="med" len="med"/>
                      <a:tailEnd type="none" w="med" len="med"/>
                    </a:lnT>
                    <a:lnB w="12700" cap="flat" cmpd="sng" algn="ctr">
                      <a:solidFill>
                        <a:srgbClr val="E4E6F0"/>
                      </a:solidFill>
                      <a:prstDash val="solid"/>
                      <a:round/>
                      <a:headEnd type="none" w="med" len="med"/>
                      <a:tailEnd type="none" w="med" len="med"/>
                    </a:lnB>
                  </a:tcPr>
                </a:tc>
                <a:tc>
                  <a:txBody>
                    <a:bodyPr/>
                    <a:lstStyle/>
                    <a:p>
                      <a:pPr indent="0" marL="0">
                        <a:buNone/>
                      </a:pPr>
                      <a:r>
                        <a:rPr lang="en-US" sz="1200" dirty="0">
                          <a:solidFill>
                            <a:srgbClr val="1B1F2A"/>
                          </a:solidFill>
                          <a:latin typeface="Calibri" pitchFamily="34" charset="0"/>
                          <a:ea typeface="Calibri" pitchFamily="34" charset="-122"/>
                          <a:cs typeface="Calibri" pitchFamily="34" charset="-120"/>
                        </a:rPr>
                        <a:t>−7.53</a:t>
                      </a:r>
                      <a:endParaRPr lang="en-US" sz="1200" dirty="0">
                        <a:latin typeface="Calibri" charset="0"/>
                        <a:ea typeface="Calibri" charset="0"/>
                        <a:cs typeface="Calibri" charset="0"/>
                      </a:endParaRPr>
                    </a:p>
                  </a:txBody>
                  <a:tcPr marL="91440" marR="91440" marT="0" marB="0" anchor="ctr">
                    <a:lnL w="12700" cap="flat" cmpd="sng" algn="ctr">
                      <a:solidFill>
                        <a:srgbClr val="E4E6F0"/>
                      </a:solidFill>
                      <a:prstDash val="solid"/>
                      <a:round/>
                      <a:headEnd type="none" w="med" len="med"/>
                      <a:tailEnd type="none" w="med" len="med"/>
                    </a:lnL>
                    <a:lnR w="12700" cap="flat" cmpd="sng" algn="ctr">
                      <a:solidFill>
                        <a:srgbClr val="E4E6F0"/>
                      </a:solidFill>
                      <a:prstDash val="solid"/>
                      <a:round/>
                      <a:headEnd type="none" w="med" len="med"/>
                      <a:tailEnd type="none" w="med" len="med"/>
                    </a:lnR>
                    <a:lnT w="12700" cap="flat" cmpd="sng" algn="ctr">
                      <a:solidFill>
                        <a:srgbClr val="E4E6F0"/>
                      </a:solidFill>
                      <a:prstDash val="solid"/>
                      <a:round/>
                      <a:headEnd type="none" w="med" len="med"/>
                      <a:tailEnd type="none" w="med" len="med"/>
                    </a:lnT>
                    <a:lnB w="12700" cap="flat" cmpd="sng" algn="ctr">
                      <a:solidFill>
                        <a:srgbClr val="E4E6F0"/>
                      </a:solidFill>
                      <a:prstDash val="solid"/>
                      <a:round/>
                      <a:headEnd type="none" w="med" len="med"/>
                      <a:tailEnd type="none" w="med" len="med"/>
                    </a:lnB>
                  </a:tcPr>
                </a:tc>
                <a:tc>
                  <a:txBody>
                    <a:bodyPr/>
                    <a:lstStyle/>
                    <a:p>
                      <a:pPr indent="0" marL="0">
                        <a:buNone/>
                      </a:pPr>
                      <a:r>
                        <a:rPr lang="en-US" sz="1200" dirty="0">
                          <a:solidFill>
                            <a:srgbClr val="1B1F2A"/>
                          </a:solidFill>
                          <a:latin typeface="Calibri" pitchFamily="34" charset="0"/>
                          <a:ea typeface="Calibri" pitchFamily="34" charset="-122"/>
                          <a:cs typeface="Calibri" pitchFamily="34" charset="-120"/>
                        </a:rPr>
                        <a:t>&lt; 0.0001</a:t>
                      </a:r>
                      <a:endParaRPr lang="en-US" sz="1200" dirty="0">
                        <a:latin typeface="Calibri" charset="0"/>
                        <a:ea typeface="Calibri" charset="0"/>
                        <a:cs typeface="Calibri" charset="0"/>
                      </a:endParaRPr>
                    </a:p>
                  </a:txBody>
                  <a:tcPr marL="91440" marR="91440" marT="0" marB="0" anchor="ctr">
                    <a:lnL w="12700" cap="flat" cmpd="sng" algn="ctr">
                      <a:solidFill>
                        <a:srgbClr val="E4E6F0"/>
                      </a:solidFill>
                      <a:prstDash val="solid"/>
                      <a:round/>
                      <a:headEnd type="none" w="med" len="med"/>
                      <a:tailEnd type="none" w="med" len="med"/>
                    </a:lnL>
                    <a:lnR w="12700" cap="flat" cmpd="sng" algn="ctr">
                      <a:solidFill>
                        <a:srgbClr val="E4E6F0"/>
                      </a:solidFill>
                      <a:prstDash val="solid"/>
                      <a:round/>
                      <a:headEnd type="none" w="med" len="med"/>
                      <a:tailEnd type="none" w="med" len="med"/>
                    </a:lnR>
                    <a:lnT w="12700" cap="flat" cmpd="sng" algn="ctr">
                      <a:solidFill>
                        <a:srgbClr val="E4E6F0"/>
                      </a:solidFill>
                      <a:prstDash val="solid"/>
                      <a:round/>
                      <a:headEnd type="none" w="med" len="med"/>
                      <a:tailEnd type="none" w="med" len="med"/>
                    </a:lnT>
                    <a:lnB w="12700" cap="flat" cmpd="sng" algn="ctr">
                      <a:solidFill>
                        <a:srgbClr val="E4E6F0"/>
                      </a:solidFill>
                      <a:prstDash val="solid"/>
                      <a:round/>
                      <a:headEnd type="none" w="med" len="med"/>
                      <a:tailEnd type="none" w="med" len="med"/>
                    </a:lnB>
                  </a:tcPr>
                </a:tc>
                <a:tc>
                  <a:txBody>
                    <a:bodyPr/>
                    <a:lstStyle/>
                    <a:p>
                      <a:pPr indent="0" marL="0">
                        <a:buNone/>
                      </a:pPr>
                      <a:r>
                        <a:rPr lang="en-US" sz="1200" b="1" dirty="0">
                          <a:solidFill>
                            <a:srgbClr val="1F9D55"/>
                          </a:solidFill>
                          <a:latin typeface="Calibri" pitchFamily="34" charset="0"/>
                          <a:ea typeface="Calibri" pitchFamily="34" charset="-122"/>
                          <a:cs typeface="Calibri" pitchFamily="34" charset="-120"/>
                        </a:rPr>
                        <a:t>Stationary</a:t>
                      </a:r>
                      <a:endParaRPr lang="en-US" sz="1200" dirty="0">
                        <a:latin typeface="Calibri" charset="0"/>
                        <a:ea typeface="Calibri" charset="0"/>
                        <a:cs typeface="Calibri" charset="0"/>
                      </a:endParaRPr>
                    </a:p>
                  </a:txBody>
                  <a:tcPr marL="91440" marR="91440" marT="0" marB="0" anchor="ctr">
                    <a:lnL w="12700" cap="flat" cmpd="sng" algn="ctr">
                      <a:solidFill>
                        <a:srgbClr val="E4E6F0"/>
                      </a:solidFill>
                      <a:prstDash val="solid"/>
                      <a:round/>
                      <a:headEnd type="none" w="med" len="med"/>
                      <a:tailEnd type="none" w="med" len="med"/>
                    </a:lnL>
                    <a:lnR w="12700" cap="flat" cmpd="sng" algn="ctr">
                      <a:solidFill>
                        <a:srgbClr val="E4E6F0"/>
                      </a:solidFill>
                      <a:prstDash val="solid"/>
                      <a:round/>
                      <a:headEnd type="none" w="med" len="med"/>
                      <a:tailEnd type="none" w="med" len="med"/>
                    </a:lnR>
                    <a:lnT w="12700" cap="flat" cmpd="sng" algn="ctr">
                      <a:solidFill>
                        <a:srgbClr val="E4E6F0"/>
                      </a:solidFill>
                      <a:prstDash val="solid"/>
                      <a:round/>
                      <a:headEnd type="none" w="med" len="med"/>
                      <a:tailEnd type="none" w="med" len="med"/>
                    </a:lnT>
                    <a:lnB w="12700" cap="flat" cmpd="sng" algn="ctr">
                      <a:solidFill>
                        <a:srgbClr val="E4E6F0"/>
                      </a:solidFill>
                      <a:prstDash val="solid"/>
                      <a:round/>
                      <a:headEnd type="none" w="med" len="med"/>
                      <a:tailEnd type="none" w="med" len="med"/>
                    </a:lnB>
                  </a:tcPr>
                </a:tc>
              </a:tr>
            </a:tbl>
          </a:graphicData>
        </a:graphic>
      </p:graphicFrame>
      <p:sp>
        <p:nvSpPr>
          <p:cNvPr id="8" name="Reading guide"/>
          <p:cNvSpPr/>
          <p:nvPr/>
        </p:nvSpPr>
        <p:spPr>
          <a:xfrm>
            <a:off x="731520" y="4846320"/>
            <a:ext cx="4800600" cy="1234440"/>
          </a:xfrm>
          <a:prstGeom prst="roundRect">
            <a:avLst>
              <a:gd name="adj" fmla="val 4444"/>
            </a:avLst>
          </a:prstGeom>
          <a:solidFill>
            <a:schemeClr val="bg2"/>
          </a:solidFill>
          <a:ln w="12700">
            <a:solidFill>
              <a:srgbClr val="E4E6F0"/>
            </a:solidFill>
            <a:prstDash val="solid"/>
          </a:ln>
        </p:spPr>
      </p:sp>
      <p:sp>
        <p:nvSpPr>
          <p:cNvPr id="9" name="Text 6"/>
          <p:cNvSpPr txBox="1"/>
          <p:nvPr/>
        </p:nvSpPr>
        <p:spPr>
          <a:xfrm>
            <a:off x="914400" y="4965192"/>
            <a:ext cx="4434840" cy="256032"/>
          </a:xfrm>
          <a:prstGeom prst="rect">
            <a:avLst/>
          </a:prstGeom>
          <a:noFill/>
          <a:ln/>
        </p:spPr>
        <p:txBody>
          <a:bodyPr wrap="square" lIns="0" tIns="0" rIns="0" bIns="0" rtlCol="0" anchor="t"/>
          <a:lstStyle/>
          <a:p>
            <a:pPr indent="0" marL="0">
              <a:buNone/>
            </a:pPr>
            <a:r>
              <a:rPr lang="en-US" sz="1300" b="1" dirty="0">
                <a:solidFill>
                  <a:schemeClr val="tx1"/>
                </a:solidFill>
              </a:rPr>
              <a:t>How to read it</a:t>
            </a:r>
            <a:endParaRPr lang="en-US" sz="1300" dirty="0"/>
          </a:p>
        </p:txBody>
      </p:sp>
      <p:sp>
        <p:nvSpPr>
          <p:cNvPr id="10" name="Text 7"/>
          <p:cNvSpPr txBox="1"/>
          <p:nvPr/>
        </p:nvSpPr>
        <p:spPr>
          <a:xfrm>
            <a:off x="914400" y="5257800"/>
            <a:ext cx="4434840" cy="777240"/>
          </a:xfrm>
          <a:prstGeom prst="rect">
            <a:avLst/>
          </a:prstGeom>
          <a:noFill/>
          <a:ln/>
        </p:spPr>
        <p:txBody>
          <a:bodyPr wrap="square" lIns="0" tIns="0" rIns="0" bIns="0" rtlCol="0" anchor="t"/>
          <a:lstStyle/>
          <a:p>
            <a:pPr indent="0" marL="0">
              <a:buNone/>
            </a:pPr>
            <a:r>
              <a:rPr lang="en-US" sz="1200" dirty="0">
                <a:solidFill>
                  <a:schemeClr val="accent3"/>
                </a:solidFill>
              </a:rPr>
              <a:t>H0: the series has a unit root (non-stationary). The more negative the statistic and the smaller the p-value, the stronger the evidence against H0. 5% threshold.</a:t>
            </a:r>
            <a:endParaRPr lang="en-US" sz="1200" dirty="0"/>
          </a:p>
        </p:txBody>
      </p:sp>
      <p:sp>
        <p:nvSpPr>
          <p:cNvPr id="11" name="Stat callout"/>
          <p:cNvSpPr/>
          <p:nvPr/>
        </p:nvSpPr>
        <p:spPr>
          <a:xfrm>
            <a:off x="6355080" y="1417320"/>
            <a:ext cx="5349240" cy="1051560"/>
          </a:xfrm>
          <a:prstGeom prst="roundRect">
            <a:avLst>
              <a:gd name="adj" fmla="val 6957"/>
            </a:avLst>
          </a:prstGeom>
          <a:solidFill>
            <a:schemeClr val="tx2"/>
          </a:solidFill>
          <a:ln/>
        </p:spPr>
      </p:sp>
      <p:sp>
        <p:nvSpPr>
          <p:cNvPr id="12" name="Text 9"/>
          <p:cNvSpPr txBox="1"/>
          <p:nvPr/>
        </p:nvSpPr>
        <p:spPr>
          <a:xfrm>
            <a:off x="6583680" y="1508760"/>
            <a:ext cx="2240280" cy="868680"/>
          </a:xfrm>
          <a:prstGeom prst="rect">
            <a:avLst/>
          </a:prstGeom>
          <a:noFill/>
          <a:ln/>
        </p:spPr>
        <p:txBody>
          <a:bodyPr wrap="square" lIns="0" tIns="0" rIns="0" bIns="0" rtlCol="0" anchor="ctr"/>
          <a:lstStyle/>
          <a:p>
            <a:pPr indent="0" marL="0">
              <a:buNone/>
            </a:pPr>
            <a:r>
              <a:rPr lang="en-US" sz="2800" b="1" dirty="0">
                <a:solidFill>
                  <a:schemeClr val="accent1"/>
                </a:solidFill>
                <a:latin typeface="+mj-lt" pitchFamily="34" charset="0"/>
                <a:ea typeface="+mj-lt" pitchFamily="34" charset="-122"/>
                <a:cs typeface="+mj-lt" pitchFamily="34" charset="-120"/>
              </a:rPr>
              <a:t>p = 0.001</a:t>
            </a:r>
            <a:endParaRPr lang="en-US" sz="2800" dirty="0"/>
          </a:p>
        </p:txBody>
      </p:sp>
      <p:sp>
        <p:nvSpPr>
          <p:cNvPr id="13" name="Text 10"/>
          <p:cNvSpPr txBox="1"/>
          <p:nvPr/>
        </p:nvSpPr>
        <p:spPr>
          <a:xfrm>
            <a:off x="8915400" y="1508760"/>
            <a:ext cx="2606040" cy="868680"/>
          </a:xfrm>
          <a:prstGeom prst="rect">
            <a:avLst/>
          </a:prstGeom>
          <a:noFill/>
          <a:ln/>
        </p:spPr>
        <p:txBody>
          <a:bodyPr wrap="square" lIns="0" tIns="0" rIns="0" bIns="0" rtlCol="0" anchor="ctr"/>
          <a:lstStyle/>
          <a:p>
            <a:pPr indent="0" marL="0">
              <a:buNone/>
            </a:pPr>
            <a:r>
              <a:rPr lang="en-US" sz="1200" dirty="0">
                <a:solidFill>
                  <a:schemeClr val="bg1"/>
                </a:solidFill>
              </a:rPr>
              <a:t>ADF p-value on the raw temperature series (statistic −4.06)</a:t>
            </a:r>
            <a:endParaRPr lang="en-US" sz="1200" dirty="0"/>
          </a:p>
        </p:txBody>
      </p:sp>
      <p:sp>
        <p:nvSpPr>
          <p:cNvPr id="14" name="Text 11"/>
          <p:cNvSpPr txBox="1"/>
          <p:nvPr/>
        </p:nvSpPr>
        <p:spPr>
          <a:xfrm>
            <a:off x="6355080" y="2697480"/>
            <a:ext cx="5349240" cy="228600"/>
          </a:xfrm>
          <a:prstGeom prst="rect">
            <a:avLst/>
          </a:prstGeom>
          <a:noFill/>
          <a:ln/>
        </p:spPr>
        <p:txBody>
          <a:bodyPr wrap="square" lIns="0" tIns="0" rIns="0" bIns="0" rtlCol="0" anchor="t"/>
          <a:lstStyle/>
          <a:p>
            <a:pPr indent="0" marL="0">
              <a:buNone/>
            </a:pPr>
            <a:r>
              <a:rPr lang="en-US" sz="1100" b="1" spc="150" kern="0" dirty="0">
                <a:solidFill>
                  <a:schemeClr val="accent3"/>
                </a:solidFill>
              </a:rPr>
              <a:t>WHY THIS PLOT</a:t>
            </a:r>
            <a:endParaRPr lang="en-US" sz="1100" dirty="0"/>
          </a:p>
        </p:txBody>
      </p:sp>
      <p:sp>
        <p:nvSpPr>
          <p:cNvPr id="15" name="Text 12"/>
          <p:cNvSpPr txBox="1"/>
          <p:nvPr/>
        </p:nvSpPr>
        <p:spPr>
          <a:xfrm>
            <a:off x="6355080" y="2944368"/>
            <a:ext cx="5349240" cy="777240"/>
          </a:xfrm>
          <a:prstGeom prst="rect">
            <a:avLst/>
          </a:prstGeom>
          <a:noFill/>
          <a:ln/>
        </p:spPr>
        <p:txBody>
          <a:bodyPr wrap="square" lIns="0" tIns="0" rIns="0" bIns="0" rtlCol="0" anchor="t"/>
          <a:lstStyle/>
          <a:p>
            <a:pPr indent="0" marL="0">
              <a:buNone/>
            </a:pPr>
            <a:r>
              <a:rPr lang="en-US" sz="1200" i="1" dirty="0">
                <a:solidFill>
                  <a:schemeClr val="accent3"/>
                </a:solidFill>
              </a:rPr>
              <a:t>A table fits a test result. The ADF null hypothesis is a unit root (non-stationary), so p &lt; 0.05 means the unit root is rejected.</a:t>
            </a:r>
            <a:endParaRPr lang="en-US" sz="1200" dirty="0"/>
          </a:p>
        </p:txBody>
      </p:sp>
      <p:sp>
        <p:nvSpPr>
          <p:cNvPr id="16" name="Text 13"/>
          <p:cNvSpPr txBox="1"/>
          <p:nvPr/>
        </p:nvSpPr>
        <p:spPr>
          <a:xfrm>
            <a:off x="6355080" y="3794760"/>
            <a:ext cx="5349240" cy="228600"/>
          </a:xfrm>
          <a:prstGeom prst="rect">
            <a:avLst/>
          </a:prstGeom>
          <a:noFill/>
          <a:ln/>
        </p:spPr>
        <p:txBody>
          <a:bodyPr wrap="square" lIns="0" tIns="0" rIns="0" bIns="0" rtlCol="0" anchor="t"/>
          <a:lstStyle/>
          <a:p>
            <a:pPr indent="0" marL="0">
              <a:buNone/>
            </a:pPr>
            <a:r>
              <a:rPr lang="en-US" sz="1100" b="1" spc="150" kern="0" dirty="0">
                <a:solidFill>
                  <a:schemeClr val="accent3"/>
                </a:solidFill>
              </a:rPr>
              <a:t>WHAT THE DATA SAYS</a:t>
            </a:r>
            <a:endParaRPr lang="en-US" sz="1100" dirty="0"/>
          </a:p>
        </p:txBody>
      </p:sp>
      <p:sp>
        <p:nvSpPr>
          <p:cNvPr id="17" name="Text 14"/>
          <p:cNvSpPr txBox="1"/>
          <p:nvPr/>
        </p:nvSpPr>
        <p:spPr>
          <a:xfrm>
            <a:off x="6355080" y="4069080"/>
            <a:ext cx="5349240" cy="2286000"/>
          </a:xfrm>
          <a:prstGeom prst="rect">
            <a:avLst/>
          </a:prstGeom>
          <a:noFill/>
          <a:ln/>
        </p:spPr>
        <p:txBody>
          <a:bodyPr wrap="square" lIns="0" tIns="0" rIns="0" bIns="0" rtlCol="0" anchor="t"/>
          <a:lstStyle/>
          <a:p>
            <a:pPr indent="0" marL="0">
              <a:lnSpc>
                <a:spcPts val="1900"/>
              </a:lnSpc>
              <a:buNone/>
            </a:pPr>
            <a:r>
              <a:rPr lang="en-US" sz="1400" dirty="0">
                <a:solidFill>
                  <a:schemeClr val="tx1"/>
                </a:solidFill>
              </a:rPr>
              <a:t>All three versions reject the unit root at 5%, so differencing is not needed to remove a stochastic trend. But ADF does not test seasonality, and 92% of the variance is a seasonal cycle: the mean still changes through the year. Safest design: seasonal features (sin / cos of day-of-year) or seasonal differencing, lagged targets, chronological validation.</a:t>
            </a:r>
            <a:endParaRPr lang="en-US" sz="1400" dirty="0"/>
          </a:p>
        </p:txBody>
      </p:sp>
      <p:sp>
        <p:nvSpPr>
          <p:cNvPr id="25" name="Slide Number Placeholder 0"/>
          <p:cNvSpPr>
            <a:spLocks noGrp="1"/>
          </p:cNvSpPr>
          <p:nvPr>
            <p:ph type="sldNum" sz="quarter" idx="4294967295"/>
          </p:nvPr>
        </p:nvSpPr>
        <p:spPr>
          <a:xfrm>
            <a:off x="11064240" y="6446520"/>
            <a:ext cx="66751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086"/>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1207008" y="457200"/>
            <a:ext cx="4754880" cy="777240"/>
          </a:xfrm>
          <a:prstGeom prst="rect">
            <a:avLst/>
          </a:prstGeom>
          <a:noFill/>
          <a:ln/>
        </p:spPr>
        <p:txBody>
          <a:bodyPr wrap="square" lIns="0" tIns="0" rIns="0" bIns="0" rtlCol="0" anchor="ctr"/>
          <a:lstStyle/>
          <a:p>
            <a:pPr algn="l" indent="0" marL="0">
              <a:buNone/>
            </a:pPr>
            <a:r>
              <a:rPr lang="en-US" sz="2000" b="1" dirty="0">
                <a:solidFill>
                  <a:schemeClr val="tx1"/>
                </a:solidFill>
              </a:rPr>
              <a:t>How do other weather variables correlate with temperature?</a:t>
            </a:r>
            <a:endParaRPr lang="en-US" sz="2000" dirty="0"/>
          </a:p>
        </p:txBody>
      </p:sp>
      <p:sp>
        <p:nvSpPr>
          <p:cNvPr id="3" name="Badge Q10"/>
          <p:cNvSpPr/>
          <p:nvPr/>
        </p:nvSpPr>
        <p:spPr>
          <a:xfrm>
            <a:off x="457200" y="502920"/>
            <a:ext cx="566928" cy="566928"/>
          </a:xfrm>
          <a:prstGeom prst="ellipse">
            <a:avLst/>
          </a:prstGeom>
          <a:solidFill>
            <a:schemeClr val="tx2"/>
          </a:solidFill>
          <a:ln/>
        </p:spPr>
      </p:sp>
      <p:sp>
        <p:nvSpPr>
          <p:cNvPr id="4" name="Text 2"/>
          <p:cNvSpPr txBox="1"/>
          <p:nvPr/>
        </p:nvSpPr>
        <p:spPr>
          <a:xfrm>
            <a:off x="457200" y="502920"/>
            <a:ext cx="566928" cy="566928"/>
          </a:xfrm>
          <a:prstGeom prst="rect">
            <a:avLst/>
          </a:prstGeom>
          <a:noFill/>
          <a:ln/>
        </p:spPr>
        <p:txBody>
          <a:bodyPr wrap="square" lIns="0" tIns="0" rIns="0" bIns="0" rtlCol="0" anchor="ctr"/>
          <a:lstStyle/>
          <a:p>
            <a:pPr algn="ctr" indent="0" marL="0">
              <a:buNone/>
            </a:pPr>
            <a:r>
              <a:rPr lang="en-US" sz="1500" b="1" dirty="0">
                <a:solidFill>
                  <a:schemeClr val="accent1"/>
                </a:solidFill>
                <a:latin typeface="+mj-lt" pitchFamily="34" charset="0"/>
                <a:ea typeface="+mj-lt" pitchFamily="34" charset="-122"/>
                <a:cs typeface="+mj-lt" pitchFamily="34" charset="-120"/>
              </a:rPr>
              <a:t>Q10</a:t>
            </a:r>
            <a:endParaRPr lang="en-US" sz="1500" dirty="0"/>
          </a:p>
        </p:txBody>
      </p:sp>
      <p:sp>
        <p:nvSpPr>
          <p:cNvPr id="5" name="Chart card"/>
          <p:cNvSpPr/>
          <p:nvPr/>
        </p:nvSpPr>
        <p:spPr>
          <a:xfrm>
            <a:off x="6355080" y="1475190"/>
            <a:ext cx="5349240" cy="4822020"/>
          </a:xfrm>
          <a:prstGeom prst="roundRect">
            <a:avLst>
              <a:gd name="adj" fmla="val 1517"/>
            </a:avLst>
          </a:prstGeom>
          <a:solidFill>
            <a:schemeClr val="bg1"/>
          </a:solidFill>
          <a:ln w="12700">
            <a:solidFill>
              <a:srgbClr val="DEDFE8"/>
            </a:solidFill>
            <a:prstDash val="solid"/>
          </a:ln>
          <a:effectLst>
            <a:outerShdw sx="100000" sy="100000" kx="0" ky="0" algn="bl" rotWithShape="0" blurRad="101600" dist="38100" dir="5400000">
              <a:srgbClr val="1B1F2A">
                <a:alpha val="16000"/>
              </a:srgbClr>
            </a:outerShdw>
          </a:effectLst>
        </p:spPr>
      </p:sp>
      <p:pic>
        <p:nvPicPr>
          <p:cNvPr id="6" name="Chart image" descr="Correlation matrix heatmap of eight weather variables">    </p:cNvPr>
          <p:cNvPicPr>
            <a:picLocks noChangeAspect="1"/>
          </p:cNvPicPr>
          <p:nvPr/>
        </p:nvPicPr>
        <p:blipFill>
          <a:blip r:embed="rId1"/>
          <a:stretch>
            <a:fillRect/>
          </a:stretch>
        </p:blipFill>
        <p:spPr>
          <a:xfrm>
            <a:off x="6519672" y="1639782"/>
            <a:ext cx="5020056" cy="4492836"/>
          </a:xfrm>
          <a:prstGeom prst="rect">
            <a:avLst/>
          </a:prstGeom>
        </p:spPr>
      </p:pic>
      <p:sp>
        <p:nvSpPr>
          <p:cNvPr id="7" name="Stat callout"/>
          <p:cNvSpPr/>
          <p:nvPr/>
        </p:nvSpPr>
        <p:spPr>
          <a:xfrm>
            <a:off x="457200" y="1417320"/>
            <a:ext cx="5349240" cy="1051560"/>
          </a:xfrm>
          <a:prstGeom prst="roundRect">
            <a:avLst>
              <a:gd name="adj" fmla="val 6957"/>
            </a:avLst>
          </a:prstGeom>
          <a:solidFill>
            <a:schemeClr val="tx2"/>
          </a:solidFill>
          <a:ln/>
        </p:spPr>
      </p:sp>
      <p:sp>
        <p:nvSpPr>
          <p:cNvPr id="8" name="Text 5"/>
          <p:cNvSpPr txBox="1"/>
          <p:nvPr/>
        </p:nvSpPr>
        <p:spPr>
          <a:xfrm>
            <a:off x="685800" y="1508760"/>
            <a:ext cx="2240280" cy="868680"/>
          </a:xfrm>
          <a:prstGeom prst="rect">
            <a:avLst/>
          </a:prstGeom>
          <a:noFill/>
          <a:ln/>
        </p:spPr>
        <p:txBody>
          <a:bodyPr wrap="square" lIns="0" tIns="0" rIns="0" bIns="0" rtlCol="0" anchor="ctr"/>
          <a:lstStyle/>
          <a:p>
            <a:pPr indent="0" marL="0">
              <a:buNone/>
            </a:pPr>
            <a:r>
              <a:rPr lang="en-US" sz="2800" b="1" dirty="0">
                <a:solidFill>
                  <a:schemeClr val="accent1"/>
                </a:solidFill>
                <a:latin typeface="+mj-lt" pitchFamily="34" charset="0"/>
                <a:ea typeface="+mj-lt" pitchFamily="34" charset="-122"/>
                <a:cs typeface="+mj-lt" pitchFamily="34" charset="-120"/>
              </a:rPr>
              <a:t>−0.80</a:t>
            </a:r>
            <a:endParaRPr lang="en-US" sz="2800" dirty="0"/>
          </a:p>
        </p:txBody>
      </p:sp>
      <p:sp>
        <p:nvSpPr>
          <p:cNvPr id="9" name="Text 6"/>
          <p:cNvSpPr txBox="1"/>
          <p:nvPr/>
        </p:nvSpPr>
        <p:spPr>
          <a:xfrm>
            <a:off x="3017520" y="1508760"/>
            <a:ext cx="2606040" cy="868680"/>
          </a:xfrm>
          <a:prstGeom prst="rect">
            <a:avLst/>
          </a:prstGeom>
          <a:noFill/>
          <a:ln/>
        </p:spPr>
        <p:txBody>
          <a:bodyPr wrap="square" lIns="0" tIns="0" rIns="0" bIns="0" rtlCol="0" anchor="ctr"/>
          <a:lstStyle/>
          <a:p>
            <a:pPr indent="0" marL="0">
              <a:buNone/>
            </a:pPr>
            <a:r>
              <a:rPr lang="en-US" sz="1200" dirty="0">
                <a:solidFill>
                  <a:schemeClr val="bg1"/>
                </a:solidFill>
              </a:rPr>
              <a:t>surface pressure vs. temperature, the strongest correlation of all</a:t>
            </a:r>
            <a:endParaRPr lang="en-US" sz="1200" dirty="0"/>
          </a:p>
        </p:txBody>
      </p:sp>
      <p:sp>
        <p:nvSpPr>
          <p:cNvPr id="10" name="Text 7"/>
          <p:cNvSpPr txBox="1"/>
          <p:nvPr/>
        </p:nvSpPr>
        <p:spPr>
          <a:xfrm>
            <a:off x="457200" y="2697480"/>
            <a:ext cx="5349240" cy="228600"/>
          </a:xfrm>
          <a:prstGeom prst="rect">
            <a:avLst/>
          </a:prstGeom>
          <a:noFill/>
          <a:ln/>
        </p:spPr>
        <p:txBody>
          <a:bodyPr wrap="square" lIns="0" tIns="0" rIns="0" bIns="0" rtlCol="0" anchor="t"/>
          <a:lstStyle/>
          <a:p>
            <a:pPr indent="0" marL="0">
              <a:buNone/>
            </a:pPr>
            <a:r>
              <a:rPr lang="en-US" sz="1100" b="1" spc="150" kern="0" dirty="0">
                <a:solidFill>
                  <a:schemeClr val="accent3"/>
                </a:solidFill>
              </a:rPr>
              <a:t>WHY THIS PLOT</a:t>
            </a:r>
            <a:endParaRPr lang="en-US" sz="1100" dirty="0"/>
          </a:p>
        </p:txBody>
      </p:sp>
      <p:sp>
        <p:nvSpPr>
          <p:cNvPr id="11" name="Text 8"/>
          <p:cNvSpPr txBox="1"/>
          <p:nvPr/>
        </p:nvSpPr>
        <p:spPr>
          <a:xfrm>
            <a:off x="457200" y="2944368"/>
            <a:ext cx="5349240" cy="777240"/>
          </a:xfrm>
          <a:prstGeom prst="rect">
            <a:avLst/>
          </a:prstGeom>
          <a:noFill/>
          <a:ln/>
        </p:spPr>
        <p:txBody>
          <a:bodyPr wrap="square" lIns="0" tIns="0" rIns="0" bIns="0" rtlCol="0" anchor="t"/>
          <a:lstStyle/>
          <a:p>
            <a:pPr indent="0" marL="0">
              <a:buNone/>
            </a:pPr>
            <a:r>
              <a:rPr lang="en-US" sz="1200" i="1" dirty="0">
                <a:solidFill>
                  <a:schemeClr val="accent3"/>
                </a:solidFill>
              </a:rPr>
              <a:t>A correlation heatmap shows every pairwise Pearson r at once, so strong links and redundant variables stand out.</a:t>
            </a:r>
            <a:endParaRPr lang="en-US" sz="1200" dirty="0"/>
          </a:p>
        </p:txBody>
      </p:sp>
      <p:sp>
        <p:nvSpPr>
          <p:cNvPr id="12" name="Text 9"/>
          <p:cNvSpPr txBox="1"/>
          <p:nvPr/>
        </p:nvSpPr>
        <p:spPr>
          <a:xfrm>
            <a:off x="457200" y="3794760"/>
            <a:ext cx="5349240" cy="228600"/>
          </a:xfrm>
          <a:prstGeom prst="rect">
            <a:avLst/>
          </a:prstGeom>
          <a:noFill/>
          <a:ln/>
        </p:spPr>
        <p:txBody>
          <a:bodyPr wrap="square" lIns="0" tIns="0" rIns="0" bIns="0" rtlCol="0" anchor="t"/>
          <a:lstStyle/>
          <a:p>
            <a:pPr indent="0" marL="0">
              <a:buNone/>
            </a:pPr>
            <a:r>
              <a:rPr lang="en-US" sz="1100" b="1" spc="150" kern="0" dirty="0">
                <a:solidFill>
                  <a:schemeClr val="accent3"/>
                </a:solidFill>
              </a:rPr>
              <a:t>WHAT THE DATA SAYS</a:t>
            </a:r>
            <a:endParaRPr lang="en-US" sz="1100" dirty="0"/>
          </a:p>
        </p:txBody>
      </p:sp>
      <p:sp>
        <p:nvSpPr>
          <p:cNvPr id="13" name="Text 10"/>
          <p:cNvSpPr txBox="1"/>
          <p:nvPr/>
        </p:nvSpPr>
        <p:spPr>
          <a:xfrm>
            <a:off x="457200" y="4069080"/>
            <a:ext cx="5349240" cy="2286000"/>
          </a:xfrm>
          <a:prstGeom prst="rect">
            <a:avLst/>
          </a:prstGeom>
          <a:noFill/>
          <a:ln/>
        </p:spPr>
        <p:txBody>
          <a:bodyPr wrap="square" lIns="0" tIns="0" rIns="0" bIns="0" rtlCol="0" anchor="t"/>
          <a:lstStyle/>
          <a:p>
            <a:pPr indent="0" marL="0">
              <a:lnSpc>
                <a:spcPts val="1900"/>
              </a:lnSpc>
              <a:buNone/>
            </a:pPr>
            <a:r>
              <a:rPr lang="en-US" sz="1400" dirty="0">
                <a:solidFill>
                  <a:schemeClr val="tx1"/>
                </a:solidFill>
              </a:rPr>
              <a:t>Pressure (−0.80), shortwave radiation (+0.76), specific humidity (+0.72), relative humidity (−0.70) and dew point (+0.69) all track temperature, largely because they share the seasonal cycle. Wind (+0.14) and rain (−0.14) are nearly unrelated. Dew point and specific humidity are almost the same variable (r = 0.99). Same-day values are unknown at forecast time, so use lags.</a:t>
            </a:r>
            <a:endParaRPr lang="en-US" sz="1400" dirty="0"/>
          </a:p>
        </p:txBody>
      </p:sp>
      <p:sp>
        <p:nvSpPr>
          <p:cNvPr id="25" name="Slide Number Placeholder 0"/>
          <p:cNvSpPr>
            <a:spLocks noGrp="1"/>
          </p:cNvSpPr>
          <p:nvPr>
            <p:ph type="sldNum" sz="quarter" idx="4294967295"/>
          </p:nvPr>
        </p:nvSpPr>
        <p:spPr>
          <a:xfrm>
            <a:off x="11064240" y="6446520"/>
            <a:ext cx="66751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086"/>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7104888" y="457200"/>
            <a:ext cx="4626864" cy="777240"/>
          </a:xfrm>
          <a:prstGeom prst="rect">
            <a:avLst/>
          </a:prstGeom>
          <a:noFill/>
          <a:ln/>
        </p:spPr>
        <p:txBody>
          <a:bodyPr wrap="square" lIns="0" tIns="0" rIns="0" bIns="0" rtlCol="0" anchor="ctr"/>
          <a:lstStyle/>
          <a:p>
            <a:pPr algn="l" indent="0" marL="0">
              <a:buNone/>
            </a:pPr>
            <a:r>
              <a:rPr lang="en-US" sz="2000" b="1" dirty="0">
                <a:solidFill>
                  <a:schemeClr val="tx1"/>
                </a:solidFill>
              </a:rPr>
              <a:t>What do those relationships look like in detail?</a:t>
            </a:r>
            <a:endParaRPr lang="en-US" sz="2000" dirty="0"/>
          </a:p>
        </p:txBody>
      </p:sp>
      <p:sp>
        <p:nvSpPr>
          <p:cNvPr id="3" name="Badge Q10"/>
          <p:cNvSpPr/>
          <p:nvPr/>
        </p:nvSpPr>
        <p:spPr>
          <a:xfrm>
            <a:off x="6355080" y="502920"/>
            <a:ext cx="566928" cy="566928"/>
          </a:xfrm>
          <a:prstGeom prst="ellipse">
            <a:avLst/>
          </a:prstGeom>
          <a:solidFill>
            <a:schemeClr val="tx2"/>
          </a:solidFill>
          <a:ln/>
        </p:spPr>
      </p:sp>
      <p:sp>
        <p:nvSpPr>
          <p:cNvPr id="4" name="Text 2"/>
          <p:cNvSpPr txBox="1"/>
          <p:nvPr/>
        </p:nvSpPr>
        <p:spPr>
          <a:xfrm>
            <a:off x="6355080" y="502920"/>
            <a:ext cx="566928" cy="566928"/>
          </a:xfrm>
          <a:prstGeom prst="rect">
            <a:avLst/>
          </a:prstGeom>
          <a:noFill/>
          <a:ln/>
        </p:spPr>
        <p:txBody>
          <a:bodyPr wrap="square" lIns="0" tIns="0" rIns="0" bIns="0" rtlCol="0" anchor="ctr"/>
          <a:lstStyle/>
          <a:p>
            <a:pPr algn="ctr" indent="0" marL="0">
              <a:buNone/>
            </a:pPr>
            <a:r>
              <a:rPr lang="en-US" sz="1500" b="1" dirty="0">
                <a:solidFill>
                  <a:schemeClr val="accent1"/>
                </a:solidFill>
                <a:latin typeface="+mj-lt" pitchFamily="34" charset="0"/>
                <a:ea typeface="+mj-lt" pitchFamily="34" charset="-122"/>
                <a:cs typeface="+mj-lt" pitchFamily="34" charset="-120"/>
              </a:rPr>
              <a:t>Q10</a:t>
            </a:r>
            <a:endParaRPr lang="en-US" sz="1500" dirty="0"/>
          </a:p>
        </p:txBody>
      </p:sp>
      <p:sp>
        <p:nvSpPr>
          <p:cNvPr id="5" name="Chart card"/>
          <p:cNvSpPr/>
          <p:nvPr/>
        </p:nvSpPr>
        <p:spPr>
          <a:xfrm>
            <a:off x="457200" y="1417320"/>
            <a:ext cx="5349240" cy="4937760"/>
          </a:xfrm>
          <a:prstGeom prst="roundRect">
            <a:avLst>
              <a:gd name="adj" fmla="val 1481"/>
            </a:avLst>
          </a:prstGeom>
          <a:solidFill>
            <a:schemeClr val="bg1"/>
          </a:solidFill>
          <a:ln w="12700">
            <a:solidFill>
              <a:srgbClr val="DEDFE8"/>
            </a:solidFill>
            <a:prstDash val="solid"/>
          </a:ln>
          <a:effectLst>
            <a:outerShdw sx="100000" sy="100000" kx="0" ky="0" algn="bl" rotWithShape="0" blurRad="101600" dist="38100" dir="5400000">
              <a:srgbClr val="1B1F2A">
                <a:alpha val="16000"/>
              </a:srgbClr>
            </a:outerShdw>
          </a:effectLst>
        </p:spPr>
      </p:sp>
      <p:pic>
        <p:nvPicPr>
          <p:cNvPr id="6" name="Chart image" descr="Pair plot of eight weather variables">    </p:cNvPr>
          <p:cNvPicPr>
            <a:picLocks noChangeAspect="1"/>
          </p:cNvPicPr>
          <p:nvPr/>
        </p:nvPicPr>
        <p:blipFill>
          <a:blip r:embed="rId1"/>
          <a:stretch>
            <a:fillRect/>
          </a:stretch>
        </p:blipFill>
        <p:spPr>
          <a:xfrm>
            <a:off x="904682" y="1581912"/>
            <a:ext cx="4454276" cy="4608576"/>
          </a:xfrm>
          <a:prstGeom prst="rect">
            <a:avLst/>
          </a:prstGeom>
        </p:spPr>
      </p:pic>
      <p:sp>
        <p:nvSpPr>
          <p:cNvPr id="7" name="Stat callout"/>
          <p:cNvSpPr/>
          <p:nvPr/>
        </p:nvSpPr>
        <p:spPr>
          <a:xfrm>
            <a:off x="6355080" y="1417320"/>
            <a:ext cx="5349240" cy="1051560"/>
          </a:xfrm>
          <a:prstGeom prst="roundRect">
            <a:avLst>
              <a:gd name="adj" fmla="val 6957"/>
            </a:avLst>
          </a:prstGeom>
          <a:solidFill>
            <a:schemeClr val="tx2"/>
          </a:solidFill>
          <a:ln/>
        </p:spPr>
      </p:sp>
      <p:sp>
        <p:nvSpPr>
          <p:cNvPr id="8" name="Text 5"/>
          <p:cNvSpPr txBox="1"/>
          <p:nvPr/>
        </p:nvSpPr>
        <p:spPr>
          <a:xfrm>
            <a:off x="6583680" y="1508760"/>
            <a:ext cx="2240280" cy="868680"/>
          </a:xfrm>
          <a:prstGeom prst="rect">
            <a:avLst/>
          </a:prstGeom>
          <a:noFill/>
          <a:ln/>
        </p:spPr>
        <p:txBody>
          <a:bodyPr wrap="square" lIns="0" tIns="0" rIns="0" bIns="0" rtlCol="0" anchor="ctr"/>
          <a:lstStyle/>
          <a:p>
            <a:pPr indent="0" marL="0">
              <a:buNone/>
            </a:pPr>
            <a:r>
              <a:rPr lang="en-US" sz="2800" b="1" dirty="0">
                <a:solidFill>
                  <a:schemeClr val="accent1"/>
                </a:solidFill>
                <a:latin typeface="+mj-lt" pitchFamily="34" charset="0"/>
                <a:ea typeface="+mj-lt" pitchFamily="34" charset="-122"/>
                <a:cs typeface="+mj-lt" pitchFamily="34" charset="-120"/>
              </a:rPr>
              <a:t>0.99</a:t>
            </a:r>
            <a:endParaRPr lang="en-US" sz="2800" dirty="0"/>
          </a:p>
        </p:txBody>
      </p:sp>
      <p:sp>
        <p:nvSpPr>
          <p:cNvPr id="9" name="Text 6"/>
          <p:cNvSpPr txBox="1"/>
          <p:nvPr/>
        </p:nvSpPr>
        <p:spPr>
          <a:xfrm>
            <a:off x="8915400" y="1508760"/>
            <a:ext cx="2606040" cy="868680"/>
          </a:xfrm>
          <a:prstGeom prst="rect">
            <a:avLst/>
          </a:prstGeom>
          <a:noFill/>
          <a:ln/>
        </p:spPr>
        <p:txBody>
          <a:bodyPr wrap="square" lIns="0" tIns="0" rIns="0" bIns="0" rtlCol="0" anchor="ctr"/>
          <a:lstStyle/>
          <a:p>
            <a:pPr indent="0" marL="0">
              <a:buNone/>
            </a:pPr>
            <a:r>
              <a:rPr lang="en-US" sz="1200" dirty="0">
                <a:solidFill>
                  <a:schemeClr val="bg1"/>
                </a:solidFill>
              </a:rPr>
              <a:t>dew point vs. specific humidity: a near-perfect curve, so they are redundant</a:t>
            </a:r>
            <a:endParaRPr lang="en-US" sz="1200" dirty="0"/>
          </a:p>
        </p:txBody>
      </p:sp>
      <p:sp>
        <p:nvSpPr>
          <p:cNvPr id="10" name="Text 7"/>
          <p:cNvSpPr txBox="1"/>
          <p:nvPr/>
        </p:nvSpPr>
        <p:spPr>
          <a:xfrm>
            <a:off x="6355080" y="2697480"/>
            <a:ext cx="5349240" cy="228600"/>
          </a:xfrm>
          <a:prstGeom prst="rect">
            <a:avLst/>
          </a:prstGeom>
          <a:noFill/>
          <a:ln/>
        </p:spPr>
        <p:txBody>
          <a:bodyPr wrap="square" lIns="0" tIns="0" rIns="0" bIns="0" rtlCol="0" anchor="t"/>
          <a:lstStyle/>
          <a:p>
            <a:pPr indent="0" marL="0">
              <a:buNone/>
            </a:pPr>
            <a:r>
              <a:rPr lang="en-US" sz="1100" b="1" spc="150" kern="0" dirty="0">
                <a:solidFill>
                  <a:schemeClr val="accent3"/>
                </a:solidFill>
              </a:rPr>
              <a:t>WHY THIS PLOT</a:t>
            </a:r>
            <a:endParaRPr lang="en-US" sz="1100" dirty="0"/>
          </a:p>
        </p:txBody>
      </p:sp>
      <p:sp>
        <p:nvSpPr>
          <p:cNvPr id="11" name="Text 8"/>
          <p:cNvSpPr txBox="1"/>
          <p:nvPr/>
        </p:nvSpPr>
        <p:spPr>
          <a:xfrm>
            <a:off x="6355080" y="2944368"/>
            <a:ext cx="5349240" cy="777240"/>
          </a:xfrm>
          <a:prstGeom prst="rect">
            <a:avLst/>
          </a:prstGeom>
          <a:noFill/>
          <a:ln/>
        </p:spPr>
        <p:txBody>
          <a:bodyPr wrap="square" lIns="0" tIns="0" rIns="0" bIns="0" rtlCol="0" anchor="t"/>
          <a:lstStyle/>
          <a:p>
            <a:pPr indent="0" marL="0">
              <a:buNone/>
            </a:pPr>
            <a:r>
              <a:rPr lang="en-US" sz="1200" i="1" dirty="0">
                <a:solidFill>
                  <a:schemeClr val="accent3"/>
                </a:solidFill>
              </a:rPr>
              <a:t>A pair plot adds what one r hides: the shape of each relationship. Read the first column, where temperature is on the x-axis.</a:t>
            </a:r>
            <a:endParaRPr lang="en-US" sz="1200" dirty="0"/>
          </a:p>
        </p:txBody>
      </p:sp>
      <p:sp>
        <p:nvSpPr>
          <p:cNvPr id="12" name="Text 9"/>
          <p:cNvSpPr txBox="1"/>
          <p:nvPr/>
        </p:nvSpPr>
        <p:spPr>
          <a:xfrm>
            <a:off x="6355080" y="3794760"/>
            <a:ext cx="5349240" cy="228600"/>
          </a:xfrm>
          <a:prstGeom prst="rect">
            <a:avLst/>
          </a:prstGeom>
          <a:noFill/>
          <a:ln/>
        </p:spPr>
        <p:txBody>
          <a:bodyPr wrap="square" lIns="0" tIns="0" rIns="0" bIns="0" rtlCol="0" anchor="t"/>
          <a:lstStyle/>
          <a:p>
            <a:pPr indent="0" marL="0">
              <a:buNone/>
            </a:pPr>
            <a:r>
              <a:rPr lang="en-US" sz="1100" b="1" spc="150" kern="0" dirty="0">
                <a:solidFill>
                  <a:schemeClr val="accent3"/>
                </a:solidFill>
              </a:rPr>
              <a:t>WHAT TO LOOK FOR</a:t>
            </a:r>
            <a:endParaRPr lang="en-US" sz="1100" dirty="0"/>
          </a:p>
        </p:txBody>
      </p:sp>
      <p:sp>
        <p:nvSpPr>
          <p:cNvPr id="13" name="Text 10"/>
          <p:cNvSpPr txBox="1"/>
          <p:nvPr/>
        </p:nvSpPr>
        <p:spPr>
          <a:xfrm>
            <a:off x="6355080" y="4069080"/>
            <a:ext cx="5349240" cy="2286000"/>
          </a:xfrm>
          <a:prstGeom prst="rect">
            <a:avLst/>
          </a:prstGeom>
          <a:noFill/>
          <a:ln/>
        </p:spPr>
        <p:txBody>
          <a:bodyPr wrap="square" lIns="0" tIns="0" rIns="0" bIns="0" rtlCol="0" anchor="t"/>
          <a:lstStyle/>
          <a:p>
            <a:pPr indent="0" marL="0">
              <a:lnSpc>
                <a:spcPts val="1900"/>
              </a:lnSpc>
              <a:buNone/>
            </a:pPr>
            <a:r>
              <a:rPr lang="en-US" sz="1400" dirty="0">
                <a:solidFill>
                  <a:schemeClr val="tx1"/>
                </a:solidFill>
              </a:rPr>
              <a:t>Temperature falls along a clear downward band against humidity and pressure, and rises against shortwave radiation and dew point. Precipitation is a flat line at 0 with a few spikes, which one correlation number cannot describe. Wind forms a shapeless cloud: no usable linear signal.</a:t>
            </a:r>
            <a:endParaRPr lang="en-US" sz="1400" dirty="0"/>
          </a:p>
        </p:txBody>
      </p:sp>
      <p:sp>
        <p:nvSpPr>
          <p:cNvPr id="25" name="Slide Number Placeholder 0"/>
          <p:cNvSpPr>
            <a:spLocks noGrp="1"/>
          </p:cNvSpPr>
          <p:nvPr>
            <p:ph type="sldNum" sz="quarter" idx="4294967295"/>
          </p:nvPr>
        </p:nvSpPr>
        <p:spPr>
          <a:xfrm>
            <a:off x="11064240" y="6446520"/>
            <a:ext cx="66751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086"/>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1207008" y="457200"/>
            <a:ext cx="10515600" cy="777240"/>
          </a:xfrm>
          <a:prstGeom prst="rect">
            <a:avLst/>
          </a:prstGeom>
          <a:noFill/>
          <a:ln/>
        </p:spPr>
        <p:txBody>
          <a:bodyPr wrap="square" lIns="0" tIns="0" rIns="0" bIns="0" rtlCol="0" anchor="ctr"/>
          <a:lstStyle/>
          <a:p>
            <a:pPr algn="l" indent="0" marL="0">
              <a:buNone/>
            </a:pPr>
            <a:r>
              <a:rPr lang="en-US" sz="2000" b="1" dirty="0">
                <a:solidFill>
                  <a:schemeClr val="tx1"/>
                </a:solidFill>
              </a:rPr>
              <a:t>Are any observations anomalous or physically impossible?</a:t>
            </a:r>
            <a:endParaRPr lang="en-US" sz="2000" dirty="0"/>
          </a:p>
        </p:txBody>
      </p:sp>
      <p:sp>
        <p:nvSpPr>
          <p:cNvPr id="3" name="Badge Q+"/>
          <p:cNvSpPr/>
          <p:nvPr/>
        </p:nvSpPr>
        <p:spPr>
          <a:xfrm>
            <a:off x="457200" y="502920"/>
            <a:ext cx="566928" cy="566928"/>
          </a:xfrm>
          <a:prstGeom prst="ellipse">
            <a:avLst/>
          </a:prstGeom>
          <a:solidFill>
            <a:schemeClr val="tx2"/>
          </a:solidFill>
          <a:ln/>
        </p:spPr>
      </p:sp>
      <p:sp>
        <p:nvSpPr>
          <p:cNvPr id="4" name="Text 2"/>
          <p:cNvSpPr txBox="1"/>
          <p:nvPr/>
        </p:nvSpPr>
        <p:spPr>
          <a:xfrm>
            <a:off x="457200" y="502920"/>
            <a:ext cx="566928" cy="566928"/>
          </a:xfrm>
          <a:prstGeom prst="rect">
            <a:avLst/>
          </a:prstGeom>
          <a:noFill/>
          <a:ln/>
        </p:spPr>
        <p:txBody>
          <a:bodyPr wrap="square" lIns="0" tIns="0" rIns="0" bIns="0" rtlCol="0" anchor="ctr"/>
          <a:lstStyle/>
          <a:p>
            <a:pPr algn="ctr" indent="0" marL="0">
              <a:buNone/>
            </a:pPr>
            <a:r>
              <a:rPr lang="en-US" sz="1900" b="1" dirty="0">
                <a:solidFill>
                  <a:schemeClr val="accent1"/>
                </a:solidFill>
                <a:latin typeface="+mj-lt" pitchFamily="34" charset="0"/>
                <a:ea typeface="+mj-lt" pitchFamily="34" charset="-122"/>
                <a:cs typeface="+mj-lt" pitchFamily="34" charset="-120"/>
              </a:rPr>
              <a:t>Q+</a:t>
            </a:r>
            <a:endParaRPr lang="en-US" sz="1900" dirty="0"/>
          </a:p>
        </p:txBody>
      </p:sp>
      <p:sp>
        <p:nvSpPr>
          <p:cNvPr id="5" name="Chart card"/>
          <p:cNvSpPr/>
          <p:nvPr/>
        </p:nvSpPr>
        <p:spPr>
          <a:xfrm>
            <a:off x="457200" y="1371600"/>
            <a:ext cx="11274552" cy="3017520"/>
          </a:xfrm>
          <a:prstGeom prst="roundRect">
            <a:avLst>
              <a:gd name="adj" fmla="val 2424"/>
            </a:avLst>
          </a:prstGeom>
          <a:solidFill>
            <a:schemeClr val="bg1"/>
          </a:solidFill>
          <a:ln w="12700">
            <a:solidFill>
              <a:srgbClr val="DEDFE8"/>
            </a:solidFill>
            <a:prstDash val="solid"/>
          </a:ln>
          <a:effectLst>
            <a:outerShdw sx="100000" sy="100000" kx="0" ky="0" algn="bl" rotWithShape="0" blurRad="101600" dist="38100" dir="5400000">
              <a:srgbClr val="1B1F2A">
                <a:alpha val="16000"/>
              </a:srgbClr>
            </a:outerShdw>
          </a:effectLst>
        </p:spPr>
      </p:sp>
      <p:pic>
        <p:nvPicPr>
          <p:cNvPr id="6" name="Chart image" descr="Temperature series with no flagged anomalies">    </p:cNvPr>
          <p:cNvPicPr>
            <a:picLocks noChangeAspect="1"/>
          </p:cNvPicPr>
          <p:nvPr/>
        </p:nvPicPr>
        <p:blipFill>
          <a:blip r:embed="rId1"/>
          <a:stretch>
            <a:fillRect/>
          </a:stretch>
        </p:blipFill>
        <p:spPr>
          <a:xfrm>
            <a:off x="2259154" y="1536192"/>
            <a:ext cx="7670645" cy="2688336"/>
          </a:xfrm>
          <a:prstGeom prst="rect">
            <a:avLst/>
          </a:prstGeom>
        </p:spPr>
      </p:pic>
      <p:sp>
        <p:nvSpPr>
          <p:cNvPr id="7" name="Stat callout"/>
          <p:cNvSpPr/>
          <p:nvPr/>
        </p:nvSpPr>
        <p:spPr>
          <a:xfrm>
            <a:off x="457200" y="4617720"/>
            <a:ext cx="3383280" cy="1737360"/>
          </a:xfrm>
          <a:prstGeom prst="roundRect">
            <a:avLst>
              <a:gd name="adj" fmla="val 4211"/>
            </a:avLst>
          </a:prstGeom>
          <a:solidFill>
            <a:schemeClr val="tx2"/>
          </a:solidFill>
          <a:ln/>
        </p:spPr>
      </p:sp>
      <p:sp>
        <p:nvSpPr>
          <p:cNvPr id="8" name="Text 5"/>
          <p:cNvSpPr txBox="1"/>
          <p:nvPr/>
        </p:nvSpPr>
        <p:spPr>
          <a:xfrm>
            <a:off x="731520" y="4818888"/>
            <a:ext cx="2834640" cy="640080"/>
          </a:xfrm>
          <a:prstGeom prst="rect">
            <a:avLst/>
          </a:prstGeom>
          <a:noFill/>
          <a:ln/>
        </p:spPr>
        <p:txBody>
          <a:bodyPr wrap="square" lIns="0" tIns="0" rIns="0" bIns="0" rtlCol="0" anchor="ctr"/>
          <a:lstStyle/>
          <a:p>
            <a:pPr indent="0" marL="0">
              <a:buNone/>
            </a:pPr>
            <a:r>
              <a:rPr lang="en-US" sz="3200" b="1" dirty="0">
                <a:solidFill>
                  <a:schemeClr val="accent1"/>
                </a:solidFill>
                <a:latin typeface="+mj-lt" pitchFamily="34" charset="0"/>
                <a:ea typeface="+mj-lt" pitchFamily="34" charset="-122"/>
                <a:cs typeface="+mj-lt" pitchFamily="34" charset="-120"/>
              </a:rPr>
              <a:t>0</a:t>
            </a:r>
            <a:endParaRPr lang="en-US" sz="3200" dirty="0"/>
          </a:p>
        </p:txBody>
      </p:sp>
      <p:sp>
        <p:nvSpPr>
          <p:cNvPr id="9" name="Text 6"/>
          <p:cNvSpPr txBox="1"/>
          <p:nvPr/>
        </p:nvSpPr>
        <p:spPr>
          <a:xfrm>
            <a:off x="731520" y="5486400"/>
            <a:ext cx="2834640" cy="731520"/>
          </a:xfrm>
          <a:prstGeom prst="rect">
            <a:avLst/>
          </a:prstGeom>
          <a:noFill/>
          <a:ln/>
        </p:spPr>
        <p:txBody>
          <a:bodyPr wrap="square" lIns="0" tIns="0" rIns="0" bIns="0" rtlCol="0" anchor="t"/>
          <a:lstStyle/>
          <a:p>
            <a:pPr indent="0" marL="0">
              <a:buNone/>
            </a:pPr>
            <a:r>
              <a:rPr lang="en-US" sz="1300" dirty="0">
                <a:solidFill>
                  <a:schemeClr val="bg1"/>
                </a:solidFill>
              </a:rPr>
              <a:t>observations with |rolling z| &gt; 3, and 0 physical-range violations</a:t>
            </a:r>
            <a:endParaRPr lang="en-US" sz="1300" dirty="0"/>
          </a:p>
        </p:txBody>
      </p:sp>
      <p:sp>
        <p:nvSpPr>
          <p:cNvPr id="10" name="Text 7"/>
          <p:cNvSpPr txBox="1"/>
          <p:nvPr/>
        </p:nvSpPr>
        <p:spPr>
          <a:xfrm>
            <a:off x="4160520" y="4617720"/>
            <a:ext cx="7571232" cy="228600"/>
          </a:xfrm>
          <a:prstGeom prst="rect">
            <a:avLst/>
          </a:prstGeom>
          <a:noFill/>
          <a:ln/>
        </p:spPr>
        <p:txBody>
          <a:bodyPr wrap="square" lIns="0" tIns="0" rIns="0" bIns="0" rtlCol="0" anchor="t"/>
          <a:lstStyle/>
          <a:p>
            <a:pPr indent="0" marL="0">
              <a:buNone/>
            </a:pPr>
            <a:r>
              <a:rPr lang="en-US" sz="1100" b="1" spc="150" kern="0" dirty="0">
                <a:solidFill>
                  <a:schemeClr val="accent3"/>
                </a:solidFill>
              </a:rPr>
              <a:t>WHY THIS PLOT  ·  SUPPORTING DIAGNOSTIC</a:t>
            </a:r>
            <a:endParaRPr lang="en-US" sz="1100" dirty="0"/>
          </a:p>
        </p:txBody>
      </p:sp>
      <p:sp>
        <p:nvSpPr>
          <p:cNvPr id="11" name="Text 8"/>
          <p:cNvSpPr txBox="1"/>
          <p:nvPr/>
        </p:nvSpPr>
        <p:spPr>
          <a:xfrm>
            <a:off x="4160520" y="4864608"/>
            <a:ext cx="7571232" cy="457200"/>
          </a:xfrm>
          <a:prstGeom prst="rect">
            <a:avLst/>
          </a:prstGeom>
          <a:noFill/>
          <a:ln/>
        </p:spPr>
        <p:txBody>
          <a:bodyPr wrap="square" lIns="0" tIns="0" rIns="0" bIns="0" rtlCol="0" anchor="t"/>
          <a:lstStyle/>
          <a:p>
            <a:pPr indent="0" marL="0">
              <a:buNone/>
            </a:pPr>
            <a:r>
              <a:rPr lang="en-US" sz="1200" i="1" dirty="0">
                <a:solidFill>
                  <a:schemeClr val="accent3"/>
                </a:solidFill>
              </a:rPr>
              <a:t>A line plot with flagged points: each value is compared with its own 15-observation (≈ 30-day) neighbourhood, so normal seasonal swings are not flagged.</a:t>
            </a:r>
            <a:endParaRPr lang="en-US" sz="1200" dirty="0"/>
          </a:p>
        </p:txBody>
      </p:sp>
      <p:sp>
        <p:nvSpPr>
          <p:cNvPr id="12" name="Text 9"/>
          <p:cNvSpPr txBox="1"/>
          <p:nvPr/>
        </p:nvSpPr>
        <p:spPr>
          <a:xfrm>
            <a:off x="4160520" y="5349240"/>
            <a:ext cx="7571232" cy="1005840"/>
          </a:xfrm>
          <a:prstGeom prst="rect">
            <a:avLst/>
          </a:prstGeom>
          <a:noFill/>
          <a:ln/>
        </p:spPr>
        <p:txBody>
          <a:bodyPr wrap="square" lIns="0" tIns="0" rIns="0" bIns="0" rtlCol="0" anchor="t"/>
          <a:lstStyle/>
          <a:p>
            <a:pPr indent="0" marL="0">
              <a:lnSpc>
                <a:spcPts val="1800"/>
              </a:lnSpc>
              <a:buNone/>
            </a:pPr>
            <a:r>
              <a:rPr lang="en-US" sz="1400" dirty="0">
                <a:solidFill>
                  <a:schemeClr val="tx1"/>
                </a:solidFill>
              </a:rPr>
              <a:t>No temperature stands out from its local neighbourhood, and every physical check is clean: no negative rainfall, no humidity outside 0–100%, no negative wind speed, no Tmin above Tmax. The data shows no sign of sensor or API errors; its only gaps are the missing radiation values at the end (Q2).</a:t>
            </a:r>
            <a:endParaRPr lang="en-US" sz="1400" dirty="0"/>
          </a:p>
        </p:txBody>
      </p:sp>
      <p:sp>
        <p:nvSpPr>
          <p:cNvPr id="25" name="Slide Number Placeholder 0"/>
          <p:cNvSpPr>
            <a:spLocks noGrp="1"/>
          </p:cNvSpPr>
          <p:nvPr>
            <p:ph type="sldNum" sz="quarter" idx="4294967295"/>
          </p:nvPr>
        </p:nvSpPr>
        <p:spPr>
          <a:xfrm>
            <a:off x="11064240" y="6446520"/>
            <a:ext cx="66751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086"/>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txBox="1"/>
          <p:nvPr/>
        </p:nvSpPr>
        <p:spPr>
          <a:xfrm>
            <a:off x="548640" y="457200"/>
            <a:ext cx="10789920" cy="320040"/>
          </a:xfrm>
          <a:prstGeom prst="rect">
            <a:avLst/>
          </a:prstGeom>
          <a:noFill/>
          <a:ln/>
        </p:spPr>
        <p:txBody>
          <a:bodyPr wrap="square" lIns="0" tIns="0" rIns="0" bIns="0" rtlCol="0" anchor="ctr"/>
          <a:lstStyle/>
          <a:p>
            <a:pPr indent="0" marL="0">
              <a:buNone/>
            </a:pPr>
            <a:r>
              <a:rPr lang="en-US" sz="1300" b="1" spc="200" kern="0" dirty="0">
                <a:solidFill>
                  <a:schemeClr val="accent3"/>
                </a:solidFill>
              </a:rPr>
              <a:t>ML HANDOFF</a:t>
            </a:r>
            <a:endParaRPr lang="en-US" sz="1300" dirty="0"/>
          </a:p>
        </p:txBody>
      </p:sp>
      <p:sp>
        <p:nvSpPr>
          <p:cNvPr id="3" name="Text 0"/>
          <p:cNvSpPr/>
          <p:nvPr>
            <p:ph idx="100" type="title" hasCustomPrompt="1"/>
          </p:nvPr>
        </p:nvSpPr>
        <p:spPr>
          <a:xfrm>
            <a:off x="548640" y="777240"/>
            <a:ext cx="11064240" cy="640080"/>
          </a:xfrm>
          <a:prstGeom prst="rect">
            <a:avLst/>
          </a:prstGeom>
          <a:noFill/>
          <a:ln/>
        </p:spPr>
        <p:txBody>
          <a:bodyPr wrap="square" lIns="0" tIns="0" rIns="0" bIns="0" rtlCol="0" anchor="ctr"/>
          <a:lstStyle/>
          <a:p>
            <a:pPr algn="l" indent="0" marL="0">
              <a:buNone/>
            </a:pPr>
            <a:r>
              <a:rPr lang="en-US" sz="2800" b="1" dirty="0">
                <a:solidFill>
                  <a:schemeClr val="tx1"/>
                </a:solidFill>
              </a:rPr>
              <a:t>From EDA to a leakage-safe forecasting setup</a:t>
            </a:r>
            <a:endParaRPr lang="en-US" sz="2800" dirty="0"/>
          </a:p>
        </p:txBody>
      </p:sp>
      <p:sp>
        <p:nvSpPr>
          <p:cNvPr id="4" name="Text 2"/>
          <p:cNvSpPr txBox="1"/>
          <p:nvPr/>
        </p:nvSpPr>
        <p:spPr>
          <a:xfrm>
            <a:off x="548640" y="1417320"/>
            <a:ext cx="11064240" cy="502920"/>
          </a:xfrm>
          <a:prstGeom prst="rect">
            <a:avLst/>
          </a:prstGeom>
          <a:noFill/>
          <a:ln/>
        </p:spPr>
        <p:txBody>
          <a:bodyPr wrap="square" lIns="0" tIns="0" rIns="0" bIns="0" rtlCol="0" anchor="t"/>
          <a:lstStyle/>
          <a:p>
            <a:pPr indent="0" marL="0">
              <a:buNone/>
            </a:pPr>
            <a:r>
              <a:rPr lang="en-US" sz="1400" dirty="0">
                <a:solidFill>
                  <a:schemeClr val="accent3"/>
                </a:solidFill>
              </a:rPr>
              <a:t>The findings become design rules: lagged inputs, seasonal features and a split that never looks into the future.</a:t>
            </a:r>
            <a:endParaRPr lang="en-US" sz="1400" dirty="0"/>
          </a:p>
        </p:txBody>
      </p:sp>
      <p:sp>
        <p:nvSpPr>
          <p:cNvPr id="5" name="Train block"/>
          <p:cNvSpPr/>
          <p:nvPr/>
        </p:nvSpPr>
        <p:spPr>
          <a:xfrm>
            <a:off x="548640" y="2514600"/>
            <a:ext cx="8873338" cy="868680"/>
          </a:xfrm>
          <a:prstGeom prst="roundRect">
            <a:avLst>
              <a:gd name="adj" fmla="val 8421"/>
            </a:avLst>
          </a:prstGeom>
          <a:solidFill>
            <a:schemeClr val="tx2"/>
          </a:solidFill>
          <a:ln/>
        </p:spPr>
      </p:sp>
      <p:sp>
        <p:nvSpPr>
          <p:cNvPr id="6" name="Test block"/>
          <p:cNvSpPr/>
          <p:nvPr/>
        </p:nvSpPr>
        <p:spPr>
          <a:xfrm>
            <a:off x="9421978" y="2514600"/>
            <a:ext cx="2218334" cy="868680"/>
          </a:xfrm>
          <a:prstGeom prst="roundRect">
            <a:avLst>
              <a:gd name="adj" fmla="val 8421"/>
            </a:avLst>
          </a:prstGeom>
          <a:solidFill>
            <a:schemeClr val="accent1"/>
          </a:solidFill>
          <a:ln/>
        </p:spPr>
      </p:sp>
      <p:sp>
        <p:nvSpPr>
          <p:cNvPr id="7" name="Text 5"/>
          <p:cNvSpPr txBox="1"/>
          <p:nvPr/>
        </p:nvSpPr>
        <p:spPr>
          <a:xfrm>
            <a:off x="822960" y="2514600"/>
            <a:ext cx="8324698" cy="868680"/>
          </a:xfrm>
          <a:prstGeom prst="rect">
            <a:avLst/>
          </a:prstGeom>
          <a:noFill/>
          <a:ln/>
        </p:spPr>
        <p:txBody>
          <a:bodyPr wrap="square" lIns="0" tIns="0" rIns="0" bIns="0" rtlCol="0" anchor="ctr"/>
          <a:lstStyle/>
          <a:p>
            <a:pPr indent="0" marL="0">
              <a:buNone/>
            </a:pPr>
            <a:r>
              <a:rPr lang="en-US" sz="1600" b="1" dirty="0">
                <a:solidFill>
                  <a:schemeClr val="bg1"/>
                </a:solidFill>
              </a:rPr>
              <a:t>TRAIN  ·  812 rows (80%)</a:t>
            </a:r>
            <a:endParaRPr lang="en-US" sz="1600" dirty="0"/>
          </a:p>
        </p:txBody>
      </p:sp>
      <p:sp>
        <p:nvSpPr>
          <p:cNvPr id="8" name="Text 6"/>
          <p:cNvSpPr txBox="1"/>
          <p:nvPr/>
        </p:nvSpPr>
        <p:spPr>
          <a:xfrm>
            <a:off x="9421978" y="2514600"/>
            <a:ext cx="2218334" cy="868680"/>
          </a:xfrm>
          <a:prstGeom prst="rect">
            <a:avLst/>
          </a:prstGeom>
          <a:noFill/>
          <a:ln/>
        </p:spPr>
        <p:txBody>
          <a:bodyPr wrap="square" lIns="0" tIns="0" rIns="0" bIns="0" rtlCol="0" anchor="ctr"/>
          <a:lstStyle/>
          <a:p>
            <a:pPr algn="ctr" indent="0" marL="0">
              <a:buNone/>
            </a:pPr>
            <a:r>
              <a:rPr lang="en-US" sz="1400" b="1" dirty="0">
                <a:solidFill>
                  <a:schemeClr val="tx2"/>
                </a:solidFill>
              </a:rPr>
              <a:t>TEST · 203 rows</a:t>
            </a:r>
            <a:endParaRPr lang="en-US" sz="1400" dirty="0"/>
          </a:p>
        </p:txBody>
      </p:sp>
      <p:sp>
        <p:nvSpPr>
          <p:cNvPr id="9" name="Text 7"/>
          <p:cNvSpPr txBox="1"/>
          <p:nvPr/>
        </p:nvSpPr>
        <p:spPr>
          <a:xfrm>
            <a:off x="548640" y="3474720"/>
            <a:ext cx="8873338" cy="274320"/>
          </a:xfrm>
          <a:prstGeom prst="rect">
            <a:avLst/>
          </a:prstGeom>
          <a:noFill/>
          <a:ln/>
        </p:spPr>
        <p:txBody>
          <a:bodyPr wrap="square" lIns="0" tIns="0" rIns="0" bIns="0" rtlCol="0" anchor="t"/>
          <a:lstStyle/>
          <a:p>
            <a:pPr algn="l" indent="0" marL="0">
              <a:buNone/>
            </a:pPr>
            <a:r>
              <a:rPr lang="en-US" sz="1300" dirty="0">
                <a:solidFill>
                  <a:schemeClr val="accent3"/>
                </a:solidFill>
              </a:rPr>
              <a:t>2021-01-15  →  2025-06-25</a:t>
            </a:r>
            <a:endParaRPr lang="en-US" sz="1300" dirty="0"/>
          </a:p>
        </p:txBody>
      </p:sp>
      <p:sp>
        <p:nvSpPr>
          <p:cNvPr id="10" name="Text 8"/>
          <p:cNvSpPr txBox="1"/>
          <p:nvPr/>
        </p:nvSpPr>
        <p:spPr>
          <a:xfrm>
            <a:off x="8964778" y="3474720"/>
            <a:ext cx="2675534" cy="274320"/>
          </a:xfrm>
          <a:prstGeom prst="rect">
            <a:avLst/>
          </a:prstGeom>
          <a:noFill/>
          <a:ln/>
        </p:spPr>
        <p:txBody>
          <a:bodyPr wrap="square" lIns="0" tIns="0" rIns="0" bIns="0" rtlCol="0" anchor="t"/>
          <a:lstStyle/>
          <a:p>
            <a:pPr algn="r" indent="0" marL="0">
              <a:buNone/>
            </a:pPr>
            <a:r>
              <a:rPr lang="en-US" sz="1300" dirty="0">
                <a:solidFill>
                  <a:schemeClr val="accent3"/>
                </a:solidFill>
              </a:rPr>
              <a:t>2025-06-27 → 2026-08-05</a:t>
            </a:r>
            <a:endParaRPr lang="en-US" sz="1300" dirty="0"/>
          </a:p>
        </p:txBody>
      </p:sp>
      <p:sp>
        <p:nvSpPr>
          <p:cNvPr id="11" name="Text 9"/>
          <p:cNvSpPr txBox="1"/>
          <p:nvPr/>
        </p:nvSpPr>
        <p:spPr>
          <a:xfrm>
            <a:off x="4070909" y="2194560"/>
            <a:ext cx="1828800" cy="256032"/>
          </a:xfrm>
          <a:prstGeom prst="rect">
            <a:avLst/>
          </a:prstGeom>
          <a:noFill/>
          <a:ln/>
        </p:spPr>
        <p:txBody>
          <a:bodyPr wrap="square" lIns="0" tIns="0" rIns="0" bIns="0" rtlCol="0" anchor="t"/>
          <a:lstStyle/>
          <a:p>
            <a:pPr algn="ctr" indent="0" marL="0">
              <a:buNone/>
            </a:pPr>
            <a:r>
              <a:rPr lang="en-US" sz="1100" i="1" dirty="0">
                <a:solidFill>
                  <a:schemeClr val="accent3"/>
                </a:solidFill>
              </a:rPr>
              <a:t>time  →</a:t>
            </a:r>
            <a:endParaRPr lang="en-US" sz="1100" dirty="0"/>
          </a:p>
        </p:txBody>
      </p:sp>
      <p:sp>
        <p:nvSpPr>
          <p:cNvPr id="12" name="Rule card"/>
          <p:cNvSpPr/>
          <p:nvPr/>
        </p:nvSpPr>
        <p:spPr>
          <a:xfrm>
            <a:off x="457200" y="4114800"/>
            <a:ext cx="3575304" cy="2240280"/>
          </a:xfrm>
          <a:prstGeom prst="roundRect">
            <a:avLst>
              <a:gd name="adj" fmla="val 3265"/>
            </a:avLst>
          </a:prstGeom>
          <a:solidFill>
            <a:schemeClr val="bg2"/>
          </a:solidFill>
          <a:ln w="12700">
            <a:solidFill>
              <a:srgbClr val="E4E6F0"/>
            </a:solidFill>
            <a:prstDash val="solid"/>
          </a:ln>
        </p:spPr>
      </p:sp>
      <p:sp>
        <p:nvSpPr>
          <p:cNvPr id="13" name="Text 11"/>
          <p:cNvSpPr txBox="1"/>
          <p:nvPr/>
        </p:nvSpPr>
        <p:spPr>
          <a:xfrm>
            <a:off x="731520" y="4251960"/>
            <a:ext cx="3026664" cy="594360"/>
          </a:xfrm>
          <a:prstGeom prst="rect">
            <a:avLst/>
          </a:prstGeom>
          <a:noFill/>
          <a:ln/>
        </p:spPr>
        <p:txBody>
          <a:bodyPr wrap="square" lIns="0" tIns="0" rIns="0" bIns="0" rtlCol="0" anchor="ctr"/>
          <a:lstStyle/>
          <a:p>
            <a:pPr indent="0" marL="0">
              <a:buNone/>
            </a:pPr>
            <a:r>
              <a:rPr lang="en-US" sz="3200" b="1" dirty="0">
                <a:solidFill>
                  <a:schemeClr val="tx2"/>
                </a:solidFill>
                <a:latin typeface="+mj-lt" pitchFamily="34" charset="0"/>
                <a:ea typeface="+mj-lt" pitchFamily="34" charset="-122"/>
                <a:cs typeface="+mj-lt" pitchFamily="34" charset="-120"/>
              </a:rPr>
              <a:t>16</a:t>
            </a:r>
            <a:endParaRPr lang="en-US" sz="3200" dirty="0"/>
          </a:p>
        </p:txBody>
      </p:sp>
      <p:sp>
        <p:nvSpPr>
          <p:cNvPr id="14" name="Text 12"/>
          <p:cNvSpPr txBox="1"/>
          <p:nvPr/>
        </p:nvSpPr>
        <p:spPr>
          <a:xfrm>
            <a:off x="731520" y="4864608"/>
            <a:ext cx="3026664" cy="292608"/>
          </a:xfrm>
          <a:prstGeom prst="rect">
            <a:avLst/>
          </a:prstGeom>
          <a:noFill/>
          <a:ln/>
        </p:spPr>
        <p:txBody>
          <a:bodyPr wrap="square" lIns="0" tIns="0" rIns="0" bIns="0" rtlCol="0" anchor="t"/>
          <a:lstStyle/>
          <a:p>
            <a:pPr indent="0" marL="0">
              <a:buNone/>
            </a:pPr>
            <a:r>
              <a:rPr lang="en-US" sz="1500" b="1" dirty="0">
                <a:solidFill>
                  <a:schemeClr val="tx1"/>
                </a:solidFill>
              </a:rPr>
              <a:t>lagged features</a:t>
            </a:r>
            <a:endParaRPr lang="en-US" sz="1500" dirty="0"/>
          </a:p>
        </p:txBody>
      </p:sp>
      <p:sp>
        <p:nvSpPr>
          <p:cNvPr id="15" name="Text 13"/>
          <p:cNvSpPr txBox="1"/>
          <p:nvPr/>
        </p:nvSpPr>
        <p:spPr>
          <a:xfrm>
            <a:off x="731520" y="5212080"/>
            <a:ext cx="3026664" cy="1051560"/>
          </a:xfrm>
          <a:prstGeom prst="rect">
            <a:avLst/>
          </a:prstGeom>
          <a:noFill/>
          <a:ln/>
        </p:spPr>
        <p:txBody>
          <a:bodyPr wrap="square" lIns="0" tIns="0" rIns="0" bIns="0" rtlCol="0" anchor="t"/>
          <a:lstStyle/>
          <a:p>
            <a:pPr indent="0" marL="0">
              <a:buNone/>
            </a:pPr>
            <a:r>
              <a:rPr lang="en-US" sz="1200" dirty="0">
                <a:solidFill>
                  <a:schemeClr val="accent3"/>
                </a:solidFill>
              </a:rPr>
              <a:t>Target lags at 1, 2 and 7 steps, plus 13 predictors lagged by 1 step. Same-day variables are excluded.</a:t>
            </a:r>
            <a:endParaRPr lang="en-US" sz="1200" dirty="0"/>
          </a:p>
        </p:txBody>
      </p:sp>
      <p:sp>
        <p:nvSpPr>
          <p:cNvPr id="16" name="Rule card"/>
          <p:cNvSpPr/>
          <p:nvPr/>
        </p:nvSpPr>
        <p:spPr>
          <a:xfrm>
            <a:off x="4306824" y="4114800"/>
            <a:ext cx="3575304" cy="2240280"/>
          </a:xfrm>
          <a:prstGeom prst="roundRect">
            <a:avLst>
              <a:gd name="adj" fmla="val 3265"/>
            </a:avLst>
          </a:prstGeom>
          <a:solidFill>
            <a:schemeClr val="bg2"/>
          </a:solidFill>
          <a:ln w="12700">
            <a:solidFill>
              <a:srgbClr val="E4E6F0"/>
            </a:solidFill>
            <a:prstDash val="solid"/>
          </a:ln>
        </p:spPr>
      </p:sp>
      <p:sp>
        <p:nvSpPr>
          <p:cNvPr id="17" name="Text 15"/>
          <p:cNvSpPr txBox="1"/>
          <p:nvPr/>
        </p:nvSpPr>
        <p:spPr>
          <a:xfrm>
            <a:off x="4581144" y="4251960"/>
            <a:ext cx="3026664" cy="594360"/>
          </a:xfrm>
          <a:prstGeom prst="rect">
            <a:avLst/>
          </a:prstGeom>
          <a:noFill/>
          <a:ln/>
        </p:spPr>
        <p:txBody>
          <a:bodyPr wrap="square" lIns="0" tIns="0" rIns="0" bIns="0" rtlCol="0" anchor="ctr"/>
          <a:lstStyle/>
          <a:p>
            <a:pPr indent="0" marL="0">
              <a:buNone/>
            </a:pPr>
            <a:r>
              <a:rPr lang="en-US" sz="3200" b="1" dirty="0">
                <a:solidFill>
                  <a:schemeClr val="tx2"/>
                </a:solidFill>
                <a:latin typeface="+mj-lt" pitchFamily="34" charset="0"/>
                <a:ea typeface="+mj-lt" pitchFamily="34" charset="-122"/>
                <a:cs typeface="+mj-lt" pitchFamily="34" charset="-120"/>
              </a:rPr>
              <a:t>80/20</a:t>
            </a:r>
            <a:endParaRPr lang="en-US" sz="3200" dirty="0"/>
          </a:p>
        </p:txBody>
      </p:sp>
      <p:sp>
        <p:nvSpPr>
          <p:cNvPr id="18" name="Text 16"/>
          <p:cNvSpPr txBox="1"/>
          <p:nvPr/>
        </p:nvSpPr>
        <p:spPr>
          <a:xfrm>
            <a:off x="4581144" y="4864608"/>
            <a:ext cx="3026664" cy="292608"/>
          </a:xfrm>
          <a:prstGeom prst="rect">
            <a:avLst/>
          </a:prstGeom>
          <a:noFill/>
          <a:ln/>
        </p:spPr>
        <p:txBody>
          <a:bodyPr wrap="square" lIns="0" tIns="0" rIns="0" bIns="0" rtlCol="0" anchor="t"/>
          <a:lstStyle/>
          <a:p>
            <a:pPr indent="0" marL="0">
              <a:buNone/>
            </a:pPr>
            <a:r>
              <a:rPr lang="en-US" sz="1500" b="1" dirty="0">
                <a:solidFill>
                  <a:schemeClr val="tx1"/>
                </a:solidFill>
              </a:rPr>
              <a:t>chronological split</a:t>
            </a:r>
            <a:endParaRPr lang="en-US" sz="1500" dirty="0"/>
          </a:p>
        </p:txBody>
      </p:sp>
      <p:sp>
        <p:nvSpPr>
          <p:cNvPr id="19" name="Text 17"/>
          <p:cNvSpPr txBox="1"/>
          <p:nvPr/>
        </p:nvSpPr>
        <p:spPr>
          <a:xfrm>
            <a:off x="4581144" y="5212080"/>
            <a:ext cx="3026664" cy="1051560"/>
          </a:xfrm>
          <a:prstGeom prst="rect">
            <a:avLst/>
          </a:prstGeom>
          <a:noFill/>
          <a:ln/>
        </p:spPr>
        <p:txBody>
          <a:bodyPr wrap="square" lIns="0" tIns="0" rIns="0" bIns="0" rtlCol="0" anchor="t"/>
          <a:lstStyle/>
          <a:p>
            <a:pPr indent="0" marL="0">
              <a:buNone/>
            </a:pPr>
            <a:r>
              <a:rPr lang="en-US" sz="1200" dirty="0">
                <a:solidFill>
                  <a:schemeClr val="accent3"/>
                </a:solidFill>
              </a:rPr>
              <a:t>No shuffling: the test set is later in time, so the model is judged on data from its future.</a:t>
            </a:r>
            <a:endParaRPr lang="en-US" sz="1200" dirty="0"/>
          </a:p>
        </p:txBody>
      </p:sp>
      <p:sp>
        <p:nvSpPr>
          <p:cNvPr id="20" name="Rule card"/>
          <p:cNvSpPr/>
          <p:nvPr/>
        </p:nvSpPr>
        <p:spPr>
          <a:xfrm>
            <a:off x="8156448" y="4114800"/>
            <a:ext cx="3575304" cy="2240280"/>
          </a:xfrm>
          <a:prstGeom prst="roundRect">
            <a:avLst>
              <a:gd name="adj" fmla="val 3265"/>
            </a:avLst>
          </a:prstGeom>
          <a:solidFill>
            <a:schemeClr val="bg2"/>
          </a:solidFill>
          <a:ln w="12700">
            <a:solidFill>
              <a:srgbClr val="E4E6F0"/>
            </a:solidFill>
            <a:prstDash val="solid"/>
          </a:ln>
        </p:spPr>
      </p:sp>
      <p:sp>
        <p:nvSpPr>
          <p:cNvPr id="21" name="Text 19"/>
          <p:cNvSpPr txBox="1"/>
          <p:nvPr/>
        </p:nvSpPr>
        <p:spPr>
          <a:xfrm>
            <a:off x="8430768" y="4251960"/>
            <a:ext cx="3026664" cy="594360"/>
          </a:xfrm>
          <a:prstGeom prst="rect">
            <a:avLst/>
          </a:prstGeom>
          <a:noFill/>
          <a:ln/>
        </p:spPr>
        <p:txBody>
          <a:bodyPr wrap="square" lIns="0" tIns="0" rIns="0" bIns="0" rtlCol="0" anchor="ctr"/>
          <a:lstStyle/>
          <a:p>
            <a:pPr indent="0" marL="0">
              <a:buNone/>
            </a:pPr>
            <a:r>
              <a:rPr lang="en-US" sz="3200" b="1" dirty="0">
                <a:solidFill>
                  <a:schemeClr val="tx2"/>
                </a:solidFill>
                <a:latin typeface="+mj-lt" pitchFamily="34" charset="0"/>
                <a:ea typeface="+mj-lt" pitchFamily="34" charset="-122"/>
                <a:cs typeface="+mj-lt" pitchFamily="34" charset="-120"/>
              </a:rPr>
              <a:t>Aug 5</a:t>
            </a:r>
            <a:endParaRPr lang="en-US" sz="3200" dirty="0"/>
          </a:p>
        </p:txBody>
      </p:sp>
      <p:sp>
        <p:nvSpPr>
          <p:cNvPr id="22" name="Text 20"/>
          <p:cNvSpPr txBox="1"/>
          <p:nvPr/>
        </p:nvSpPr>
        <p:spPr>
          <a:xfrm>
            <a:off x="8430768" y="4864608"/>
            <a:ext cx="3026664" cy="292608"/>
          </a:xfrm>
          <a:prstGeom prst="rect">
            <a:avLst/>
          </a:prstGeom>
          <a:noFill/>
          <a:ln/>
        </p:spPr>
        <p:txBody>
          <a:bodyPr wrap="square" lIns="0" tIns="0" rIns="0" bIns="0" rtlCol="0" anchor="t"/>
          <a:lstStyle/>
          <a:p>
            <a:pPr indent="0" marL="0">
              <a:buNone/>
            </a:pPr>
            <a:r>
              <a:rPr lang="en-US" sz="1500" b="1" dirty="0">
                <a:solidFill>
                  <a:schemeClr val="tx1"/>
                </a:solidFill>
              </a:rPr>
              <a:t>last usable row</a:t>
            </a:r>
            <a:endParaRPr lang="en-US" sz="1500" dirty="0"/>
          </a:p>
        </p:txBody>
      </p:sp>
      <p:sp>
        <p:nvSpPr>
          <p:cNvPr id="23" name="Text 21"/>
          <p:cNvSpPr txBox="1"/>
          <p:nvPr/>
        </p:nvSpPr>
        <p:spPr>
          <a:xfrm>
            <a:off x="8430768" y="5212080"/>
            <a:ext cx="3026664" cy="1051560"/>
          </a:xfrm>
          <a:prstGeom prst="rect">
            <a:avLst/>
          </a:prstGeom>
          <a:noFill/>
          <a:ln/>
        </p:spPr>
        <p:txBody>
          <a:bodyPr wrap="square" lIns="0" tIns="0" rIns="0" bIns="0" rtlCol="0" anchor="t"/>
          <a:lstStyle/>
          <a:p>
            <a:pPr indent="0" marL="0">
              <a:buNone/>
            </a:pPr>
            <a:r>
              <a:rPr lang="en-US" sz="1200" dirty="0">
                <a:solidFill>
                  <a:schemeClr val="accent3"/>
                </a:solidFill>
              </a:rPr>
              <a:t>Later rows lack radiation values, so they drop out once lagged features are built.</a:t>
            </a:r>
            <a:endParaRPr lang="en-US" sz="1200" dirty="0"/>
          </a:p>
        </p:txBody>
      </p:sp>
      <p:sp>
        <p:nvSpPr>
          <p:cNvPr id="25" name="Slide Number Placeholder 0"/>
          <p:cNvSpPr>
            <a:spLocks noGrp="1"/>
          </p:cNvSpPr>
          <p:nvPr>
            <p:ph type="sldNum" sz="quarter" idx="4294967295"/>
          </p:nvPr>
        </p:nvSpPr>
        <p:spPr>
          <a:xfrm>
            <a:off x="11064240" y="6446520"/>
            <a:ext cx="66751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086"/>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Decor circle"/>
          <p:cNvSpPr/>
          <p:nvPr/>
        </p:nvSpPr>
        <p:spPr>
          <a:xfrm>
            <a:off x="10332720" y="4206240"/>
            <a:ext cx="3840480" cy="3840480"/>
          </a:xfrm>
          <a:prstGeom prst="ellipse">
            <a:avLst/>
          </a:prstGeom>
          <a:solidFill>
            <a:schemeClr val="accent2"/>
          </a:solidFill>
          <a:ln/>
        </p:spPr>
      </p:sp>
      <p:sp>
        <p:nvSpPr>
          <p:cNvPr id="3" name="Text 1"/>
          <p:cNvSpPr txBox="1"/>
          <p:nvPr/>
        </p:nvSpPr>
        <p:spPr>
          <a:xfrm>
            <a:off x="640080" y="457200"/>
            <a:ext cx="7315200" cy="320040"/>
          </a:xfrm>
          <a:prstGeom prst="rect">
            <a:avLst/>
          </a:prstGeom>
          <a:noFill/>
          <a:ln/>
        </p:spPr>
        <p:txBody>
          <a:bodyPr wrap="square" lIns="0" tIns="0" rIns="0" bIns="0" rtlCol="0" anchor="ctr"/>
          <a:lstStyle/>
          <a:p>
            <a:pPr indent="0" marL="0">
              <a:buNone/>
            </a:pPr>
            <a:r>
              <a:rPr lang="en-US" sz="1300" b="1" spc="200" kern="0" dirty="0">
                <a:solidFill>
                  <a:schemeClr val="accent1"/>
                </a:solidFill>
              </a:rPr>
              <a:t>KEY TAKEAWAYS</a:t>
            </a:r>
            <a:endParaRPr lang="en-US" sz="1300" dirty="0"/>
          </a:p>
        </p:txBody>
      </p:sp>
      <p:sp>
        <p:nvSpPr>
          <p:cNvPr id="4" name="Text 0"/>
          <p:cNvSpPr/>
          <p:nvPr>
            <p:ph idx="100" type="title" hasCustomPrompt="1"/>
          </p:nvPr>
        </p:nvSpPr>
        <p:spPr>
          <a:xfrm>
            <a:off x="640080" y="822960"/>
            <a:ext cx="10881360" cy="685800"/>
          </a:xfrm>
          <a:prstGeom prst="rect">
            <a:avLst/>
          </a:prstGeom>
          <a:noFill/>
          <a:ln/>
        </p:spPr>
        <p:txBody>
          <a:bodyPr wrap="square" lIns="0" tIns="0" rIns="0" bIns="0" rtlCol="0" anchor="ctr"/>
          <a:lstStyle/>
          <a:p>
            <a:pPr algn="l" indent="0" marL="0">
              <a:buNone/>
            </a:pPr>
            <a:r>
              <a:rPr lang="en-US" sz="3000" b="1" dirty="0">
                <a:solidFill>
                  <a:schemeClr val="bg1"/>
                </a:solidFill>
              </a:rPr>
              <a:t>What Cairo's weather tells us about forecasting temperature</a:t>
            </a:r>
            <a:endParaRPr lang="en-US" sz="3000" dirty="0"/>
          </a:p>
        </p:txBody>
      </p:sp>
      <p:sp>
        <p:nvSpPr>
          <p:cNvPr id="5" name="Takeaway card"/>
          <p:cNvSpPr/>
          <p:nvPr/>
        </p:nvSpPr>
        <p:spPr>
          <a:xfrm>
            <a:off x="640080" y="1828800"/>
            <a:ext cx="5440680" cy="2057400"/>
          </a:xfrm>
          <a:prstGeom prst="roundRect">
            <a:avLst>
              <a:gd name="adj" fmla="val 3556"/>
            </a:avLst>
          </a:prstGeom>
          <a:solidFill>
            <a:schemeClr val="accent2"/>
          </a:solidFill>
          <a:ln/>
        </p:spPr>
      </p:sp>
      <p:sp>
        <p:nvSpPr>
          <p:cNvPr id="6" name="Badge 1"/>
          <p:cNvSpPr/>
          <p:nvPr/>
        </p:nvSpPr>
        <p:spPr>
          <a:xfrm>
            <a:off x="914400" y="2103120"/>
            <a:ext cx="457200" cy="457200"/>
          </a:xfrm>
          <a:prstGeom prst="ellipse">
            <a:avLst/>
          </a:prstGeom>
          <a:solidFill>
            <a:schemeClr val="accent1"/>
          </a:solidFill>
          <a:ln/>
        </p:spPr>
      </p:sp>
      <p:sp>
        <p:nvSpPr>
          <p:cNvPr id="7" name="Text 5"/>
          <p:cNvSpPr txBox="1"/>
          <p:nvPr/>
        </p:nvSpPr>
        <p:spPr>
          <a:xfrm>
            <a:off x="914400" y="2103120"/>
            <a:ext cx="457200" cy="457200"/>
          </a:xfrm>
          <a:prstGeom prst="rect">
            <a:avLst/>
          </a:prstGeom>
          <a:noFill/>
          <a:ln/>
        </p:spPr>
        <p:txBody>
          <a:bodyPr wrap="square" lIns="0" tIns="0" rIns="0" bIns="0" rtlCol="0" anchor="ctr"/>
          <a:lstStyle/>
          <a:p>
            <a:pPr algn="ctr" indent="0" marL="0">
              <a:buNone/>
            </a:pPr>
            <a:r>
              <a:rPr lang="en-US" sz="1800" b="1" dirty="0">
                <a:solidFill>
                  <a:schemeClr val="tx2"/>
                </a:solidFill>
                <a:latin typeface="+mj-lt" pitchFamily="34" charset="0"/>
                <a:ea typeface="+mj-lt" pitchFamily="34" charset="-122"/>
                <a:cs typeface="+mj-lt" pitchFamily="34" charset="-120"/>
              </a:rPr>
              <a:t>1</a:t>
            </a:r>
            <a:endParaRPr lang="en-US" sz="1800" dirty="0"/>
          </a:p>
        </p:txBody>
      </p:sp>
      <p:sp>
        <p:nvSpPr>
          <p:cNvPr id="8" name="Text 6"/>
          <p:cNvSpPr txBox="1"/>
          <p:nvPr/>
        </p:nvSpPr>
        <p:spPr>
          <a:xfrm>
            <a:off x="1554480" y="2103120"/>
            <a:ext cx="4297680" cy="457200"/>
          </a:xfrm>
          <a:prstGeom prst="rect">
            <a:avLst/>
          </a:prstGeom>
          <a:noFill/>
          <a:ln/>
        </p:spPr>
        <p:txBody>
          <a:bodyPr wrap="square" lIns="0" tIns="0" rIns="0" bIns="0" rtlCol="0" anchor="ctr"/>
          <a:lstStyle/>
          <a:p>
            <a:pPr indent="0" marL="0">
              <a:buNone/>
            </a:pPr>
            <a:r>
              <a:rPr lang="en-US" sz="1600" b="1" dirty="0">
                <a:solidFill>
                  <a:schemeClr val="bg1"/>
                </a:solidFill>
              </a:rPr>
              <a:t>The season is the signal</a:t>
            </a:r>
            <a:endParaRPr lang="en-US" sz="1600" dirty="0"/>
          </a:p>
        </p:txBody>
      </p:sp>
      <p:sp>
        <p:nvSpPr>
          <p:cNvPr id="9" name="Text 7"/>
          <p:cNvSpPr txBox="1"/>
          <p:nvPr/>
        </p:nvSpPr>
        <p:spPr>
          <a:xfrm>
            <a:off x="914400" y="2743200"/>
            <a:ext cx="4892040" cy="1051560"/>
          </a:xfrm>
          <a:prstGeom prst="rect">
            <a:avLst/>
          </a:prstGeom>
          <a:noFill/>
          <a:ln/>
        </p:spPr>
        <p:txBody>
          <a:bodyPr wrap="square" lIns="0" tIns="0" rIns="0" bIns="0" rtlCol="0" anchor="t"/>
          <a:lstStyle/>
          <a:p>
            <a:pPr indent="0" marL="0">
              <a:buNone/>
            </a:pPr>
            <a:r>
              <a:rPr lang="en-US" sz="1400" dirty="0">
                <a:solidFill>
                  <a:srgbClr val="C7CBE0"/>
                </a:solidFill>
              </a:rPr>
              <a:t>92% of temperature variance is the annual cycle: monthly means climb from 13.3 °C in January to 30.9 °C in July.</a:t>
            </a:r>
            <a:endParaRPr lang="en-US" sz="1400" dirty="0"/>
          </a:p>
        </p:txBody>
      </p:sp>
      <p:sp>
        <p:nvSpPr>
          <p:cNvPr id="10" name="Takeaway card"/>
          <p:cNvSpPr/>
          <p:nvPr/>
        </p:nvSpPr>
        <p:spPr>
          <a:xfrm>
            <a:off x="6473952" y="1828800"/>
            <a:ext cx="5440680" cy="2057400"/>
          </a:xfrm>
          <a:prstGeom prst="roundRect">
            <a:avLst>
              <a:gd name="adj" fmla="val 3556"/>
            </a:avLst>
          </a:prstGeom>
          <a:solidFill>
            <a:schemeClr val="accent2"/>
          </a:solidFill>
          <a:ln/>
        </p:spPr>
      </p:sp>
      <p:sp>
        <p:nvSpPr>
          <p:cNvPr id="11" name="Badge 2"/>
          <p:cNvSpPr/>
          <p:nvPr/>
        </p:nvSpPr>
        <p:spPr>
          <a:xfrm>
            <a:off x="6748272" y="2103120"/>
            <a:ext cx="457200" cy="457200"/>
          </a:xfrm>
          <a:prstGeom prst="ellipse">
            <a:avLst/>
          </a:prstGeom>
          <a:solidFill>
            <a:schemeClr val="accent1"/>
          </a:solidFill>
          <a:ln/>
        </p:spPr>
      </p:sp>
      <p:sp>
        <p:nvSpPr>
          <p:cNvPr id="12" name="Text 10"/>
          <p:cNvSpPr txBox="1"/>
          <p:nvPr/>
        </p:nvSpPr>
        <p:spPr>
          <a:xfrm>
            <a:off x="6748272" y="2103120"/>
            <a:ext cx="457200" cy="457200"/>
          </a:xfrm>
          <a:prstGeom prst="rect">
            <a:avLst/>
          </a:prstGeom>
          <a:noFill/>
          <a:ln/>
        </p:spPr>
        <p:txBody>
          <a:bodyPr wrap="square" lIns="0" tIns="0" rIns="0" bIns="0" rtlCol="0" anchor="ctr"/>
          <a:lstStyle/>
          <a:p>
            <a:pPr algn="ctr" indent="0" marL="0">
              <a:buNone/>
            </a:pPr>
            <a:r>
              <a:rPr lang="en-US" sz="1800" b="1" dirty="0">
                <a:solidFill>
                  <a:schemeClr val="tx2"/>
                </a:solidFill>
                <a:latin typeface="+mj-lt" pitchFamily="34" charset="0"/>
                <a:ea typeface="+mj-lt" pitchFamily="34" charset="-122"/>
                <a:cs typeface="+mj-lt" pitchFamily="34" charset="-120"/>
              </a:rPr>
              <a:t>2</a:t>
            </a:r>
            <a:endParaRPr lang="en-US" sz="1800" dirty="0"/>
          </a:p>
        </p:txBody>
      </p:sp>
      <p:sp>
        <p:nvSpPr>
          <p:cNvPr id="13" name="Text 11"/>
          <p:cNvSpPr txBox="1"/>
          <p:nvPr/>
        </p:nvSpPr>
        <p:spPr>
          <a:xfrm>
            <a:off x="7388352" y="2103120"/>
            <a:ext cx="4297680" cy="457200"/>
          </a:xfrm>
          <a:prstGeom prst="rect">
            <a:avLst/>
          </a:prstGeom>
          <a:noFill/>
          <a:ln/>
        </p:spPr>
        <p:txBody>
          <a:bodyPr wrap="square" lIns="0" tIns="0" rIns="0" bIns="0" rtlCol="0" anchor="ctr"/>
          <a:lstStyle/>
          <a:p>
            <a:pPr indent="0" marL="0">
              <a:buNone/>
            </a:pPr>
            <a:r>
              <a:rPr lang="en-US" sz="1600" b="1" dirty="0">
                <a:solidFill>
                  <a:schemeClr val="bg1"/>
                </a:solidFill>
              </a:rPr>
              <a:t>The trend is small and uncertain</a:t>
            </a:r>
            <a:endParaRPr lang="en-US" sz="1600" dirty="0"/>
          </a:p>
        </p:txBody>
      </p:sp>
      <p:sp>
        <p:nvSpPr>
          <p:cNvPr id="14" name="Text 12"/>
          <p:cNvSpPr txBox="1"/>
          <p:nvPr/>
        </p:nvSpPr>
        <p:spPr>
          <a:xfrm>
            <a:off x="6748272" y="2743200"/>
            <a:ext cx="4892040" cy="1051560"/>
          </a:xfrm>
          <a:prstGeom prst="rect">
            <a:avLst/>
          </a:prstGeom>
          <a:noFill/>
          <a:ln/>
        </p:spPr>
        <p:txBody>
          <a:bodyPr wrap="square" lIns="0" tIns="0" rIns="0" bIns="0" rtlCol="0" anchor="t"/>
          <a:lstStyle/>
          <a:p>
            <a:pPr indent="0" marL="0">
              <a:buNone/>
            </a:pPr>
            <a:r>
              <a:rPr lang="en-US" sz="1400" dirty="0">
                <a:solidFill>
                  <a:srgbClr val="C7CBE0"/>
                </a:solidFill>
              </a:rPr>
              <a:t>The raw +0.49 °C/yr slope is inflated by a series that starts in winter and ends in October. Full years 2021–2025: +0.16 °C/yr (p = 0.30).</a:t>
            </a:r>
            <a:endParaRPr lang="en-US" sz="1400" dirty="0"/>
          </a:p>
        </p:txBody>
      </p:sp>
      <p:sp>
        <p:nvSpPr>
          <p:cNvPr id="15" name="Takeaway card"/>
          <p:cNvSpPr/>
          <p:nvPr/>
        </p:nvSpPr>
        <p:spPr>
          <a:xfrm>
            <a:off x="640080" y="4114800"/>
            <a:ext cx="5440680" cy="2057400"/>
          </a:xfrm>
          <a:prstGeom prst="roundRect">
            <a:avLst>
              <a:gd name="adj" fmla="val 3556"/>
            </a:avLst>
          </a:prstGeom>
          <a:solidFill>
            <a:schemeClr val="accent2"/>
          </a:solidFill>
          <a:ln/>
        </p:spPr>
      </p:sp>
      <p:sp>
        <p:nvSpPr>
          <p:cNvPr id="16" name="Badge 3"/>
          <p:cNvSpPr/>
          <p:nvPr/>
        </p:nvSpPr>
        <p:spPr>
          <a:xfrm>
            <a:off x="914400" y="4389120"/>
            <a:ext cx="457200" cy="457200"/>
          </a:xfrm>
          <a:prstGeom prst="ellipse">
            <a:avLst/>
          </a:prstGeom>
          <a:solidFill>
            <a:schemeClr val="accent1"/>
          </a:solidFill>
          <a:ln/>
        </p:spPr>
      </p:sp>
      <p:sp>
        <p:nvSpPr>
          <p:cNvPr id="17" name="Text 15"/>
          <p:cNvSpPr txBox="1"/>
          <p:nvPr/>
        </p:nvSpPr>
        <p:spPr>
          <a:xfrm>
            <a:off x="914400" y="4389120"/>
            <a:ext cx="457200" cy="457200"/>
          </a:xfrm>
          <a:prstGeom prst="rect">
            <a:avLst/>
          </a:prstGeom>
          <a:noFill/>
          <a:ln/>
        </p:spPr>
        <p:txBody>
          <a:bodyPr wrap="square" lIns="0" tIns="0" rIns="0" bIns="0" rtlCol="0" anchor="ctr"/>
          <a:lstStyle/>
          <a:p>
            <a:pPr algn="ctr" indent="0" marL="0">
              <a:buNone/>
            </a:pPr>
            <a:r>
              <a:rPr lang="en-US" sz="1800" b="1" dirty="0">
                <a:solidFill>
                  <a:schemeClr val="tx2"/>
                </a:solidFill>
                <a:latin typeface="+mj-lt" pitchFamily="34" charset="0"/>
                <a:ea typeface="+mj-lt" pitchFamily="34" charset="-122"/>
                <a:cs typeface="+mj-lt" pitchFamily="34" charset="-120"/>
              </a:rPr>
              <a:t>3</a:t>
            </a:r>
            <a:endParaRPr lang="en-US" sz="1800" dirty="0"/>
          </a:p>
        </p:txBody>
      </p:sp>
      <p:sp>
        <p:nvSpPr>
          <p:cNvPr id="18" name="Text 16"/>
          <p:cNvSpPr txBox="1"/>
          <p:nvPr/>
        </p:nvSpPr>
        <p:spPr>
          <a:xfrm>
            <a:off x="1554480" y="4389120"/>
            <a:ext cx="4297680" cy="457200"/>
          </a:xfrm>
          <a:prstGeom prst="rect">
            <a:avLst/>
          </a:prstGeom>
          <a:noFill/>
          <a:ln/>
        </p:spPr>
        <p:txBody>
          <a:bodyPr wrap="square" lIns="0" tIns="0" rIns="0" bIns="0" rtlCol="0" anchor="ctr"/>
          <a:lstStyle/>
          <a:p>
            <a:pPr indent="0" marL="0">
              <a:buNone/>
            </a:pPr>
            <a:r>
              <a:rPr lang="en-US" sz="1600" b="1" dirty="0">
                <a:solidFill>
                  <a:schemeClr val="bg1"/>
                </a:solidFill>
              </a:rPr>
              <a:t>Short memory, volatile springs</a:t>
            </a:r>
            <a:endParaRPr lang="en-US" sz="1600" dirty="0"/>
          </a:p>
        </p:txBody>
      </p:sp>
      <p:sp>
        <p:nvSpPr>
          <p:cNvPr id="19" name="Text 17"/>
          <p:cNvSpPr txBox="1"/>
          <p:nvPr/>
        </p:nvSpPr>
        <p:spPr>
          <a:xfrm>
            <a:off x="914400" y="5029200"/>
            <a:ext cx="4892040" cy="1051560"/>
          </a:xfrm>
          <a:prstGeom prst="rect">
            <a:avLst/>
          </a:prstGeom>
          <a:noFill/>
          <a:ln/>
        </p:spPr>
        <p:txBody>
          <a:bodyPr wrap="square" lIns="0" tIns="0" rIns="0" bIns="0" rtlCol="0" anchor="t"/>
          <a:lstStyle/>
          <a:p>
            <a:pPr indent="0" marL="0">
              <a:buNone/>
            </a:pPr>
            <a:r>
              <a:rPr lang="en-US" sz="1400" dirty="0">
                <a:solidFill>
                  <a:srgbClr val="C7CBE0"/>
                </a:solidFill>
              </a:rPr>
              <a:t>Lag-1 autocorrelation is 0.95, but spring volatility is 3.0 °C versus 1.7–1.9 °C in other seasons. No anomalies or impossible values.</a:t>
            </a:r>
            <a:endParaRPr lang="en-US" sz="1400" dirty="0"/>
          </a:p>
        </p:txBody>
      </p:sp>
      <p:sp>
        <p:nvSpPr>
          <p:cNvPr id="20" name="Takeaway card"/>
          <p:cNvSpPr/>
          <p:nvPr/>
        </p:nvSpPr>
        <p:spPr>
          <a:xfrm>
            <a:off x="6473952" y="4114800"/>
            <a:ext cx="5440680" cy="2057400"/>
          </a:xfrm>
          <a:prstGeom prst="roundRect">
            <a:avLst>
              <a:gd name="adj" fmla="val 3556"/>
            </a:avLst>
          </a:prstGeom>
          <a:solidFill>
            <a:schemeClr val="accent2"/>
          </a:solidFill>
          <a:ln/>
        </p:spPr>
      </p:sp>
      <p:sp>
        <p:nvSpPr>
          <p:cNvPr id="21" name="Badge 4"/>
          <p:cNvSpPr/>
          <p:nvPr/>
        </p:nvSpPr>
        <p:spPr>
          <a:xfrm>
            <a:off x="6748272" y="4389120"/>
            <a:ext cx="457200" cy="457200"/>
          </a:xfrm>
          <a:prstGeom prst="ellipse">
            <a:avLst/>
          </a:prstGeom>
          <a:solidFill>
            <a:schemeClr val="accent1"/>
          </a:solidFill>
          <a:ln/>
        </p:spPr>
      </p:sp>
      <p:sp>
        <p:nvSpPr>
          <p:cNvPr id="22" name="Text 20"/>
          <p:cNvSpPr txBox="1"/>
          <p:nvPr/>
        </p:nvSpPr>
        <p:spPr>
          <a:xfrm>
            <a:off x="6748272" y="4389120"/>
            <a:ext cx="457200" cy="457200"/>
          </a:xfrm>
          <a:prstGeom prst="rect">
            <a:avLst/>
          </a:prstGeom>
          <a:noFill/>
          <a:ln/>
        </p:spPr>
        <p:txBody>
          <a:bodyPr wrap="square" lIns="0" tIns="0" rIns="0" bIns="0" rtlCol="0" anchor="ctr"/>
          <a:lstStyle/>
          <a:p>
            <a:pPr algn="ctr" indent="0" marL="0">
              <a:buNone/>
            </a:pPr>
            <a:r>
              <a:rPr lang="en-US" sz="1800" b="1" dirty="0">
                <a:solidFill>
                  <a:schemeClr val="tx2"/>
                </a:solidFill>
                <a:latin typeface="+mj-lt" pitchFamily="34" charset="0"/>
                <a:ea typeface="+mj-lt" pitchFamily="34" charset="-122"/>
                <a:cs typeface="+mj-lt" pitchFamily="34" charset="-120"/>
              </a:rPr>
              <a:t>4</a:t>
            </a:r>
            <a:endParaRPr lang="en-US" sz="1800" dirty="0"/>
          </a:p>
        </p:txBody>
      </p:sp>
      <p:sp>
        <p:nvSpPr>
          <p:cNvPr id="23" name="Text 21"/>
          <p:cNvSpPr txBox="1"/>
          <p:nvPr/>
        </p:nvSpPr>
        <p:spPr>
          <a:xfrm>
            <a:off x="7388352" y="4389120"/>
            <a:ext cx="4297680" cy="457200"/>
          </a:xfrm>
          <a:prstGeom prst="rect">
            <a:avLst/>
          </a:prstGeom>
          <a:noFill/>
          <a:ln/>
        </p:spPr>
        <p:txBody>
          <a:bodyPr wrap="square" lIns="0" tIns="0" rIns="0" bIns="0" rtlCol="0" anchor="ctr"/>
          <a:lstStyle/>
          <a:p>
            <a:pPr indent="0" marL="0">
              <a:buNone/>
            </a:pPr>
            <a:r>
              <a:rPr lang="en-US" sz="1600" b="1" dirty="0">
                <a:solidFill>
                  <a:schemeClr val="bg1"/>
                </a:solidFill>
              </a:rPr>
              <a:t>Design for the season</a:t>
            </a:r>
            <a:endParaRPr lang="en-US" sz="1600" dirty="0"/>
          </a:p>
        </p:txBody>
      </p:sp>
      <p:sp>
        <p:nvSpPr>
          <p:cNvPr id="24" name="Text 22"/>
          <p:cNvSpPr txBox="1"/>
          <p:nvPr/>
        </p:nvSpPr>
        <p:spPr>
          <a:xfrm>
            <a:off x="6748272" y="5029200"/>
            <a:ext cx="4892040" cy="1051560"/>
          </a:xfrm>
          <a:prstGeom prst="rect">
            <a:avLst/>
          </a:prstGeom>
          <a:noFill/>
          <a:ln/>
        </p:spPr>
        <p:txBody>
          <a:bodyPr wrap="square" lIns="0" tIns="0" rIns="0" bIns="0" rtlCol="0" anchor="t"/>
          <a:lstStyle/>
          <a:p>
            <a:pPr indent="0" marL="0">
              <a:buNone/>
            </a:pPr>
            <a:r>
              <a:rPr lang="en-US" sz="1400" dirty="0">
                <a:solidFill>
                  <a:srgbClr val="C7CBE0"/>
                </a:solidFill>
              </a:rPr>
              <a:t>Use lagged targets, sin / cos day-of-year, lagged predictors and chronological validation. ADF rejects a unit root, but the mean still moves with the season.</a:t>
            </a:r>
            <a:endParaRPr lang="en-US" sz="1400" dirty="0"/>
          </a:p>
        </p:txBody>
      </p:sp>
      <p:sp>
        <p:nvSpPr>
          <p:cNvPr id="25" name="Slide Number Placeholder 0"/>
          <p:cNvSpPr>
            <a:spLocks noGrp="1"/>
          </p:cNvSpPr>
          <p:nvPr>
            <p:ph type="sldNum" sz="quarter" idx="4294967295"/>
          </p:nvPr>
        </p:nvSpPr>
        <p:spPr>
          <a:xfrm>
            <a:off x="11064240" y="6446520"/>
            <a:ext cx="66751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288A6"/>
                </a:solidFill>
              </a:defRPr>
            </a:lvl1pPr>
          </a:lstStyle>
          <a:p>
            <a:pPr algn="r"/>
            <a:fld id="{F7021451-1387-4CA6-816F-3879F97B5CBC}" type="slidenum">
              <a:rPr b="0" lang="en-US"/>
              <a:t>19</a:t>
            </a:fld>
            <a:endParaRPr lang="en-US"/>
          </a:p>
        </p:txBody>
      </p:sp>
    </p:spTree>
  </p:cSld>
  <p:clrMapOvr>
    <a:masterClrMapping/>
  </p:clrMapOvr>
</p:sld>
</file>

<file path=ppt/theme/theme1.xml><?xml version="1.0" encoding="utf-8"?>
<a:theme xmlns:a="http://schemas.openxmlformats.org/drawingml/2006/main" name="Cairo Weather">
  <a:themeElements>
    <a:clrScheme name="Cairo Weather">
      <a:dk1>
        <a:srgbClr val="1B1F2A"/>
      </a:dk1>
      <a:lt1>
        <a:srgbClr val="FFFFFF"/>
      </a:lt1>
      <a:dk2>
        <a:srgbClr val="14172B"/>
      </a:dk2>
      <a:lt2>
        <a:srgbClr val="F5F6FA"/>
      </a:lt2>
      <a:accent1>
        <a:srgbClr val="FFC300"/>
      </a:accent1>
      <a:accent2>
        <a:srgbClr val="1E2340"/>
      </a:accent2>
      <a:accent3>
        <a:srgbClr val="6B7086"/>
      </a:accent3>
      <a:accent4>
        <a:srgbClr val="2B6CB0"/>
      </a:accent4>
      <a:accent5>
        <a:srgbClr val="C0392B"/>
      </a:accent5>
      <a:accent6>
        <a:srgbClr val="1F9D55"/>
      </a:accent6>
      <a:hlink>
        <a:srgbClr val="2B6CB0"/>
      </a:hlink>
      <a:folHlink>
        <a:srgbClr val="6B7086"/>
      </a:folHlink>
    </a:clrScheme>
    <a:fontScheme name="Cairo Weather">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Cairo Weather Forecast - Data Acquisition &amp; Time-Series EDA</dc:title>
  <dc:subject>PptxGenJS Presentation</dc:subject>
  <dc:creator>ML Internship Program</dc:creator>
  <cp:lastModifiedBy>ML Internship Program</cp:lastModifiedBy>
  <cp:revision>1</cp:revision>
  <dcterms:created xsi:type="dcterms:W3CDTF">2026-10-15T05:49:04Z</dcterms:created>
  <dcterms:modified xsi:type="dcterms:W3CDTF">2026-10-15T05:49:04Z</dcterms:modified>
</cp:coreProperties>
</file>